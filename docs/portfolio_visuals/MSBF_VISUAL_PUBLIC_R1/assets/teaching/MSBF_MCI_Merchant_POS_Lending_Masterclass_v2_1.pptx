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8288000" cy="121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01: Merchant POS Financing: the learning map</a:t>
            </a:r>
          </a:p>
          <a:p>
            <a:r>
              <a:t>LEARNING OBJECTIVE: Follow the complete system, then open the evidence behind each decision.</a:t>
            </a:r>
          </a:p>
          <a:p>
            <a:r>
              <a:t>SCOPE: MSBF SOURCE EVIDENCE</a:t>
            </a:r>
          </a:p>
          <a:p>
            <a:r>
              <a:t>SOURCES: S01, S13, S18</a:t>
            </a:r>
          </a:p>
          <a:p/>
          <a:p>
            <a:r>
              <a:t>This casebook expands the two proof posters rather than treating them as validated executable rules. It teaches the accepted MSBF synthetic implementation and identifies educational simplifications explicitly. Merchant POS financing here refers to financing the operating business, not consumer checkout installments. POS means point of sale. The arrows on this opening are conceptual flows, not a legal classification of a contract or a deployed payment integration. Each later page identifies an input, its interpretation, an applicable rule and an example. The four acts support a beginner-to-expert path. The source and code companion provides definitions, exact export keys and line locators; it is not an execution runbook. The established classroom visual style is retained, while the rejected fourteen-page treatment is superseded for instructional depth, not silently deleted.</a:t>
            </a:r>
          </a:p>
          <a:p/>
          <a:p>
            <a:r>
              <a:t>CHECK: Why does a merchant’s strong sales figure not, by itself, answer the financing question?</a:t>
            </a:r>
          </a:p>
          <a:p>
            <a:r>
              <a:t>ANSWER: Sales must be usable and translated into operating cash, existing obligations, proposed repayment burden, liquidity, risk and economics. Authority then determines whether the evaluated structure may be funded.</a:t>
            </a:r>
          </a:p>
          <a:p/>
          <a:p>
            <a:r>
              <a:t>See companion/SOURCE_IDENTITY_REGISTER.json and READ_ONLY_CODE_MAP.md. Source reading is not execution. All MSBF populations are deterministic synthetic; no real funds.</a:t>
            </a:r>
          </a:p>
          <a:p/>
          <a:p>
            <a:r>
              <a:t>R7 VISUAL-PEDAGOGICAL REVISION</a:t>
            </a:r>
          </a:p>
          <a:p>
            <a:r>
              <a:t>On-slide answer: Sales must support the requested burden after obligations, liquidity, risk, economics and authority tests.</a:t>
            </a:r>
          </a:p>
          <a:p>
            <a:r>
              <a:t>Source and interpretation: retained R6 casebook; no engine or dataset replay. Color semantics: teal=evidence, navy=structure/logic, gold=authority, blue=lifecycle, rust=constraint.</a:t>
            </a:r>
          </a:p>
          <a:p/>
          <a:p/>
          <a:p>
            <a:r>
              <a:t>R8 BOUNDED COVER CORRECTION</a:t>
            </a:r>
          </a:p>
          <a:p>
            <a:r>
              <a:t>The cover uses a page-local four-color function key. The business-evidence card is teal; the unused rust Constraint marker is removed. Rust remains meaningful on later pages with adverse observations or binding constraints. No source claim or diagram relationship changes.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02: Read the merchant—not just the sales total</a:t>
            </a:r>
          </a:p>
          <a:p>
            <a:r>
              <a:t>LEARNING OBJECTIVE: Separate business context, evidence reliability, repayment capacity and lender economics.</a:t>
            </a:r>
          </a:p>
          <a:p>
            <a:r>
              <a:t>SCOPE: MSBF SOURCE EVIDENCE</a:t>
            </a:r>
          </a:p>
          <a:p>
            <a:r>
              <a:t>SOURCES: S01, S03, S05, S06, S27</a:t>
            </a:r>
          </a:p>
          <a:p/>
          <a:p>
            <a:r>
              <a:t>The actual R4 application-scenario source preserves merchant industry, size, relationship, confidence, verification, fraud, continuity, usable sales, balance, NSF, obligations, capacity, resilience, risk and economics. These fields play different roles. Size and relationship are not invented standalone vetoes. Industry enters the accepted M1.10 operating-margin profile and M1.12 context-risk component. Acquisition-source cost/attribution is not a substitute for credit quality or the separate M1.14 economic calculation. Source confidence is not calibrated probability of default. NSF denotes a non-sufficient-funds event in the synthetic source evidence. The deck will show actual numeric paths, not attribute causality from correlations across merchants. A changed single variable is discussed only in a clearly labeled controlled illustration unless the accepted source supplies the comparison.</a:t>
            </a:r>
          </a:p>
          <a:p/>
          <a:p>
            <a:r>
              <a:t>CHECK: Which driver explains why two businesses with similar sales can support very different amounts?</a:t>
            </a:r>
          </a:p>
          <a:p>
            <a:r>
              <a:t>ANSWER: Existing obligations and modeled operating margin can change residual capacity; liquidity, sales stability, evidence availability, risk and the requested terms also matter. There is no single sufficient driver.</a:t>
            </a:r>
          </a:p>
          <a:p/>
          <a:p>
            <a:r>
              <a:t>See companion/SOURCE_IDENTITY_REGISTER.json and READ_ONLY_CODE_MAP.md. Source reading is not execution. All MSBF populations are deterministic synthetic; no real funds.</a:t>
            </a:r>
          </a:p>
          <a:p/>
          <a:p>
            <a:r>
              <a:t>R7 VISUAL-PEDAGOGICAL REVISION</a:t>
            </a:r>
          </a:p>
          <a:p>
            <a:r>
              <a:t>On-slide answer: Obligations and modeled margin alter residual cash; liquidity, evidence, risk and request terms also matter.</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03: Sales volume is the start—not the whole story</a:t>
            </a:r>
          </a:p>
          <a:p>
            <a:r>
              <a:t>LEARNING OBJECTIVE: Trace level, trend, variability, inactivity and concentration into the revenue-resilience component.</a:t>
            </a:r>
          </a:p>
          <a:p>
            <a:r>
              <a:t>SCOPE: MSBF SOURCE EVIDENCE</a:t>
            </a:r>
          </a:p>
          <a:p>
            <a:r>
              <a:t>SOURCES: S02, S05, S01</a:t>
            </a:r>
          </a:p>
          <a:p/>
          <a:p>
            <a:r>
              <a:t>The revenue resilience expression in accepted M1.11 applies four clipped transforms to sales growth, daily coefficient of variation, zero-sales-day rate and largest 30-day concentration within 180 days. Weights are exactly 0.40, 0.25, 0.20 and 0.15. This is one of five resilience components, not the entire final risk score. M1.11 then combines revenue, liquidity, burden, continuity and confidence using its resolved component weights and persists component evidence. The input windows and availability requirements are governed by M1.9. A defined zero-sales day is a valid value, while an outage can remove a day from usable evidence. Raw POS, settlement and deposits are separate source families; do not assume sales equal settled funds or that all deposits are free cash. The displayed formulas are readable field definitions; exact code handles windows, floors, missing values and precision.</a:t>
            </a:r>
          </a:p>
          <a:p/>
          <a:p>
            <a:r>
              <a:t>CHECK: Can you add four raw percentages to reproduce the revenue score?</a:t>
            </a:r>
          </a:p>
          <a:p>
            <a:r>
              <a:t>ANSWER: No. Each feature is scaled and clamped to the source’s 0–1 component range before its weight is applied; the weighted sum is multiplied by 100. Missing required features block the dependent computation.</a:t>
            </a:r>
          </a:p>
          <a:p/>
          <a:p>
            <a:r>
              <a:t>See companion/SOURCE_IDENTITY_REGISTER.json and READ_ONLY_CODE_MAP.md. Source reading is not execution. All MSBF populations are deterministic synthetic; no real funds.</a:t>
            </a:r>
          </a:p>
          <a:p/>
          <a:p>
            <a:r>
              <a:t>R7 VISUAL-PEDAGOGICAL REVISION</a:t>
            </a:r>
          </a:p>
          <a:p>
            <a:r>
              <a:t>On-slide answer: No. Scale and clip each feature first. Then apply 40% / 25% / 20% / 15%; missing inputs can block it.</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04: Build capacity from cash and commitments</a:t>
            </a:r>
          </a:p>
          <a:p>
            <a:r>
              <a:t>LEARNING OBJECTIVE: Reproduce merchant 098’s Baseline calculation before interpreting any tier.</a:t>
            </a:r>
          </a:p>
          <a:p>
            <a:r>
              <a:t>SCOPE: MSBF SOURCE EVIDENCE</a:t>
            </a:r>
          </a:p>
          <a:p>
            <a:r>
              <a:t>SOURCES: S01, S03, S04</a:t>
            </a:r>
          </a:p>
          <a:p/>
          <a:p>
            <a:r>
              <a:t>Accepted M1.10 computes operating_cash=round(avg_daily_eligible_sales_30d×industry_operating_cash_margin,2). Existing obligations include fixed daily payment amounts and source sales-linked obligations applied to scenario sales. New financing burden is max(round(S×r,2),round(T/H,2)), total burden adds existing payments, residual=C−D and post buffer=current buffer+30×residual under the resolved projection days. Coverage uses max(D,1) as denominator and burden-to-sales uses max(S,1); the worked record is well above both floors. Buffer days=post buffer/max(D,1). Industry margins are synthetic policy parameters, not empirical margins: restaurant 15%, retail 16%, professional services 30%, construction 18%, transport 17%, energy 20%, healthcare 24%, ecommerce 22%. Merchant 098 Baseline demonstrates every input and operation directly. Do not add advance principal to the liquidity formula: that is not what this source implementation does.</a:t>
            </a:r>
          </a:p>
          <a:p/>
          <a:p>
            <a:r>
              <a:t>CHECK: Why is the $1,717.45 starting balance not the same as the $3,218.65 projected buffer?</a:t>
            </a:r>
          </a:p>
          <a:p>
            <a:r>
              <a:t>ANSWER: The model adds 30 days of residual operating cash to the current balance. The projection is a modeled assessment, not an observed bank balance and not an automatic deposit of the requested advance.</a:t>
            </a:r>
          </a:p>
          <a:p/>
          <a:p>
            <a:r>
              <a:t>See companion/SOURCE_IDENTITY_REGISTER.json and READ_ONLY_CODE_MAP.md. Source reading is not execution. All MSBF populations are deterministic synthetic; no real funds.</a:t>
            </a:r>
          </a:p>
          <a:p/>
          <a:p>
            <a:r>
              <a:t>R7 VISUAL-PEDAGOGICAL REVISION</a:t>
            </a:r>
          </a:p>
          <a:p>
            <a:r>
              <a:t>On-slide answer: The model adds 30 days of residual cash. The projection is not an observed balance or an advance deposit.</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05: Before judging performance, establish evidence</a:t>
            </a:r>
          </a:p>
          <a:p>
            <a:r>
              <a:t>LEARNING OBJECTIVE: A complete-looking record can still lack the feature required for the decision.</a:t>
            </a:r>
          </a:p>
          <a:p>
            <a:r>
              <a:t>SCOPE: MSBF SOURCE EVIDENCE</a:t>
            </a:r>
          </a:p>
          <a:p>
            <a:r>
              <a:t>SOURCES: S01, S11, S13, S15, S27</a:t>
            </a:r>
          </a:p>
          <a:p/>
          <a:p>
            <a:r>
              <a:t>The final source narrative identifies 28 usable POS days versus 30 required and two disconnected processor-outage days for merchant 738 Recession Energy. Its headline feature-completeness label is COMPLETE in the application source, so the specific feature-availability record matters more than that broad label. Source confidence remains HIGH and verification_disposition is REVIEW in both scenarios; R4’s refined human-review classification records no binding human-judgment gate for this merchant. The controlling stress reason is evidence availability, not processor WATCH alone or generic verification REVIEW. The source six verification checks are BANK_ACCOUNT_MATCH, BENEFICIAL_OWNER, FRAUD_SCREEN, KYB_ENTITY, PROCESSOR_MATCH and SANCTIONS. KYB means know-your-business in the label; this portfolio does not claim a live verification provider or actual sanctions screening. Specific source conflicts can require review; actual hard-stop reasons remain separate.</a:t>
            </a:r>
          </a:p>
          <a:p/>
          <a:p>
            <a:r>
              <a:t>CHECK: Can a smaller request repair merchant 738’s missing eligible-sales feature?</a:t>
            </a:r>
          </a:p>
          <a:p>
            <a:r>
              <a:t>ANSWER: No. Changing the structure does not supply the two missing usable observations. Source availability must be sufficient before dependent calculations can support a decision.</a:t>
            </a:r>
          </a:p>
          <a:p/>
          <a:p>
            <a:r>
              <a:t>See companion/SOURCE_IDENTITY_REGISTER.json and READ_ONLY_CODE_MAP.md. Source reading is not execution. All MSBF populations are deterministic synthetic; no real funds.</a:t>
            </a:r>
          </a:p>
          <a:p/>
          <a:p>
            <a:r>
              <a:t>R7 VISUAL-PEDAGOGICAL REVISION</a:t>
            </a:r>
          </a:p>
          <a:p>
            <a:r>
              <a:t>On-slide answer: No. Revised terms cannot supply missing observations. Required evidence must exist before dependent tests.</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06: Risk and economics answer different questions</a:t>
            </a:r>
          </a:p>
          <a:p>
            <a:r>
              <a:t>LEARNING OBJECTIVE: A financially attractive request can still fail capacity—or need judgment before authorization.</a:t>
            </a:r>
          </a:p>
          <a:p>
            <a:r>
              <a:t>SCOPE: MSBF SOURCE EVIDENCE</a:t>
            </a:r>
          </a:p>
          <a:p>
            <a:r>
              <a:t>SOURCES: S05, S06, S07, S08, S01, S09</a:t>
            </a:r>
          </a:p>
          <a:p/>
          <a:p>
            <a:r>
              <a:t>M1.12 preserves seven components listed here; the synthetic proxy includes policy floors and scenario non-improvement. M1.13 schedule-adjusted comparative loss equals path_weighted_ead_amount×synthetic_merchant_risk_proxy×final_lgd_input_rate, rounded to cents. LGD is the modeled loss-given-default input, with industry/recovery assumptions and bounds; this is comparative synthetic evidence, not CECL. M1.14 non-loss costs explicitly include processor, partner acquisition, funding, servicing and operating costs. Risk-capital charge is an additional deduction, and must not be omitted from the contribution explanation. Hurdle contribution is funded amount×18%×term/365 under this resolved profile. Merchant 098 Baseline source contribution 654.26 and annualized return 0.51026688 pass. The simple displayed hurdle rounds to 230.79. The source annualized return uses contribution/funding×365/horizon; it is not a consumer APR calculation or a promise of profitability. Risk and economic calculations are recalculated for candidate structures through the accepted methods, rather than merely carrying requested-structure results into every alternative.</a:t>
            </a:r>
          </a:p>
          <a:p/>
          <a:p>
            <a:r>
              <a:t>CHECK: Would clearing the economic hurdle compensate for a capacity failure?</a:t>
            </a:r>
          </a:p>
          <a:p>
            <a:r>
              <a:t>ANSWER: No. The economic hurdle and capacity are separate required tests. Strong contribution cannot waive insufficient capacity, unavailable evidence or a binding authority condition.</a:t>
            </a:r>
          </a:p>
          <a:p/>
          <a:p>
            <a:r>
              <a:t>See companion/SOURCE_IDENTITY_REGISTER.json and READ_ONLY_CODE_MAP.md. Source reading is not execution. All MSBF populations are deterministic synthetic; no real funds.</a:t>
            </a:r>
          </a:p>
          <a:p/>
          <a:p>
            <a:r>
              <a:t>R7 VISUAL-PEDAGOGICAL REVISION</a:t>
            </a:r>
          </a:p>
          <a:p>
            <a:r>
              <a:t>On-slide answer: No. Capacity and economics are separate required tests. Strong contribution cannot waive another gate.</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07: Read the request as four linked parameters</a:t>
            </a:r>
          </a:p>
          <a:p>
            <a:r>
              <a:t>LEARNING OBJECTIVE: Distinguish the repayment target, sales share, assessment horizon and actual daily remittance.</a:t>
            </a:r>
          </a:p>
          <a:p>
            <a:r>
              <a:t>SCOPE: SOURCE CASE + LABELED ARITHMETIC</a:t>
            </a:r>
          </a:p>
          <a:p>
            <a:r>
              <a:t>SOURCES: S01, S03, S17</a:t>
            </a:r>
          </a:p>
          <a:p/>
          <a:p>
            <a:r>
              <a:t>The source terms for merchant 098 Baseline are amount 5200, remittance 0.109032, payback 1.259198 and horizon 90. Their target repayment is 6547.83. M1.10 assesses financing burden using the larger of rate-based and horizon-required amounts; this is not the same as actual M2.5 daily remittance. Retained M2.5 calculates raw daily remittance=round(eligible sales×rate,2), caps it by remaining receivable, and caps cumulative remittance at total repayment. R26 changes the expected pace benchmark, not those physical remittance amounts. The lower worksheet deliberately uses independent hypothetical daily records with rate 10% to teach the cap; balances before collection are provided in every row. It does not say a real contract universally has no payment obligation on zero sales. No fees, delays, returns or other contractual provisions are inferred from this example. The earlier unexplained $80 sidebar is replaced by an explicit row with a fully specified state.</a:t>
            </a:r>
          </a:p>
          <a:p/>
          <a:p>
            <a:r>
              <a:t>CHECK: At $1,500 eligible sales and a $100 remaining balance, what is a 10% remittance?</a:t>
            </a:r>
          </a:p>
          <a:p>
            <a:r>
              <a:t>ANSWER: $150 is the calculated share. min($150,$100)=$100; the balance becomes zero in this simplified example. All assumptions are explicit on this page.</a:t>
            </a:r>
          </a:p>
          <a:p/>
          <a:p>
            <a:r>
              <a:t>See companion/SOURCE_IDENTITY_REGISTER.json and READ_ONLY_CODE_MAP.md. Source reading is not execution. All MSBF populations are deterministic synthetic; no real funds.</a:t>
            </a:r>
          </a:p>
          <a:p/>
          <a:p>
            <a:r>
              <a:t>R7 VISUAL-PEDAGOGICAL REVISION</a:t>
            </a:r>
          </a:p>
          <a:p>
            <a:r>
              <a:t>On-slide answer: $100. The share is $150, but min($150, $100) = $100. All assumptions belong to this illustration.</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08: Change a term. Identify the binding burden.</a:t>
            </a:r>
          </a:p>
          <a:p>
            <a:r>
              <a:t>LEARNING OBJECTIVE: The larger of sales-share demand and horizon demand controls this assessment—not always the amount.</a:t>
            </a:r>
          </a:p>
          <a:p>
            <a:r>
              <a:t>SCOPE: ILLUSTRATIVE ONE-FACTOR LAB USING SOURCE INPUTS</a:t>
            </a:r>
          </a:p>
          <a:p>
            <a:r>
              <a:t>SOURCES: S01, S03</a:t>
            </a:r>
          </a:p>
          <a:p/>
          <a:p>
            <a:r>
              <a:t>This page uses source merchant 098 Baseline sales, margin and existing obligations as fixed numerical inputs, then creates clearly labeled one-factor illustrations. The payback multiple stays 1.259198. Requested target 6547.83 over 90 yields 72.75; over 60 yields 109.13. At 2500, target 3148.00 over 90 yields 34.98, while the 10.9032% sales leg remains 46.15. At 8%, the rate leg is 33.86; at 20%,84.65. These values explain the max operator in accepted M1.10. The assessment demand is not the actual daily remittance ledger and is not an alternative-scenario simulation. Other credit, risk, liquidity, economics and term-boundary tests are deliberately held outside this small lab; no approval result is asserted. Source amounts are rounded to cents at the indicated operations. A change in horizon also changes cost and economic annualization in the complete method, so this isolated burden exercise does not claim a globally optimal structure.</a:t>
            </a:r>
          </a:p>
          <a:p/>
          <a:p>
            <a:r>
              <a:t>CHECK: Why does reducing the rate to 8% leave the requested assessment burden unchanged?</a:t>
            </a:r>
          </a:p>
          <a:p>
            <a:r>
              <a:t>ANSWER: The horizon leg remains 72.75, above the reduced rate leg 33.86. The max operation still selects 72.75. A lower rate is not automatically lower assessed burden.</a:t>
            </a:r>
          </a:p>
          <a:p/>
          <a:p>
            <a:r>
              <a:t>See companion/SOURCE_IDENTITY_REGISTER.json and READ_ONLY_CODE_MAP.md. Source reading is not execution. All MSBF populations are deterministic synthetic; no real funds.</a:t>
            </a:r>
          </a:p>
          <a:p/>
          <a:p>
            <a:r>
              <a:t>R7 VISUAL-PEDAGOGICAL REVISION</a:t>
            </a:r>
          </a:p>
          <a:p>
            <a:r>
              <a:t>On-slide answer: The $72.75 horizon leg still exceeds the $33.86 sales-share leg. The larger amount governs.</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09: Fit the structure inside the capacity boundary</a:t>
            </a:r>
          </a:p>
          <a:p>
            <a:r>
              <a:t>LEARNING OBJECTIVE: Apply the composite test: one strong metric cannot cancel a failing one.</a:t>
            </a:r>
          </a:p>
          <a:p>
            <a:r>
              <a:t>SCOPE: MSBF SOURCE EVIDENCE</a:t>
            </a:r>
          </a:p>
          <a:p>
            <a:r>
              <a:t>SOURCES: S03, S04, S10, S12</a:t>
            </a:r>
          </a:p>
          <a:p/>
          <a:p>
            <a:r>
              <a:t>These are the actual R4 gate export thresholds: strict coverage≥1.25, total burden≤0.22, buffer≥15, residual≥0 and capacity tier≤2; review coverage≥1, burden≤0.30, buffer≥5 and tier≤3. Accepted M1.10 tier 1 has stricter coverage 1.50, burden 0.15, buffer 30 and stacking&lt;3; tier 2 can still pass without meeting the tier 1 stacking condition. Review tier 3 does not add a separate residual minimum in the R4 gate map; do not invent one. Source floors protect denominator calculations. Merchant 082 Baseline requested structure has total burden 1673.07, operating cash 1201.20, coverage 0.717962, residual−471.87, total-sales burden 0.33427838 and 127.8328 buffer days. Risk and economics can be favorable while this composite fails. A review-eligible structure does not establish final authorization: human-judgment and other gates are checked later.</a:t>
            </a:r>
          </a:p>
          <a:p/>
          <a:p>
            <a:r>
              <a:t>CHECK: Does a large bank balance prove this request is affordable?</a:t>
            </a:r>
          </a:p>
          <a:p>
            <a:r>
              <a:t>ANSWER: No. Merchant 082 has a strong projected buffer but negative residual cash and insufficient payment coverage at the requested terms. The composite capacity gate fails.</a:t>
            </a:r>
          </a:p>
          <a:p/>
          <a:p>
            <a:r>
              <a:t>See companion/SOURCE_IDENTITY_REGISTER.json and READ_ONLY_CODE_MAP.md. Source reading is not execution. All MSBF populations are deterministic synthetic; no real funds.</a:t>
            </a:r>
          </a:p>
          <a:p/>
          <a:p>
            <a:r>
              <a:t>R7 VISUAL-PEDAGOGICAL REVISION</a:t>
            </a:r>
          </a:p>
          <a:p>
            <a:r>
              <a:t>On-slide answer: No. Requested residual cash is −$471.87/day; coverage and burden fail despite a large buffer.</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10: What can revised terms fix—and what can’t they?</a:t>
            </a:r>
          </a:p>
          <a:p>
            <a:r>
              <a:t>LEARNING OBJECTIVE: Read the specific reason and remediability class before searching or escalating.</a:t>
            </a:r>
          </a:p>
          <a:p>
            <a:r>
              <a:t>SCOPE: MSBF SOURCE EVIDENCE</a:t>
            </a:r>
          </a:p>
          <a:p>
            <a:r>
              <a:t>SOURCES: S09, S10, S11, S13</a:t>
            </a:r>
          </a:p>
          <a:p/>
          <a:p>
            <a:r>
              <a:t>R4 policy specifies human_review_conditions exactly: SPECIFIC_VERIFICATION_OR_SOURCE_CONFLICT, MEDIUM_DATA_CONFIDENCE, FRAUD_TIER_3, PROCESSOR_CONTINUITY_DISRUPTED_OR_UNAVAILABLE. Advisory treatments include partial-source and source-quality warnings when critical evidence is available, processor continuity WATCH, and noncredit acquisition evidence review. Thus a blanket claim that any REVIEW/partial label forces manual underwriting would be wrong. The gate export records hard nonremediable, structure-remediable, human-judgment and advisory classes separately. Merchant 738 is the concrete case: its verification_disposition is REVIEW, but HUMAN_JUDGMENT=NONE; Baseline authorizes, stress declines because required eligible-sales evidence is unavailable. This page is a classification of governing conditions, not invented priority code for every possible simultaneous failure. The source final decision and its binding reasons resolve combined conditions.</a:t>
            </a:r>
          </a:p>
          <a:p/>
          <a:p>
            <a:r>
              <a:t>CHECK: Merchant 738 has verification REVIEW in both scenarios. Why is only the stress path declined for evidence?</a:t>
            </a:r>
          </a:p>
          <a:p>
            <a:r>
              <a:t>ANSWER: The refined human classification finds no binding human-judgment gate for 738. The stress path separately lacks the required 30 usable POS days. The specific evidence failure—not the broad REVIEW label—controls.</a:t>
            </a:r>
          </a:p>
          <a:p/>
          <a:p>
            <a:r>
              <a:t>See companion/SOURCE_IDENTITY_REGISTER.json and READ_ONLY_CODE_MAP.md. Source reading is not execution. All MSBF populations are deterministic synthetic; no real funds.</a:t>
            </a:r>
          </a:p>
          <a:p/>
          <a:p>
            <a:r>
              <a:t>R7 VISUAL-PEDAGOGICAL REVISION</a:t>
            </a:r>
          </a:p>
          <a:p>
            <a:r>
              <a:t>On-slide answer: Its refined human gate is NONE. Stress separately lacks 30 usable POS days; that specific evidence failure binds.</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11: Search a governed set—not an unlimited menu</a:t>
            </a:r>
          </a:p>
          <a:p>
            <a:r>
              <a:t>LEARNING OBJECTIVE: Re-evaluate exact candidate structures, then preserve both feasibility and authority.</a:t>
            </a:r>
          </a:p>
          <a:p>
            <a:r>
              <a:t>SCOPE: MSBF SOURCE EVIDENCE</a:t>
            </a:r>
          </a:p>
          <a:p>
            <a:r>
              <a:t>SOURCES: S09, S10, S12, S13</a:t>
            </a:r>
          </a:p>
          <a:p/>
          <a:p>
            <a:r>
              <a:t>The accepted R4 policy is DUAL_FRONTIER_AUTHORITY_FIRST. Both strict and review possibilities are retained, with exact candidate selection ranks and selected flags in the source output. The strict frontier requires the strict capacity, resilience and risk conditions and no remaining human-judgment authority block; review eligibility preserves its defined less restrictive boundary and identified review requirements. Both require the economic hurdle, minimum amount and supported horizon. Automatic total-repayment increase is 0%; review maximum 2%; the source has a one-cent rounding tolerance. These are total repayment protections, not APR limits. R26 carries these strategy outputs forward. The source set retains generator outputs and method bindings, not an independently packaged original R4 generator; this teaching description is grounded in policy, method code and gate/candidate evidence, not a claim that a complete search runner was rebuilt here. The matched stress floor can change a preferred candidate or remove all eligible candidates; page 15 shows actual cases.</a:t>
            </a:r>
          </a:p>
          <a:p/>
          <a:p>
            <a:r>
              <a:t>CHECK: May a lower amount with a higher modeled return bypass the 40% minimum?</a:t>
            </a:r>
          </a:p>
          <a:p>
            <a:r>
              <a:t>ANSWER: No. Feasibility and policy boundaries precede preference. An attractive objective score does not admit an ineligible candidate.</a:t>
            </a:r>
          </a:p>
          <a:p/>
          <a:p>
            <a:r>
              <a:t>See companion/SOURCE_IDENTITY_REGISTER.json and READ_ONLY_CODE_MAP.md. Source reading is not execution. All MSBF populations are deterministic synthetic; no real funds.</a:t>
            </a:r>
          </a:p>
          <a:p/>
          <a:p>
            <a:r>
              <a:t>R7 VISUAL-PEDAGOGICAL REVISION</a:t>
            </a:r>
          </a:p>
          <a:p>
            <a:r>
              <a:t>On-slide answer: No. Policy admissibility and feasibility come before preference. The objective cannot waive a boundary.</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12: Candidate lab: where the boundary moves</a:t>
            </a:r>
          </a:p>
          <a:p>
            <a:r>
              <a:t>LEARNING OBJECTIVE: Merchant 082 / Baseline. Compare actual candidate inputs and gates to see where feasibility changes.</a:t>
            </a:r>
          </a:p>
          <a:p>
            <a:r>
              <a:t>SCOPE: ACTUAL SYNTHETIC CANDIDATES · DISPLAY ROUNDED</a:t>
            </a:r>
          </a:p>
          <a:p>
            <a:r>
              <a:t>SOURCES: S01, S12, S13</a:t>
            </a:r>
          </a:p>
          <a:p/>
          <a:p>
            <a:r>
              <a:t>The five candidates share remittance 0.130606, payback 1.255266 and horizon 60. Source IDs and exact candidate keys are in SELECTED_CASE_EVIDENCE.json. The 53800 candidate has coverage 0.71796159 and burden 0.33427838. The 31300 candidate has 0.99905185 and 0.24022681 and fails capacity. The 31200 selected candidate has coverage 1.00000000, burden 0.23999904, buffer 189.8346 days and passes the review capacity boundary. The 31100 candidate remains review eligible but is not selected. At these lower amounts, rate-based burden dominates horizon demand, explaining the plateau. The 2500 row has minimum_ratio_pass_flag=false:2500/53800&lt;0.40 despite coverage 1. The page deliberately preserves exact source statuses instead of imposing an illustrative preference order. Ratios are display-rounded; the 31300 row is shown 0.9991, not rounded up to 1.00. The source candidate ranking and final decision—not the highest isolated metric—identify the selected row. This is the reader’s first complete multi-gate comparison lab, connecting amount constraints, capacity and review authority.</a:t>
            </a:r>
          </a:p>
          <a:p/>
          <a:p>
            <a:r>
              <a:t>CHECK: Why does the $2,500 candidate fail even though its coverage is 1.00×?</a:t>
            </a:r>
          </a:p>
          <a:p>
            <a:r>
              <a:t>ANSWER: It is only 4.65% of the 53800 request, below the 40% minimum amount 21520. A satisfactory capacity metric does not override a separate admissibility gate.</a:t>
            </a:r>
          </a:p>
          <a:p/>
          <a:p>
            <a:r>
              <a:t>See companion/SOURCE_IDENTITY_REGISTER.json and READ_ONLY_CODE_MAP.md. Source reading is not execution. All MSBF populations are deterministic synthetic; no real funds.</a:t>
            </a:r>
          </a:p>
          <a:p/>
          <a:p>
            <a:r>
              <a:t>R7 VISUAL-PEDAGOGICAL REVISION</a:t>
            </a:r>
          </a:p>
          <a:p>
            <a:r>
              <a:t>On-slide answer: It is 4.65% of the $53,800 request—below the 40% floor ($21,520). Passing capacity cannot override it.</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A supportable structure still needs authority</a:t>
            </a:r>
          </a:p>
          <a:p>
            <a:r>
              <a:t>LEARNING OBJECTIVE: Merchant 082 / Baseline. Read the selected terms, credit boundary and judgment gate separately.</a:t>
            </a:r>
          </a:p>
          <a:p>
            <a:r>
              <a:t>SCOPE: MSBF SOURCE EVIDENCE</a:t>
            </a:r>
          </a:p>
          <a:p>
            <a:r>
              <a:t>SOURCES: S01, S09, S10, S11, S12, S13</a:t>
            </a:r>
          </a:p>
          <a:p/>
          <a:p>
            <a:r>
              <a:t>The selected 31200 candidate remains COUNTEROFFER_REVIEW_REQUIRED. The exact final binding codes are HUMAN_JUDGMENT|R1_CAPACITY_COMPOSITE; human_review_reason_codes=MEDIUM_DATA_CONFIDENCE. Its computed economics is positive and above the required hurdle, but this cannot waive capacity or human review. Capacity tier 3, coverage 1.00 and 23.9999% total burden are within review bounds but outside strict tier 2 boundaries. The exceptionally high 189.8346 buffer days illustrate why one favorable metric is not enough. The selected repayment target 39164.30 is 31200×1.255266, rounded to cents. The slide’s question is a conceptual conditional, not a rerun or a claim that a modified candidate exists in the accepted cohort. The Baseline totals 300 supportable,103 authorized and 197 reviewable explain the aggregate consequence of keeping feasible/review paths distinct. Supportable does not mean the merchant has accepted terms; this is the system’s modeled structure support and authorization, not customer uptake.</a:t>
            </a:r>
          </a:p>
          <a:p/>
          <a:p>
            <a:r>
              <a:t>CHECK: Would raising coverage alone to 1.25× remove every reason for review in this case?</a:t>
            </a:r>
          </a:p>
          <a:p>
            <a:r>
              <a:t>ANSWER: Not necessarily. The explicit MEDIUM_DATA_CONFIDENCE human-judgment gate remains, and all other strict conditions still apply. Passing one credit test is not sufficient for automatic authority.</a:t>
            </a:r>
          </a:p>
          <a:p/>
          <a:p>
            <a:r>
              <a:t>See companion/SOURCE_IDENTITY_REGISTER.json and READ_ONLY_CODE_MAP.md. Source reading is not execution. All MSBF populations are deterministic synthetic; no real funds.</a:t>
            </a:r>
          </a:p>
          <a:p/>
          <a:p>
            <a:r>
              <a:t>R7 VISUAL-PEDAGOGICAL REVISION</a:t>
            </a:r>
          </a:p>
          <a:p>
            <a:r>
              <a:t>On-slide answer: Not necessarily. MEDIUM_DATA_CONFIDENCE remains, and every other strict condition must still pass.</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Seven outcomes—and the driver behind each</a:t>
            </a:r>
          </a:p>
          <a:p>
            <a:r>
              <a:t>LEARNING OBJECTIVE: Preserve the reason for the result; a decision record is not the same object as a funded account.</a:t>
            </a:r>
          </a:p>
          <a:p>
            <a:r>
              <a:t>SCOPE: MSBF SOURCE EVIDENCE</a:t>
            </a:r>
          </a:p>
          <a:p>
            <a:r>
              <a:t>SOURCES: S09, S10, S13, S18</a:t>
            </a:r>
          </a:p>
          <a:p/>
          <a:p>
            <a:r>
              <a:t>Counts are freshly read fromgoverned_final_outcome_code: APPROVE_AS_REQUESTED_AUTHORIZED 115; COUNTEROFFER_AUTHORIZED 15; COUNTEROFFER_REVIEW_REQUIRED 212; MANUAL_UNDERWRITING_REVIEW_REQUIRED 38; DECLINE_INSUFFICIENT_EVIDENCE 234; DECLINE_NO_FEASIBLE_STRUCTURE 652; DECLINE_POLICY_HARD_STOP 234. They sum 1500. Friendly labels are shortened for readability; exact codes are retained in the code map and source evidence. The causal descriptions summarize the source-defined categories; they are not invented executable priority code. A no-feasible result includes the absence of an eligible structure after governing matched-scenario constraints, not only failure of an initial numeric capacity screen. Review/decline records do not establish physical funding. Only source-funded paths enter account monitoring. The source population has 130 authorized paths and 130 funded paths; this equality is an observed cohort fact, not a universal rule that authorization guarantees funding.</a:t>
            </a:r>
          </a:p>
          <a:p/>
          <a:p>
            <a:r>
              <a:t>CHECK: Can a “no feasible structure” outcome occur after an independent review candidate was found?</a:t>
            </a:r>
          </a:p>
          <a:p>
            <a:r>
              <a:t>ANSWER: Yes. Merchant 082 stress has an independent review candidate but no eligible candidate after the matched-stress structure floor. Final governed eligibility—not independent feasibility alone—controls.</a:t>
            </a:r>
          </a:p>
          <a:p/>
          <a:p>
            <a:r>
              <a:t>See companion/SOURCE_IDENTITY_REGISTER.json and READ_ONLY_CODE_MAP.md. Source reading is not execution. All MSBF populations are deterministic synthetic; no real funds.</a:t>
            </a:r>
          </a:p>
          <a:p/>
          <a:p>
            <a:r>
              <a:t>R7 VISUAL-PEDAGOGICAL REVISION</a:t>
            </a:r>
          </a:p>
          <a:p>
            <a:r>
              <a:t>On-slide answer: Yes. For 082 stress, the matched-stress floor leaves no eligible final candidate. Independent support is not final authority.</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 The preferred candidate is not always the final one</a:t>
            </a:r>
          </a:p>
          <a:p>
            <a:r>
              <a:t>LEARNING OBJECTIVE: Merchant 098 / Recession Energy. Higher standalone economics does not override matched-scenario governance.</a:t>
            </a:r>
          </a:p>
          <a:p>
            <a:r>
              <a:t>SCOPE: ACTUAL MATCHED-SCENARIO CASES · NOT PROFILE SIMULATIONS</a:t>
            </a:r>
          </a:p>
          <a:p>
            <a:r>
              <a:t>SOURCES: S01, S12, S13, S15</a:t>
            </a:r>
          </a:p>
          <a:p/>
          <a:p>
            <a:r>
              <a:t>Merchant 098’s stress requested structure has 6.5393 post-financing buffer days, so it does not meet the 15-day strict boundary even though coverage 1.505719 exceeds 1.25. Reducing the amount to 2500 changes horizon demand; the sales-share leg becomes controlling and recomputed capacity becomes strict. The independent preferred 2500 candidate has rate 0.106851, multiple 1.284382, annualized modeled contribution 0.32313044. The governed selected 2500 candidate has rate 0.109032, multiple 1.259198, annualized contribution 0.23817467. The latter matches the Baseline requested remittance and payback terms. Its exact floor basis is BASELINE_TERM_NONIMPROVEMENT_RESELECTION and binding code STRESS_STRUCTURE_FLOOR. The output is COUNTEROFFER_AUTHORIZED. These are modeled contribution measures, not APR or audited profit. Negative observed liquidity−664.17 is preserved; selected-structure projected liquidity is distinct. Merchant 082 stress has independent 28900 review support but final DECLINE_NO_FEASIBLE_STRUCTURE with BASELINE_TERM_NONIMPROVEMENT_NO_ELIGIBLE_CANDIDATE. Merchant 738 stress is an evidence decline before dependent assessments. These matched source scenarios are not time-sequential events, randomized causal tests or M2.11 profile-driven decision changes.</a:t>
            </a:r>
          </a:p>
          <a:p/>
          <a:p>
            <a:r>
              <a:t>CHECK: How do the other two case studies test the limits of search?</a:t>
            </a:r>
          </a:p>
          <a:p>
            <a:r>
              <a:t>ANSWER: Merchant 082 stress loses all eligible candidates under the matched-stress floor. Merchant 738 stress lacks critical POS evidence. Neither condition can be cured by copying merchant 098’s lower amount.</a:t>
            </a:r>
          </a:p>
          <a:p/>
          <a:p>
            <a:r>
              <a:t>See companion/SOURCE_IDENTITY_REGISTER.json and READ_ONLY_CODE_MAP.md. Source reading is not execution. All MSBF populations are deterministic synthetic; no real funds.</a:t>
            </a:r>
          </a:p>
          <a:p/>
          <a:p>
            <a:r>
              <a:t>R7 VISUAL-PEDAGOGICAL REVISION</a:t>
            </a:r>
          </a:p>
          <a:p>
            <a:r>
              <a:t>On-slide answer: 082 loses eligible candidates under the stress floor. 738 lacks required evidence. Neither is repaired by copying a term.</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16: Follow the exact path into the account</a:t>
            </a:r>
          </a:p>
          <a:p>
            <a:r>
              <a:t>LEARNING OBJECTIVE: A merchant identifier is not enough. Funding membership is application- and scenario-specific.</a:t>
            </a:r>
          </a:p>
          <a:p>
            <a:r>
              <a:t>SCOPE: MSBF SOURCE EVIDENCE</a:t>
            </a:r>
          </a:p>
          <a:p>
            <a:r>
              <a:t>SOURCES: S13, S14, S18, S19</a:t>
            </a:r>
          </a:p>
          <a:p/>
          <a:p>
            <a:r>
              <a:t>R1FactFundedLifecycle.csv is the funded membership source. It has 130 uniqueApplicationScenarioKey values and suppliesAccountKey, AdvanceKey, funded amount, funding date, activation date and first expected remittance date. R1FactDailyMonitoring has 120 distinct monitoring days per funded key, totaling 15600. The display abbreviates application IDs; full 738 keys are 1|5|MSBF_POP_0001_M000738_A01 and 1|6|MSBF_POP_0001_M000738_A01. Source final outcomes are Baseline APPROVE_AS_REQUESTED_AUTHORIZED and stress DECLINE_INSUFFICIENT_EVIDENCE. No physical stress account exists. The observed equality of 130 authorized and 130 funded paths is not a universal guarantee that a favorable decision is always booked. The primary educational invariant is funded keys must be a subset of appropriately authorized keys. These are synthetic account and advance records, not live transfer events or issued commercial contracts.</a:t>
            </a:r>
          </a:p>
          <a:p/>
          <a:p>
            <a:r>
              <a:t>CHECK: What would a join on merchant ID alone do to the stress-declined 738 path?</a:t>
            </a:r>
          </a:p>
          <a:p>
            <a:r>
              <a:t>ANSWER: It could attach the Baseline funded account to the stress path and fabricate a lifecycle where no funded match exists. Preserve the complete run/scenario/application key.</a:t>
            </a:r>
          </a:p>
          <a:p/>
          <a:p>
            <a:r>
              <a:t>See companion/SOURCE_IDENTITY_REGISTER.json and READ_ONLY_CODE_MAP.md. Source reading is not execution. All MSBF populations are deterministic synthetic; no real funds.</a:t>
            </a:r>
          </a:p>
          <a:p/>
          <a:p>
            <a:r>
              <a:t>R7 VISUAL-PEDAGOGICAL REVISION</a:t>
            </a:r>
          </a:p>
          <a:p>
            <a:r>
              <a:t>On-slide answer: The Baseline account could leak into the stress path. Use the complete run / scenario / application key.</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What does active monitoring actually watch?</a:t>
            </a:r>
          </a:p>
          <a:p>
            <a:r>
              <a:t>LEARNING OBJECTIVE: Five families describe different account problems. Timing and remaining balance determine eligibility.</a:t>
            </a:r>
          </a:p>
          <a:p>
            <a:r>
              <a:t>SCOPE: MSBF SOURCE EVIDENCE</a:t>
            </a:r>
          </a:p>
          <a:p>
            <a:r>
              <a:t>SOURCES: S16, S17, S19</a:t>
            </a:r>
          </a:p>
          <a:p/>
          <a:p>
            <a:r>
              <a:t>This table translates the exact R26 family/status logic, not general industry monitoring rules. All active family flags require an unpaid path. Pace WATCH requires monitoring_day_index≥21 and three consecutive eligible days with cumulative pace ratio&lt;0.90. Underperformance requiresday≥30 and ratio&lt;0.75 for three eligible consecutive days; severe pace requires&lt;0.50. No-remittance requiresday≥14 with days_since_positive_remittance≥7; the dormant/no-remittance status uses≥14. Sales dormancy requiresday≥14 and zero_sales_day_streak≥10. Liquidity requiresday≥7 and any of available_balance_amount&lt;0, nsf_event_count&gt;0 ornegative_balance_flag=true. Horizon usesday≥14, day greater than selected expected horizon and a nonzero receivable. The source retains earlier hard triggers while changing pace seasoning. Watch is not automatically the actionable-adverse attention metric, but M2.6 can still route watch cases for outreach. Primary family is a separate precedence code, not an assertion that other active families vanished. The full code and source line locators are in the code map.</a:t>
            </a:r>
          </a:p>
          <a:p/>
          <a:p>
            <a:r>
              <a:t>CHECK: On day 8, can liquidity create a watch signal while pace is not yet eligible?</a:t>
            </a:r>
          </a:p>
          <a:p>
            <a:r>
              <a:t>ANSWER: Yes. Liquidity has its own day 7 eligibility and negative-balance/NSF conditions. The 21/30/3 seasoning applies to pace, not to every monitoring family.</a:t>
            </a:r>
          </a:p>
          <a:p/>
          <a:p>
            <a:r>
              <a:t>See companion/SOURCE_IDENTITY_REGISTER.json and READ_ONLY_CODE_MAP.md. Source reading is not execution. All MSBF populations are deterministic synthetic; no real funds.</a:t>
            </a:r>
          </a:p>
          <a:p/>
          <a:p>
            <a:r>
              <a:t>R7 VISUAL-PEDAGOGICAL REVISION</a:t>
            </a:r>
          </a:p>
          <a:p>
            <a:r>
              <a:t>On-slide answer: Yes. Liquidity starts at day 7 under its own conditions. The 21/30/3 rule applies to pace—not all signals.</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Pace is a benchmark plus persistence</a:t>
            </a:r>
          </a:p>
          <a:p>
            <a:r>
              <a:t>LEARNING OBJECTIVE: Use the selected repayment and horizon—not a generic sales average—to define expected progress.</a:t>
            </a:r>
          </a:p>
          <a:p>
            <a:r>
              <a:t>SCOPE: MSBF SOURCE EVIDENCE</a:t>
            </a:r>
          </a:p>
          <a:p>
            <a:r>
              <a:t>SOURCES: S16, S17, S19</a:t>
            </a:r>
          </a:p>
          <a:p/>
          <a:p>
            <a:r>
              <a:t>Merchant 749 selected repayment is 21451.04 and horizon 90. Expected cumulative repayment at day 32 ismin(round(21451.04/90*32,2),21451.04)=7627.04. Actual cumulative remittance 5109.42 gives ratio 0.66990864, matching the source display; the source status is UNDERPERFORMING. The ratio alone is not proof of persistence—the underlying eligible-day window must be checked. On day 7, ratio 0.53806918 is not yet pace eligible and the source status is CURRENT. On day 23, pace WATCH; on day 32,UNDERPERFORMING. Earliest possible Watch qualification is 21,22,23; earliest possible adverse is 30,31,32, assuming every relevant eligible-day breach and other source conditions hold. Expected cumulative is capped atT; after day 90 the denominator no longer rises. M2.5 actual remittance is the sales-based amount capped by remaining receivable. R26 changes the benchmark and pace state logic while preserving physical remittance/exposure. The ruler is an eligibility explanation, not a promise that all accounts transition on those dates.</a:t>
            </a:r>
          </a:p>
          <a:p/>
          <a:p>
            <a:r>
              <a:t>CHECK: Why can a 66.99% pace ratio on day 32 qualify as underperformance while an earlier poor ratio did not?</a:t>
            </a:r>
          </a:p>
          <a:p>
            <a:r>
              <a:t>ANSWER: The ratio must satisfy the threshold for three consecutive eligible days. Adverse pace begins earning persistence at day 30. Earlier values do not count; other status conditions and precedence still apply.</a:t>
            </a:r>
          </a:p>
          <a:p/>
          <a:p>
            <a:r>
              <a:t>See companion/SOURCE_IDENTITY_REGISTER.json and READ_ONLY_CODE_MAP.md. Source reading is not execution. All MSBF populations are deterministic synthetic; no real funds.</a:t>
            </a:r>
          </a:p>
          <a:p/>
          <a:p>
            <a:r>
              <a:t>R7 VISUAL-PEDAGOGICAL REVISION</a:t>
            </a:r>
          </a:p>
          <a:p>
            <a:r>
              <a:t>On-slide answer: Adverse pace needs three eligible breaches from day 30. Earlier ratios earn no persistence credit; other rules still apply.</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19: One account. Several signals. One governed status.</a:t>
            </a:r>
          </a:p>
          <a:p>
            <a:r>
              <a:t>LEARNING OBJECTIVE: Merchant 749 / Baseline: the pace ratio can improve while a horizon overrun keeps the account severe.</a:t>
            </a:r>
          </a:p>
          <a:p>
            <a:r>
              <a:t>SCOPE: MSBF SOURCE EVIDENCE</a:t>
            </a:r>
          </a:p>
          <a:p>
            <a:r>
              <a:t>SOURCES: S16, S19</a:t>
            </a:r>
          </a:p>
          <a:p/>
          <a:p>
            <a:r>
              <a:t>All six timeline rows are read fromR 1FactDailyMonitoring, not a constructed hypothetical path. At day 7, one raw shortfall flag but zero operational families and CURRENT. Day 23:two raw flags,one PACE family,WATCH. Day 32:three raw flags,one PACE family,UNDERPERFORMING. Day 90:three/one PACE,UNDERPERFORMING. Day 91:three/two HORIZON primary,SEVERE_SHORTFALL. Day 120:four raw,three operational families—PACE,LIQUIDITY,HORIZON—with HORIZON primary and SEVERE_SHORTFALL. The pace family itself is WATCH at day 120. Final source status precedence ispaid off, dormant/no remittance, severe, underperforming, watch, current, with additional matched-stress nonimprovement governance where applicable. Primary family precedence is HORIZON,LIQUIDITY,SALES_DORMANCY,NO_REMITTANCE,PACE. Those are different categorical purposes. Ratios are rounded to two decimal percentages; exact values remain in the selected evidence companion. A family can be active while another determines the final status.</a:t>
            </a:r>
          </a:p>
          <a:p/>
          <a:p>
            <a:r>
              <a:t>CHECK: At day 120, why does 78.09% pace not make this account merely Watch?</a:t>
            </a:r>
          </a:p>
          <a:p>
            <a:r>
              <a:t>ANSWER: The 90-day horizon has been exceeded with 4699.37 still outstanding. Horizon severity wins even though the pace family is Watch. Liquidity is also active. The primary-family label does not erase other families.</a:t>
            </a:r>
          </a:p>
          <a:p/>
          <a:p>
            <a:r>
              <a:t>See companion/SOURCE_IDENTITY_REGISTER.json and READ_ONLY_CODE_MAP.md. Source reading is not execution. All MSBF populations are deterministic synthetic; no real funds.</a:t>
            </a:r>
          </a:p>
          <a:p/>
          <a:p>
            <a:r>
              <a:t>R7 VISUAL-PEDAGOGICAL REVISION</a:t>
            </a:r>
          </a:p>
          <a:p>
            <a:r>
              <a:t>On-slide answer: The unpaid 90-day horizon has been exceeded. Horizon severity governs; pace and liquidity signals still remain.</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20: A recommendation is not permission to execute</a:t>
            </a:r>
          </a:p>
          <a:p>
            <a:r>
              <a:t>LEARNING OBJECTIVE: The retained M2.6 method selects a route; M2.7 setup and M2.8 execution retain separate authority.</a:t>
            </a:r>
          </a:p>
          <a:p>
            <a:r>
              <a:t>SCOPE: MSBF SOURCE EVIDENCE</a:t>
            </a:r>
          </a:p>
          <a:p>
            <a:r>
              <a:t>SOURCES: S20, S21, S22, S23, S25</a:t>
            </a:r>
          </a:p>
          <a:p/>
          <a:p>
            <a:r>
              <a:t>The retained M2.6 generation method captures monitoring status, paid-off flag, remaining receivable, trailing 7/30remittance, zero-sales streak, current liquidity/NSF and recent alert counts. Its actual CASE routing is narrower than that field list: paid_off; otherwise SEVERE_SHORTFALL with open_rank=1; otherwise the listed adverse/watch/dormant states; otherwise standard monitoring. open_rank is the ordered unpaid population rank by remaining_receivable_amount DESC with synthetic_advance_id as tie-breaker. Do not pretend every captured contextual variable independently changes the recommendation, or relabel the rule a production-tested optimization. Current source outputs are 126 CLOSED_NO_FURTHER_ACTION,3 TARGETED_MERCHANT_OUTREACH_REVIEW and 1 TEMPORARY_REMITTANCE_ADJUSTMENT_REVIEW. The accepted retained-method terminal-state correction is preserved bywave_a_strategy_r9.py; original base-generation count assertions are historical, not current 130 population evidence. Merchant 749 hasM 2.7 TEMPORARY_PAYMENT_ADJUSTMENT_SETUP_READY, setup_authorized_flag=true andM 2.8 SIMULATED_TEMPORARY_PAYMENT_PROCESSING_ACTIVE with processing_authorized_flag=true. Three outreach rows are held. The stage sequence is a source-ownership explanation, not a claim that every reported operational date follows the monitoring endpoint chronologically. Reaching a horizon does not forgive a receivable.</a:t>
            </a:r>
          </a:p>
          <a:p/>
          <a:p>
            <a:r>
              <a:t>CHECK: Does a targeted outreach recommendation prove that an outreach or payment action happened?</a:t>
            </a:r>
          </a:p>
          <a:p>
            <a:r>
              <a:t>ANSWER: No. The three targeted-outreach paths remain on review hold. Read setup authorization, processing authorization and the execution result separately; a recommendation alone does not prove action.</a:t>
            </a:r>
          </a:p>
          <a:p/>
          <a:p>
            <a:r>
              <a:t>See companion/SOURCE_IDENTITY_REGISTER.json and READ_ONLY_CODE_MAP.md. Source reading is not execution. All MSBF populations are deterministic synthetic; no real funds.</a:t>
            </a:r>
          </a:p>
          <a:p/>
          <a:p>
            <a:r>
              <a:t>R7 VISUAL-PEDAGOGICAL REVISION</a:t>
            </a:r>
          </a:p>
          <a:p>
            <a:r>
              <a:t>On-slide answer: No. The three outreach paths remain held. Read setup permission, processing permission and the execution result separately.</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21: Reconcile the payment event—and the receivable</a:t>
            </a:r>
          </a:p>
          <a:p>
            <a:r>
              <a:t>LEARNING OBJECTIVE: Merchant 749 / Baseline: resolving a return is not the same as paying off the account.</a:t>
            </a:r>
          </a:p>
          <a:p>
            <a:r>
              <a:t>SCOPE: MSBF SOURCE EVIDENCE</a:t>
            </a:r>
          </a:p>
          <a:p>
            <a:r>
              <a:t>SOURCES: S19, S23, S24, S26</a:t>
            </a:r>
          </a:p>
          <a:p/>
          <a:p>
            <a:r>
              <a:t>Actual source merchant 749 has 7 payment events:5 settled,1 returned and 1 retried. Scheduled 1762.25 minus returned 251.75 plus retry 251.75 equals net processed 1762.25; the returned amount must first be removed before the successful retry is added. The accepted cent-rounding correction inwave_a_strategy_r13.py retains exact money reconciliation rather than using tolerance to hide a residual. At the M2.5 endpoint merchant 749’s remaining receivable is 4699.37; permitted subsequent-stage processing 1762.25 leaves 2937.12. Three other Baseline review-hold paths retain 3123.91 together; final portfolio exposure 6061.03 equals 7823.28−1762.25. Merchant 749’s portfolio state is ACTIVE_RECONCILED with exception_incident_flag=true and exception_resolved_flag=true. These are stage-owned values, not contradictory readings of one identical observation and not measured credit-loss reduction. The staging chronology is explanatory ownership, not a manufactured calendar of real payment events. Source flags and certified output preserve the difference between resolved processing and outstanding credit exposure.</a:t>
            </a:r>
          </a:p>
          <a:p/>
          <a:p>
            <a:r>
              <a:t>CHECK: Can zero unresolved exception paths coexist with a $6,061.03 certified receivable?</a:t>
            </a:r>
          </a:p>
          <a:p>
            <a:r>
              <a:t>ANSWER: Yes. Event reconciliation asks whether processing and balances agree. Payoff asks whether the receivable is zero. The source has a resolved return/retry and remaining exposure, including three held paths.</a:t>
            </a:r>
          </a:p>
          <a:p/>
          <a:p>
            <a:r>
              <a:t>See companion/SOURCE_IDENTITY_REGISTER.json and READ_ONLY_CODE_MAP.md. Source reading is not execution. All MSBF populations are deterministic synthetic; no real funds.</a:t>
            </a:r>
          </a:p>
          <a:p/>
          <a:p>
            <a:r>
              <a:t>R7 VISUAL-PEDAGOGICAL REVISION</a:t>
            </a:r>
          </a:p>
          <a:p>
            <a:r>
              <a:t>On-slide answer: Yes. Reconciliation establishes agreement of events and balances. Payoff is a different question: is the receivable zero?</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22: Turn a portfolio number back into an explanation</a:t>
            </a:r>
          </a:p>
          <a:p>
            <a:r>
              <a:t>LEARNING OBJECTIVE: A useful analyst can trace the population, driver, rule, decision and account evidence behind a chart.</a:t>
            </a:r>
          </a:p>
          <a:p>
            <a:r>
              <a:t>SCOPE: MSBF SOURCE EVIDENCE</a:t>
            </a:r>
          </a:p>
          <a:p>
            <a:r>
              <a:t>SOURCES: S13, S18, S23, S24</a:t>
            </a:r>
          </a:p>
          <a:p/>
          <a:p>
            <a:r>
              <a:t>This capstone reconnects business teaching to inspectable artifacts. Baseline 103 authorizations/750=13.7%; supportable 300 includes 197 review. Stress 27/750=3.6%; supportable 80 includes 53 review. Payoff uses a different selected denominator:99 of 103 and 27 of 27. The two funding amounts are alternative scenarios, not one live book. M2.9 certifies account state; M2.10 owns the portfolio endpoint; M2.11 contains bounded terms/account-treatment profile comparisons without high-level outcome migration in acceptedR 26; M2.12 certifies source consumption under G3-v2. Power BIP 01–P04 consume those facts; no autonomous strategy learning or unbuilt challenger is asserted. Investigation 1 starts with merchant 082 Baseline candidate and final binding gates and checks lack of physical funded membership. Investigation 2 starts with merchant 749 permitted execution and follows net processed amount, exception flags and certified exposure. The companion includes actual field names and literal monitoring-policy lines plus clearly labeled educational pseudocode. This is a read-only source learning path, not a database-run procedure. Final executable distribution binding and Windows qualification remain in the separate runbook gate.</a:t>
            </a:r>
          </a:p>
          <a:p/>
          <a:p>
            <a:r>
              <a:t>CHECK: Which denominator belongs to an approval question—and which belongs to a payoff question?</a:t>
            </a:r>
          </a:p>
          <a:p>
            <a:r>
              <a:t>ANSWER: Approval uses all 750 application-scenario paths within the named scenario. Payoff uses that scenario’s funded subset 103 or 27. The selected subset and alternative-scenario scope must stay explicit.</a:t>
            </a:r>
          </a:p>
          <a:p/>
          <a:p>
            <a:r>
              <a:t>See companion/SOURCE_IDENTITY_REGISTER.json and READ_ONLY_CODE_MAP.md. Source reading is not execution. All MSBF populations are deterministic synthetic; no real funds.</a:t>
            </a:r>
          </a:p>
          <a:p/>
          <a:p>
            <a:r>
              <a:t>R7 VISUAL-PEDAGOGICAL REVISION</a:t>
            </a:r>
          </a:p>
          <a:p>
            <a:r>
              <a:t>On-slide answer: Authorization uses all 750 paths in the named scenario. Payoff uses its funded subset: 103 or 27.</a:t>
            </a:r>
          </a:p>
          <a:p>
            <a:r>
              <a:t>Source and interpretation: retained R6 casebook; no engine or dataset replay. Color semantics: teal=evidence, navy=structure/logic, gold=authority, blue=lifecycle, rust=constraint.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SYNTHESIS: Understand the business. Explain the decision.</a:t>
            </a:r>
          </a:p>
          <a:p>
            <a:r>
              <a:t>PURPOSE: Conclude the reviewed 22-lesson masterclass without removing its technical capstone. This page adds no new source metrics, policy thresholds, engine capabilities or empirical claims.</a:t>
            </a:r>
          </a:p>
          <a:p/>
          <a:p>
            <a:r>
              <a:t>Four retained lessons:</a:t>
            </a:r>
          </a:p>
          <a:p>
            <a:r>
              <a:t>1. Read the merchant: sales, usable evidence, cash flow and obligations jointly inform capacity (lessons 2–6).</a:t>
            </a:r>
          </a:p>
          <a:p>
            <a:r>
              <a:t>2. Read the request: amount, remittance, payback and horizon jointly define the evaluated structure (lessons 7–10).</a:t>
            </a:r>
          </a:p>
          <a:p>
            <a:r>
              <a:t>3. Search and decide: a supportable/permissible alternative remains subject to credit, economics and final judgment/authority gates (lessons 11–15).</a:t>
            </a:r>
          </a:p>
          <a:p>
            <a:r>
              <a:t>4. Follow the account: exact funded membership, monitoring, permitted action and event/balance reconciliation are separate responsibilities (lessons 16–22).</a:t>
            </a:r>
          </a:p>
          <a:p/>
          <a:p>
            <a:r>
              <a:t>FINAL TRY IT: Choose one merchant case. Explain its outcome without saying “because the model said so.”</a:t>
            </a:r>
          </a:p>
          <a:p>
            <a:r>
              <a:t>VISIBLE ANSWER: Name the inputs, the binding rule, the permitted action and the account evidence.</a:t>
            </a:r>
          </a:p>
          <a:p/>
          <a:p>
            <a:r>
              <a:t>TEACH-BACK EXAMPLES, ALL RECAPS OF THE EXISTING LESSONS:</a:t>
            </a:r>
          </a:p>
          <a:p>
            <a:r>
              <a:t>738: absent usable POS evidence is not repaired by changing requested terms.</a:t>
            </a:r>
          </a:p>
          <a:p>
            <a:r>
              <a:t>082: a selected review-eligible structure does not establish authorization or funding.</a:t>
            </a:r>
          </a:p>
          <a:p>
            <a:r>
              <a:t>098: a permitted stress alternative must obey the matched-scenario constraints, not simply maximize a standalone objective.</a:t>
            </a:r>
          </a:p>
          <a:p>
            <a:r>
              <a:t>749: event reconciliation does not imply the remaining receivable is zero.</a:t>
            </a:r>
          </a:p>
          <a:p/>
          <a:p>
            <a:r>
              <a:t>SCOPE: Editorial synthesis of the supplied R7 deck and its learner guide. No new calculations, code execution, production claims, customer stories, hiring claims or publication authority. The exercise is read-only. The exact source references remain those carried by the underlying lessons.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9F3"/>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Understanding the Mechanics</a:t>
            </a:r>
          </a:p>
          <a:p>
            <a:pPr algn="l">
              <a:lnSpc>
                <a:spcPts val="4218"/>
              </a:lnSpc>
              <a:spcBef>
                <a:spcPts val="0"/>
              </a:spcBef>
              <a:spcAft>
                <a:spcPts val="0"/>
              </a:spcAft>
              <a:defRPr sz="3800" b="0">
                <a:solidFill>
                  <a:srgbClr val="203B4C"/>
                </a:solidFill>
                <a:latin typeface="Noto Serif"/>
              </a:defRPr>
            </a:pPr>
            <a:r>
              <a:t>Behind Merchant POS Lending</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01</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 merchant-finance masterclass: connect business evidence, the request, the decision and the account.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086100"/>
            <a:ext cx="8255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THE FINANCED PARTY IS THE MERCHANT BUSINESS</a:t>
            </a:r>
          </a:p>
        </p:txBody>
      </p:sp>
      <p:sp>
        <p:nvSpPr>
          <p:cNvPr id="10" name="Oval 9"/>
          <p:cNvSpPr/>
          <p:nvPr/>
        </p:nvSpPr>
        <p:spPr>
          <a:xfrm>
            <a:off x="9921240" y="3136900"/>
            <a:ext cx="114300" cy="1143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13264" y="3073400"/>
            <a:ext cx="14859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1">
                <a:solidFill>
                  <a:srgbClr val="147D77"/>
                </a:solidFill>
                <a:latin typeface="Lato"/>
              </a:defRPr>
            </a:pPr>
            <a:r>
              <a:t>Evidence</a:t>
            </a:r>
          </a:p>
        </p:txBody>
      </p:sp>
      <p:sp>
        <p:nvSpPr>
          <p:cNvPr id="12" name="Oval 11"/>
          <p:cNvSpPr/>
          <p:nvPr/>
        </p:nvSpPr>
        <p:spPr>
          <a:xfrm>
            <a:off x="11841480" y="3136900"/>
            <a:ext cx="114300" cy="114300"/>
          </a:xfrm>
          <a:prstGeom prst="ellipse">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33504" y="3073400"/>
            <a:ext cx="14859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1">
                <a:solidFill>
                  <a:srgbClr val="19384B"/>
                </a:solidFill>
                <a:latin typeface="Lato"/>
              </a:defRPr>
            </a:pPr>
            <a:r>
              <a:t>Structure</a:t>
            </a:r>
          </a:p>
        </p:txBody>
      </p:sp>
      <p:sp>
        <p:nvSpPr>
          <p:cNvPr id="14" name="Oval 13"/>
          <p:cNvSpPr/>
          <p:nvPr/>
        </p:nvSpPr>
        <p:spPr>
          <a:xfrm>
            <a:off x="13761720" y="3136900"/>
            <a:ext cx="114300" cy="114300"/>
          </a:xfrm>
          <a:prstGeom prst="ellipse">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953744" y="3073400"/>
            <a:ext cx="14859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1">
                <a:solidFill>
                  <a:srgbClr val="BC8623"/>
                </a:solidFill>
                <a:latin typeface="Lato"/>
              </a:defRPr>
            </a:pPr>
            <a:r>
              <a:t>Authority</a:t>
            </a:r>
          </a:p>
        </p:txBody>
      </p:sp>
      <p:sp>
        <p:nvSpPr>
          <p:cNvPr id="16" name="Oval 15"/>
          <p:cNvSpPr/>
          <p:nvPr/>
        </p:nvSpPr>
        <p:spPr>
          <a:xfrm>
            <a:off x="15681959" y="3136900"/>
            <a:ext cx="114300" cy="114300"/>
          </a:xfrm>
          <a:prstGeom prst="ellipse">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873984" y="3073400"/>
            <a:ext cx="14859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1">
                <a:solidFill>
                  <a:srgbClr val="296FA2"/>
                </a:solidFill>
                <a:latin typeface="Lato"/>
              </a:defRPr>
            </a:pPr>
            <a:r>
              <a:t>Lifecycle</a:t>
            </a:r>
          </a:p>
        </p:txBody>
      </p:sp>
      <p:sp>
        <p:nvSpPr>
          <p:cNvPr id="20" name="Rounded Rectangle 19"/>
          <p:cNvSpPr/>
          <p:nvPr/>
        </p:nvSpPr>
        <p:spPr>
          <a:xfrm>
            <a:off x="6273800" y="3860800"/>
            <a:ext cx="5626100" cy="2565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83998" y="4763232"/>
            <a:ext cx="871903" cy="622788"/>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42478" y="4534876"/>
            <a:ext cx="249115" cy="269875"/>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1594" y="4534876"/>
            <a:ext cx="249115" cy="269875"/>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40709" y="4534876"/>
            <a:ext cx="249115" cy="269875"/>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89825" y="4534876"/>
            <a:ext cx="249115" cy="269875"/>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9315" y="4991588"/>
            <a:ext cx="207596" cy="394432"/>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2228" y="4950069"/>
            <a:ext cx="249115" cy="207596"/>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89900" y="4254500"/>
            <a:ext cx="3340100" cy="5334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Merchant</a:t>
            </a:r>
          </a:p>
        </p:txBody>
      </p:sp>
      <p:sp>
        <p:nvSpPr>
          <p:cNvPr id="29" name="TextBox 28"/>
          <p:cNvSpPr txBox="1"/>
          <p:nvPr/>
        </p:nvSpPr>
        <p:spPr>
          <a:xfrm>
            <a:off x="8089900" y="4851400"/>
            <a:ext cx="3314700" cy="825500"/>
          </a:xfrm>
          <a:prstGeom prst="rect">
            <a:avLst/>
          </a:prstGeom>
          <a:noFill/>
          <a:effectLst/>
        </p:spPr>
        <p:txBody>
          <a:bodyPr wrap="none" lIns="0" rIns="0" tIns="0" bIns="0" anchor="t">
            <a:spAutoFit/>
          </a:bodyPr>
          <a:lstStyle/>
          <a:p>
            <a:pPr algn="l">
              <a:lnSpc>
                <a:spcPts val="2552"/>
              </a:lnSpc>
              <a:spcBef>
                <a:spcPts val="0"/>
              </a:spcBef>
              <a:spcAft>
                <a:spcPts val="0"/>
              </a:spcAft>
              <a:defRPr sz="2200" b="0">
                <a:solidFill>
                  <a:srgbClr val="FFFFFF"/>
                </a:solidFill>
                <a:latin typeface="Lato"/>
              </a:defRPr>
            </a:pPr>
            <a:r>
              <a:t>Requests an advance.</a:t>
            </a:r>
          </a:p>
          <a:p>
            <a:pPr algn="l">
              <a:lnSpc>
                <a:spcPts val="2552"/>
              </a:lnSpc>
              <a:spcBef>
                <a:spcPts val="0"/>
              </a:spcBef>
              <a:spcAft>
                <a:spcPts val="0"/>
              </a:spcAft>
              <a:defRPr sz="2200" b="0">
                <a:solidFill>
                  <a:srgbClr val="FFFFFF"/>
                </a:solidFill>
                <a:latin typeface="Lato"/>
              </a:defRPr>
            </a:pPr>
            <a:r>
              <a:t>Carries the obligation.</a:t>
            </a:r>
          </a:p>
        </p:txBody>
      </p:sp>
      <p:sp>
        <p:nvSpPr>
          <p:cNvPr id="30" name="Rounded Rectangle 29"/>
          <p:cNvSpPr/>
          <p:nvPr/>
        </p:nvSpPr>
        <p:spPr>
          <a:xfrm>
            <a:off x="685800" y="3746500"/>
            <a:ext cx="4965700" cy="2819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5200" y="3962400"/>
            <a:ext cx="4432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DDF3EE"/>
                </a:solidFill>
                <a:latin typeface="Lato"/>
              </a:defRPr>
            </a:pPr>
            <a:r>
              <a:rPr>
                <a:solidFill/>
              </a:rPr>
              <a:t>WHAT THE BUSINESS BRINGS</a:t>
            </a:r>
          </a:p>
        </p:txBody>
      </p:sp>
      <p:sp>
        <p:nvSpPr>
          <p:cNvPr id="32" name="TextBox 31"/>
          <p:cNvSpPr txBox="1"/>
          <p:nvPr/>
        </p:nvSpPr>
        <p:spPr>
          <a:xfrm>
            <a:off x="965200" y="4406900"/>
            <a:ext cx="4368800" cy="1816100"/>
          </a:xfrm>
          <a:prstGeom prst="rect">
            <a:avLst/>
          </a:prstGeom>
          <a:noFill/>
          <a:effectLst/>
        </p:spPr>
        <p:txBody>
          <a:bodyPr wrap="none" lIns="0" rIns="0" tIns="0" bIns="0" anchor="t">
            <a:spAutoFit/>
          </a:bodyPr>
          <a:lstStyle/>
          <a:p>
            <a:pPr algn="l">
              <a:lnSpc>
                <a:spcPts val="2668"/>
              </a:lnSpc>
              <a:spcBef>
                <a:spcPts val="0"/>
              </a:spcBef>
              <a:spcAft>
                <a:spcPts val="0"/>
              </a:spcAft>
              <a:defRPr sz="2300" b="0">
                <a:solidFill>
                  <a:srgbClr val="FFFFFF"/>
                </a:solidFill>
                <a:latin typeface="Lato"/>
              </a:defRPr>
            </a:pPr>
            <a:r>
              <a:rPr>
                <a:solidFill/>
              </a:rPr>
              <a:t>Sales &amp; settlement</a:t>
            </a:r>
          </a:p>
          <a:p>
            <a:pPr algn="l">
              <a:lnSpc>
                <a:spcPts val="2668"/>
              </a:lnSpc>
              <a:spcBef>
                <a:spcPts val="0"/>
              </a:spcBef>
              <a:spcAft>
                <a:spcPts val="0"/>
              </a:spcAft>
              <a:defRPr sz="2300" b="0">
                <a:solidFill>
                  <a:srgbClr val="FFFFFF"/>
                </a:solidFill>
                <a:latin typeface="Lato"/>
              </a:defRPr>
            </a:pPr>
            <a:r>
              <a:rPr>
                <a:solidFill/>
              </a:rPr>
              <a:t>Deposits &amp; liquidity</a:t>
            </a:r>
          </a:p>
          <a:p>
            <a:pPr algn="l">
              <a:lnSpc>
                <a:spcPts val="2668"/>
              </a:lnSpc>
              <a:spcBef>
                <a:spcPts val="0"/>
              </a:spcBef>
              <a:spcAft>
                <a:spcPts val="0"/>
              </a:spcAft>
              <a:defRPr sz="2300" b="0">
                <a:solidFill>
                  <a:srgbClr val="FFFFFF"/>
                </a:solidFill>
                <a:latin typeface="Lato"/>
              </a:defRPr>
            </a:pPr>
            <a:r>
              <a:rPr>
                <a:solidFill/>
              </a:rPr>
              <a:t>Existing obligations</a:t>
            </a:r>
          </a:p>
          <a:p>
            <a:pPr algn="l">
              <a:lnSpc>
                <a:spcPts val="2668"/>
              </a:lnSpc>
              <a:spcBef>
                <a:spcPts val="0"/>
              </a:spcBef>
              <a:spcAft>
                <a:spcPts val="0"/>
              </a:spcAft>
              <a:defRPr sz="2300" b="0">
                <a:solidFill>
                  <a:srgbClr val="FFFFFF"/>
                </a:solidFill>
                <a:latin typeface="Lato"/>
              </a:defRPr>
            </a:pPr>
            <a:r>
              <a:rPr>
                <a:solidFill/>
              </a:rPr>
              <a:t>Resilience &amp; usable evidence</a:t>
            </a:r>
          </a:p>
        </p:txBody>
      </p:sp>
      <p:sp>
        <p:nvSpPr>
          <p:cNvPr id="33" name="Rounded Rectangle 32"/>
          <p:cNvSpPr/>
          <p:nvPr/>
        </p:nvSpPr>
        <p:spPr>
          <a:xfrm>
            <a:off x="12509500" y="3746500"/>
            <a:ext cx="5105400" cy="28194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801600" y="3962400"/>
            <a:ext cx="4445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3BECE"/>
                </a:solidFill>
                <a:latin typeface="Lato"/>
              </a:defRPr>
            </a:pPr>
            <a:r>
              <a:t>WHAT THE BUSINESS REQUESTS</a:t>
            </a:r>
          </a:p>
        </p:txBody>
      </p:sp>
      <p:sp>
        <p:nvSpPr>
          <p:cNvPr id="35" name="TextBox 34"/>
          <p:cNvSpPr txBox="1"/>
          <p:nvPr/>
        </p:nvSpPr>
        <p:spPr>
          <a:xfrm>
            <a:off x="12801600" y="4406900"/>
            <a:ext cx="4406900" cy="1816100"/>
          </a:xfrm>
          <a:prstGeom prst="rect">
            <a:avLst/>
          </a:prstGeom>
          <a:noFill/>
          <a:effectLst/>
        </p:spPr>
        <p:txBody>
          <a:bodyPr wrap="none" lIns="0" rIns="0" tIns="0" bIns="0" anchor="t">
            <a:spAutoFit/>
          </a:bodyPr>
          <a:lstStyle/>
          <a:p>
            <a:pPr algn="l">
              <a:lnSpc>
                <a:spcPts val="2668"/>
              </a:lnSpc>
              <a:spcBef>
                <a:spcPts val="0"/>
              </a:spcBef>
              <a:spcAft>
                <a:spcPts val="0"/>
              </a:spcAft>
              <a:defRPr sz="2300" b="0">
                <a:solidFill>
                  <a:srgbClr val="FFFFFF"/>
                </a:solidFill>
                <a:latin typeface="Lato"/>
              </a:defRPr>
            </a:pPr>
            <a:r>
              <a:t>Advance amount</a:t>
            </a:r>
          </a:p>
          <a:p>
            <a:pPr algn="l">
              <a:lnSpc>
                <a:spcPts val="2668"/>
              </a:lnSpc>
              <a:spcBef>
                <a:spcPts val="0"/>
              </a:spcBef>
              <a:spcAft>
                <a:spcPts val="0"/>
              </a:spcAft>
              <a:defRPr sz="2300" b="0">
                <a:solidFill>
                  <a:srgbClr val="FFFFFF"/>
                </a:solidFill>
                <a:latin typeface="Lato"/>
              </a:defRPr>
            </a:pPr>
            <a:r>
              <a:t>Remittance rate</a:t>
            </a:r>
          </a:p>
          <a:p>
            <a:pPr algn="l">
              <a:lnSpc>
                <a:spcPts val="2668"/>
              </a:lnSpc>
              <a:spcBef>
                <a:spcPts val="0"/>
              </a:spcBef>
              <a:spcAft>
                <a:spcPts val="0"/>
              </a:spcAft>
              <a:defRPr sz="2300" b="0">
                <a:solidFill>
                  <a:srgbClr val="FFFFFF"/>
                </a:solidFill>
                <a:latin typeface="Lato"/>
              </a:defRPr>
            </a:pPr>
            <a:r>
              <a:t>Payback multiple</a:t>
            </a:r>
          </a:p>
          <a:p>
            <a:pPr algn="l">
              <a:lnSpc>
                <a:spcPts val="2668"/>
              </a:lnSpc>
              <a:spcBef>
                <a:spcPts val="0"/>
              </a:spcBef>
              <a:spcAft>
                <a:spcPts val="0"/>
              </a:spcAft>
              <a:defRPr sz="2300" b="0">
                <a:solidFill>
                  <a:srgbClr val="FFFFFF"/>
                </a:solidFill>
                <a:latin typeface="Lato"/>
              </a:defRPr>
            </a:pPr>
            <a:r>
              <a:t>Repayment horizon</a:t>
            </a:r>
          </a:p>
        </p:txBody>
      </p:sp>
      <p:cxnSp>
        <p:nvCxnSpPr>
          <p:cNvPr id="36" name="Connector 35"/>
          <p:cNvCxnSpPr/>
          <p:nvPr/>
        </p:nvCxnSpPr>
        <p:spPr>
          <a:xfrm>
            <a:off x="5651500" y="5054600"/>
            <a:ext cx="622300" cy="0"/>
          </a:xfrm>
          <a:prstGeom prst="line">
            <a:avLst/>
          </a:prstGeom>
          <a:ln w="38100">
            <a:solidFill>
              <a:srgbClr val="147D7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1899900" y="5054600"/>
            <a:ext cx="609600" cy="0"/>
          </a:xfrm>
          <a:prstGeom prst="line">
            <a:avLst/>
          </a:prstGeom>
          <a:ln w="38100">
            <a:solidFill>
              <a:srgbClr val="19384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080500" y="6451600"/>
            <a:ext cx="0" cy="279400"/>
          </a:xfrm>
          <a:prstGeom prst="line">
            <a:avLst/>
          </a:prstGeom>
          <a:ln w="31750">
            <a:solidFill>
              <a:srgbClr val="BC8623"/>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64000" y="6731000"/>
            <a:ext cx="5016500" cy="0"/>
          </a:xfrm>
          <a:prstGeom prst="line">
            <a:avLst/>
          </a:prstGeom>
          <a:ln w="31750">
            <a:solidFill>
              <a:srgbClr val="BC8623"/>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64000" y="6731000"/>
            <a:ext cx="0" cy="17780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2540000" y="6959600"/>
            <a:ext cx="3035300" cy="10541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92400" y="7162800"/>
            <a:ext cx="2730500" cy="8255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Evidence &amp;</a:t>
            </a:r>
          </a:p>
          <a:p>
            <a:pPr algn="ctr">
              <a:lnSpc>
                <a:spcPts val="2552"/>
              </a:lnSpc>
              <a:spcBef>
                <a:spcPts val="0"/>
              </a:spcBef>
              <a:spcAft>
                <a:spcPts val="0"/>
              </a:spcAft>
              <a:defRPr sz="2200" b="1">
                <a:solidFill>
                  <a:srgbClr val="FFFFFF"/>
                </a:solidFill>
                <a:latin typeface="Lato"/>
              </a:defRPr>
            </a:pPr>
            <a:r>
              <a:t>capacity</a:t>
            </a:r>
          </a:p>
        </p:txBody>
      </p:sp>
      <p:cxnSp>
        <p:nvCxnSpPr>
          <p:cNvPr id="43" name="Connector 42"/>
          <p:cNvCxnSpPr/>
          <p:nvPr/>
        </p:nvCxnSpPr>
        <p:spPr>
          <a:xfrm>
            <a:off x="5626100" y="74866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930900" y="6959600"/>
            <a:ext cx="3035300" cy="10541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83300" y="7162800"/>
            <a:ext cx="2730500" cy="8255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Risk &amp;</a:t>
            </a:r>
          </a:p>
          <a:p>
            <a:pPr algn="ctr">
              <a:lnSpc>
                <a:spcPts val="2552"/>
              </a:lnSpc>
              <a:spcBef>
                <a:spcPts val="0"/>
              </a:spcBef>
              <a:spcAft>
                <a:spcPts val="0"/>
              </a:spcAft>
              <a:defRPr sz="2200" b="1">
                <a:solidFill>
                  <a:srgbClr val="FFFFFF"/>
                </a:solidFill>
                <a:latin typeface="Lato"/>
              </a:defRPr>
            </a:pPr>
            <a:r>
              <a:t>economics</a:t>
            </a:r>
          </a:p>
        </p:txBody>
      </p:sp>
      <p:cxnSp>
        <p:nvCxnSpPr>
          <p:cNvPr id="46" name="Connector 45"/>
          <p:cNvCxnSpPr/>
          <p:nvPr/>
        </p:nvCxnSpPr>
        <p:spPr>
          <a:xfrm>
            <a:off x="9017000" y="74866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321800" y="6959600"/>
            <a:ext cx="3035300" cy="10541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74200" y="7162800"/>
            <a:ext cx="2730500" cy="8255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Structure</a:t>
            </a:r>
          </a:p>
          <a:p>
            <a:pPr algn="ctr">
              <a:lnSpc>
                <a:spcPts val="2552"/>
              </a:lnSpc>
              <a:spcBef>
                <a:spcPts val="0"/>
              </a:spcBef>
              <a:spcAft>
                <a:spcPts val="0"/>
              </a:spcAft>
              <a:defRPr sz="2200" b="1">
                <a:solidFill>
                  <a:srgbClr val="FFFFFF"/>
                </a:solidFill>
                <a:latin typeface="Lato"/>
              </a:defRPr>
            </a:pPr>
            <a:r>
              <a:t>search</a:t>
            </a:r>
          </a:p>
        </p:txBody>
      </p:sp>
      <p:cxnSp>
        <p:nvCxnSpPr>
          <p:cNvPr id="49" name="Connector 48"/>
          <p:cNvCxnSpPr/>
          <p:nvPr/>
        </p:nvCxnSpPr>
        <p:spPr>
          <a:xfrm>
            <a:off x="12407900" y="74866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2712700" y="6959600"/>
            <a:ext cx="3035300" cy="10541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865100" y="7162800"/>
            <a:ext cx="2730500" cy="8255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Final</a:t>
            </a:r>
          </a:p>
          <a:p>
            <a:pPr algn="ctr">
              <a:lnSpc>
                <a:spcPts val="2552"/>
              </a:lnSpc>
              <a:spcBef>
                <a:spcPts val="0"/>
              </a:spcBef>
              <a:spcAft>
                <a:spcPts val="0"/>
              </a:spcAft>
              <a:defRPr sz="2200" b="1">
                <a:solidFill>
                  <a:srgbClr val="FFFFFF"/>
                </a:solidFill>
                <a:latin typeface="Lato"/>
              </a:defRPr>
            </a:pPr>
            <a:r>
              <a:t>authority</a:t>
            </a:r>
          </a:p>
        </p:txBody>
      </p:sp>
      <p:sp>
        <p:nvSpPr>
          <p:cNvPr id="52" name="TextBox 51"/>
          <p:cNvSpPr txBox="1"/>
          <p:nvPr/>
        </p:nvSpPr>
        <p:spPr>
          <a:xfrm>
            <a:off x="685800" y="8343900"/>
            <a:ext cx="6477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ONLY THE AUTHORIZED, FUNDED PATH CONTINUES</a:t>
            </a:r>
          </a:p>
        </p:txBody>
      </p:sp>
      <p:sp>
        <p:nvSpPr>
          <p:cNvPr id="53" name="Rounded Rectangle 52"/>
          <p:cNvSpPr/>
          <p:nvPr/>
        </p:nvSpPr>
        <p:spPr>
          <a:xfrm>
            <a:off x="698500" y="8712200"/>
            <a:ext cx="3962400" cy="8382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900" y="8915400"/>
            <a:ext cx="3657600" cy="6096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Funding</a:t>
            </a:r>
          </a:p>
        </p:txBody>
      </p:sp>
      <p:cxnSp>
        <p:nvCxnSpPr>
          <p:cNvPr id="55" name="Connector 54"/>
          <p:cNvCxnSpPr/>
          <p:nvPr/>
        </p:nvCxnSpPr>
        <p:spPr>
          <a:xfrm>
            <a:off x="4711700" y="913130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5016500" y="8712200"/>
            <a:ext cx="3962400" cy="8382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68900" y="8915400"/>
            <a:ext cx="3657600" cy="6096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Remittance</a:t>
            </a:r>
          </a:p>
        </p:txBody>
      </p:sp>
      <p:cxnSp>
        <p:nvCxnSpPr>
          <p:cNvPr id="58" name="Connector 57"/>
          <p:cNvCxnSpPr/>
          <p:nvPr/>
        </p:nvCxnSpPr>
        <p:spPr>
          <a:xfrm>
            <a:off x="9029700" y="913130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334500" y="8712200"/>
            <a:ext cx="3962400" cy="8382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86900" y="8915400"/>
            <a:ext cx="3657600" cy="6096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Monitoring</a:t>
            </a:r>
          </a:p>
        </p:txBody>
      </p:sp>
      <p:cxnSp>
        <p:nvCxnSpPr>
          <p:cNvPr id="61" name="Connector 60"/>
          <p:cNvCxnSpPr/>
          <p:nvPr/>
        </p:nvCxnSpPr>
        <p:spPr>
          <a:xfrm>
            <a:off x="13347700" y="913130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13652500" y="8712200"/>
            <a:ext cx="3962400" cy="8382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804900" y="8915400"/>
            <a:ext cx="3657600" cy="6096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Portfolio insight</a:t>
            </a:r>
          </a:p>
        </p:txBody>
      </p:sp>
      <p:sp>
        <p:nvSpPr>
          <p:cNvPr id="64" name="TextBox 63"/>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Learn the interaction: merchant ability × requested structure → governed decision → accountable lifecycle.</a:t>
            </a:r>
          </a:p>
        </p:txBody>
      </p:sp>
      <p:sp>
        <p:nvSpPr>
          <p:cNvPr id="65" name="Rounded Rectangle 64"/>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67" name="TextBox 66"/>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is a strong sales total not enough to approve an advance?</a:t>
            </a:r>
          </a:p>
        </p:txBody>
      </p:sp>
      <p:sp>
        <p:nvSpPr>
          <p:cNvPr id="68" name="Rounded Rectangle 67"/>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70" name="TextBox 69"/>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Sales must support the requested burden after</a:t>
            </a:r>
          </a:p>
          <a:p>
            <a:pPr algn="l">
              <a:lnSpc>
                <a:spcPts val="1913"/>
              </a:lnSpc>
              <a:spcBef>
                <a:spcPts val="0"/>
              </a:spcBef>
              <a:spcAft>
                <a:spcPts val="0"/>
              </a:spcAft>
              <a:defRPr sz="1650" b="0">
                <a:solidFill>
                  <a:srgbClr val="FFFFFF"/>
                </a:solidFill>
                <a:latin typeface="Lato"/>
              </a:defRPr>
            </a:pPr>
            <a:r>
              <a:t>obligations, liquidity, risk, economics and authority tests.</a:t>
            </a:r>
          </a:p>
        </p:txBody>
      </p:sp>
      <p:sp>
        <p:nvSpPr>
          <p:cNvPr id="71" name="TextBox 70"/>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72" name="TextBox 71"/>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S13, S18 | 01 / 23</a:t>
            </a:r>
          </a:p>
        </p:txBody>
      </p:sp>
      <p:sp>
        <p:nvSpPr>
          <p:cNvPr id="73" name="TextBox 72"/>
          <p:cNvSpPr txBox="1"/>
          <p:nvPr/>
        </p:nvSpPr>
        <p:spPr>
          <a:xfrm>
            <a:off x="9162288" y="3073298"/>
            <a:ext cx="566928" cy="283464"/>
          </a:xfrm>
          <a:prstGeom prst="rect">
            <a:avLst/>
          </a:prstGeom>
          <a:noFill/>
          <a:effectLst/>
        </p:spPr>
        <p:txBody>
          <a:bodyPr wrap="none" lIns="0" rIns="0" tIns="0" bIns="0" anchor="t">
            <a:noAutofit/>
          </a:bodyPr>
          <a:lstStyle/>
          <a:p>
            <a:pPr algn="l">
              <a:lnSpc>
                <a:spcPts val="1276"/>
              </a:lnSpc>
              <a:spcBef>
                <a:spcPts val="0"/>
              </a:spcBef>
              <a:spcAft>
                <a:spcPts val="0"/>
              </a:spcAft>
              <a:defRPr sz="1100" b="1">
                <a:solidFill>
                  <a:srgbClr val="58707B"/>
                </a:solidFill>
                <a:latin typeface="Lato"/>
              </a:defRPr>
            </a:pPr>
            <a:r>
              <a:t>KEY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Read the merchant—not just the sales total</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02</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Seven evidence families perform different jobs. Context is not permission, and revenue is not capacity.</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0" y="4762500"/>
            <a:ext cx="4127500" cy="23749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82826" y="5260242"/>
            <a:ext cx="594946" cy="424961"/>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54496" y="5104423"/>
            <a:ext cx="169984" cy="18415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24480" y="5104423"/>
            <a:ext cx="169984" cy="184150"/>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4465" y="5104423"/>
            <a:ext cx="169984" cy="18415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64450" y="5104423"/>
            <a:ext cx="169984" cy="184150"/>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81984" y="5416061"/>
            <a:ext cx="141653" cy="269142"/>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22796" y="5387730"/>
            <a:ext cx="169984" cy="141653"/>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3700" y="5016500"/>
            <a:ext cx="2667000" cy="8509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FFFFFF"/>
                </a:solidFill>
                <a:latin typeface="Noto Serif"/>
              </a:defRPr>
            </a:pPr>
            <a:r>
              <a:t>Merchant</a:t>
            </a:r>
          </a:p>
          <a:p>
            <a:pPr algn="l">
              <a:lnSpc>
                <a:spcPts val="3131"/>
              </a:lnSpc>
              <a:spcBef>
                <a:spcPts val="0"/>
              </a:spcBef>
              <a:spcAft>
                <a:spcPts val="0"/>
              </a:spcAft>
              <a:defRPr sz="2700" b="0">
                <a:solidFill>
                  <a:srgbClr val="FFFFFF"/>
                </a:solidFill>
                <a:latin typeface="Noto Serif"/>
              </a:defRPr>
            </a:pPr>
            <a:r>
              <a:t>evidence</a:t>
            </a:r>
          </a:p>
        </p:txBody>
      </p:sp>
      <p:sp>
        <p:nvSpPr>
          <p:cNvPr id="18" name="TextBox 17"/>
          <p:cNvSpPr txBox="1"/>
          <p:nvPr/>
        </p:nvSpPr>
        <p:spPr>
          <a:xfrm>
            <a:off x="7112000" y="6210300"/>
            <a:ext cx="3556000" cy="6477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FFFFFF"/>
                </a:solidFill>
                <a:latin typeface="Lato"/>
              </a:defRPr>
            </a:pPr>
            <a:r>
              <a:t>What is observed?</a:t>
            </a:r>
          </a:p>
          <a:p>
            <a:pPr algn="l">
              <a:lnSpc>
                <a:spcPts val="2320"/>
              </a:lnSpc>
              <a:spcBef>
                <a:spcPts val="0"/>
              </a:spcBef>
              <a:spcAft>
                <a:spcPts val="0"/>
              </a:spcAft>
              <a:defRPr sz="2000" b="0">
                <a:solidFill>
                  <a:srgbClr val="FFFFFF"/>
                </a:solidFill>
                <a:latin typeface="Lato"/>
              </a:defRPr>
            </a:pPr>
            <a:r>
              <a:t>What can it support?</a:t>
            </a:r>
          </a:p>
        </p:txBody>
      </p:sp>
      <p:sp>
        <p:nvSpPr>
          <p:cNvPr id="19" name="Rounded Rectangle 18"/>
          <p:cNvSpPr/>
          <p:nvPr/>
        </p:nvSpPr>
        <p:spPr>
          <a:xfrm>
            <a:off x="685800" y="3213100"/>
            <a:ext cx="55245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365500"/>
            <a:ext cx="495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BUSINESS CONTEXT</a:t>
            </a:r>
          </a:p>
        </p:txBody>
      </p:sp>
      <p:sp>
        <p:nvSpPr>
          <p:cNvPr id="21" name="TextBox 20"/>
          <p:cNvSpPr txBox="1"/>
          <p:nvPr/>
        </p:nvSpPr>
        <p:spPr>
          <a:xfrm>
            <a:off x="914400" y="3746500"/>
            <a:ext cx="50292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Industry · size · relationship</a:t>
            </a:r>
          </a:p>
        </p:txBody>
      </p:sp>
      <p:sp>
        <p:nvSpPr>
          <p:cNvPr id="22" name="TextBox 21"/>
          <p:cNvSpPr txBox="1"/>
          <p:nvPr/>
        </p:nvSpPr>
        <p:spPr>
          <a:xfrm>
            <a:off x="914400" y="4216400"/>
            <a:ext cx="50292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Margin assumption &amp; context risk</a:t>
            </a:r>
          </a:p>
        </p:txBody>
      </p:sp>
      <p:cxnSp>
        <p:nvCxnSpPr>
          <p:cNvPr id="23" name="Connector 22"/>
          <p:cNvCxnSpPr/>
          <p:nvPr/>
        </p:nvCxnSpPr>
        <p:spPr>
          <a:xfrm>
            <a:off x="6210300" y="4064000"/>
            <a:ext cx="571500" cy="13716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 y="5168900"/>
            <a:ext cx="55245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321300"/>
            <a:ext cx="495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SALES &amp; SETTLEMENT</a:t>
            </a:r>
          </a:p>
        </p:txBody>
      </p:sp>
      <p:sp>
        <p:nvSpPr>
          <p:cNvPr id="26" name="TextBox 25"/>
          <p:cNvSpPr txBox="1"/>
          <p:nvPr/>
        </p:nvSpPr>
        <p:spPr>
          <a:xfrm>
            <a:off x="914400" y="5702300"/>
            <a:ext cx="50292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Level · trend · variability · gaps</a:t>
            </a:r>
          </a:p>
        </p:txBody>
      </p:sp>
      <p:sp>
        <p:nvSpPr>
          <p:cNvPr id="27" name="TextBox 26"/>
          <p:cNvSpPr txBox="1"/>
          <p:nvPr/>
        </p:nvSpPr>
        <p:spPr>
          <a:xfrm>
            <a:off x="914400" y="6172200"/>
            <a:ext cx="50292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Operating cash &amp; resilience</a:t>
            </a:r>
          </a:p>
        </p:txBody>
      </p:sp>
      <p:cxnSp>
        <p:nvCxnSpPr>
          <p:cNvPr id="28" name="Connector 27"/>
          <p:cNvCxnSpPr/>
          <p:nvPr/>
        </p:nvCxnSpPr>
        <p:spPr>
          <a:xfrm flipV="1">
            <a:off x="6210300" y="5867400"/>
            <a:ext cx="571500" cy="1524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85800" y="7124700"/>
            <a:ext cx="55245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7277100"/>
            <a:ext cx="495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LIQUIDITY</a:t>
            </a:r>
          </a:p>
        </p:txBody>
      </p:sp>
      <p:sp>
        <p:nvSpPr>
          <p:cNvPr id="31" name="TextBox 30"/>
          <p:cNvSpPr txBox="1"/>
          <p:nvPr/>
        </p:nvSpPr>
        <p:spPr>
          <a:xfrm>
            <a:off x="914400" y="7658100"/>
            <a:ext cx="50292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Balance · negative days · NSF</a:t>
            </a:r>
          </a:p>
        </p:txBody>
      </p:sp>
      <p:sp>
        <p:nvSpPr>
          <p:cNvPr id="32" name="TextBox 31"/>
          <p:cNvSpPr txBox="1"/>
          <p:nvPr/>
        </p:nvSpPr>
        <p:spPr>
          <a:xfrm>
            <a:off x="914400" y="8128000"/>
            <a:ext cx="50292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Cushion &amp; signs of cash stress</a:t>
            </a:r>
          </a:p>
        </p:txBody>
      </p:sp>
      <p:cxnSp>
        <p:nvCxnSpPr>
          <p:cNvPr id="33" name="Connector 32"/>
          <p:cNvCxnSpPr/>
          <p:nvPr/>
        </p:nvCxnSpPr>
        <p:spPr>
          <a:xfrm flipV="1">
            <a:off x="6210300" y="6299200"/>
            <a:ext cx="571500" cy="16764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1671300" y="3213100"/>
            <a:ext cx="59436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99900" y="3365500"/>
            <a:ext cx="5334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EXISTING OBLIGATIONS</a:t>
            </a:r>
          </a:p>
        </p:txBody>
      </p:sp>
      <p:sp>
        <p:nvSpPr>
          <p:cNvPr id="36" name="TextBox 35"/>
          <p:cNvSpPr txBox="1"/>
          <p:nvPr/>
        </p:nvSpPr>
        <p:spPr>
          <a:xfrm>
            <a:off x="11899900" y="3746500"/>
            <a:ext cx="53340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Fixed + sales-linked · stacking</a:t>
            </a:r>
          </a:p>
        </p:txBody>
      </p:sp>
      <p:sp>
        <p:nvSpPr>
          <p:cNvPr id="37" name="TextBox 36"/>
          <p:cNvSpPr txBox="1"/>
          <p:nvPr/>
        </p:nvSpPr>
        <p:spPr>
          <a:xfrm>
            <a:off x="11899900" y="4216400"/>
            <a:ext cx="53340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Cash already committed</a:t>
            </a:r>
          </a:p>
        </p:txBody>
      </p:sp>
      <p:cxnSp>
        <p:nvCxnSpPr>
          <p:cNvPr id="38" name="Connector 37"/>
          <p:cNvCxnSpPr/>
          <p:nvPr/>
        </p:nvCxnSpPr>
        <p:spPr>
          <a:xfrm flipV="1">
            <a:off x="11087100" y="4064000"/>
            <a:ext cx="508000" cy="13716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1671300" y="5168900"/>
            <a:ext cx="59436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99900" y="5321300"/>
            <a:ext cx="5334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VERIFICATION &amp; CONTINUITY</a:t>
            </a:r>
          </a:p>
        </p:txBody>
      </p:sp>
      <p:sp>
        <p:nvSpPr>
          <p:cNvPr id="41" name="TextBox 40"/>
          <p:cNvSpPr txBox="1"/>
          <p:nvPr/>
        </p:nvSpPr>
        <p:spPr>
          <a:xfrm>
            <a:off x="11899900" y="5702300"/>
            <a:ext cx="53340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Usable history · conflicts · outages</a:t>
            </a:r>
          </a:p>
        </p:txBody>
      </p:sp>
      <p:sp>
        <p:nvSpPr>
          <p:cNvPr id="42" name="TextBox 41"/>
          <p:cNvSpPr txBox="1"/>
          <p:nvPr/>
        </p:nvSpPr>
        <p:spPr>
          <a:xfrm>
            <a:off x="11899900" y="6172200"/>
            <a:ext cx="53340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Assessability &amp; judgment gates</a:t>
            </a:r>
          </a:p>
        </p:txBody>
      </p:sp>
      <p:cxnSp>
        <p:nvCxnSpPr>
          <p:cNvPr id="43" name="Connector 42"/>
          <p:cNvCxnSpPr/>
          <p:nvPr/>
        </p:nvCxnSpPr>
        <p:spPr>
          <a:xfrm>
            <a:off x="11087100" y="5867400"/>
            <a:ext cx="508000" cy="1524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1671300" y="7124700"/>
            <a:ext cx="5943600" cy="17018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899900" y="7277100"/>
            <a:ext cx="5334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RISK &amp; ECONOMICS</a:t>
            </a:r>
          </a:p>
        </p:txBody>
      </p:sp>
      <p:sp>
        <p:nvSpPr>
          <p:cNvPr id="46" name="TextBox 45"/>
          <p:cNvSpPr txBox="1"/>
          <p:nvPr/>
        </p:nvSpPr>
        <p:spPr>
          <a:xfrm>
            <a:off x="11899900" y="7658100"/>
            <a:ext cx="5334000" cy="381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Comparative risk · costs · loss</a:t>
            </a:r>
          </a:p>
        </p:txBody>
      </p:sp>
      <p:sp>
        <p:nvSpPr>
          <p:cNvPr id="47" name="TextBox 46"/>
          <p:cNvSpPr txBox="1"/>
          <p:nvPr/>
        </p:nvSpPr>
        <p:spPr>
          <a:xfrm>
            <a:off x="11899900" y="8128000"/>
            <a:ext cx="5334000" cy="5461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 Credit tiers &amp; required hurdle</a:t>
            </a:r>
          </a:p>
        </p:txBody>
      </p:sp>
      <p:cxnSp>
        <p:nvCxnSpPr>
          <p:cNvPr id="48" name="Connector 47"/>
          <p:cNvCxnSpPr/>
          <p:nvPr/>
        </p:nvCxnSpPr>
        <p:spPr>
          <a:xfrm>
            <a:off x="11087100" y="6299200"/>
            <a:ext cx="508000" cy="16764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915400" y="7175500"/>
            <a:ext cx="0" cy="660400"/>
          </a:xfrm>
          <a:prstGeom prst="line">
            <a:avLst/>
          </a:prstGeom>
          <a:ln w="21590">
            <a:solidFill>
              <a:srgbClr val="147D77"/>
            </a:solidFill>
          </a:ln>
          <a:effectLst/>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858000" y="7874000"/>
            <a:ext cx="4127500" cy="16002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61200" y="8051800"/>
            <a:ext cx="368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RESILIENCE</a:t>
            </a:r>
          </a:p>
        </p:txBody>
      </p:sp>
      <p:sp>
        <p:nvSpPr>
          <p:cNvPr id="52" name="TextBox 51"/>
          <p:cNvSpPr txBox="1"/>
          <p:nvPr/>
        </p:nvSpPr>
        <p:spPr>
          <a:xfrm>
            <a:off x="7061200" y="8445500"/>
            <a:ext cx="3708400" cy="9017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Revenue + liquidity + burden +</a:t>
            </a:r>
          </a:p>
          <a:p>
            <a:pPr algn="l">
              <a:lnSpc>
                <a:spcPts val="2204"/>
              </a:lnSpc>
              <a:spcBef>
                <a:spcPts val="0"/>
              </a:spcBef>
              <a:spcAft>
                <a:spcPts val="0"/>
              </a:spcAft>
              <a:defRPr sz="1900" b="0">
                <a:solidFill>
                  <a:srgbClr val="203B4C"/>
                </a:solidFill>
                <a:latin typeface="Lato"/>
              </a:defRPr>
            </a:pPr>
            <a:r>
              <a:t>continuity + confidence</a:t>
            </a:r>
          </a:p>
        </p:txBody>
      </p:sp>
      <p:sp>
        <p:nvSpPr>
          <p:cNvPr id="53" name="TextBox 52"/>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Size and relationship are not standalone vetoes here. Trace the decision role each field actually plays.</a:t>
            </a:r>
          </a:p>
        </p:txBody>
      </p:sp>
      <p:sp>
        <p:nvSpPr>
          <p:cNvPr id="54" name="Rounded Rectangle 53"/>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56" name="TextBox 55"/>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Similar sales, different supportable amounts: which drivers could explain the difference?</a:t>
            </a:r>
          </a:p>
        </p:txBody>
      </p:sp>
      <p:sp>
        <p:nvSpPr>
          <p:cNvPr id="57" name="Rounded Rectangle 56"/>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9" name="TextBox 58"/>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Obligations and modeled margin alter residual cash;</a:t>
            </a:r>
          </a:p>
          <a:p>
            <a:pPr algn="l">
              <a:lnSpc>
                <a:spcPts val="1913"/>
              </a:lnSpc>
              <a:spcBef>
                <a:spcPts val="0"/>
              </a:spcBef>
              <a:spcAft>
                <a:spcPts val="0"/>
              </a:spcAft>
              <a:defRPr sz="1650" b="0">
                <a:solidFill>
                  <a:srgbClr val="FFFFFF"/>
                </a:solidFill>
                <a:latin typeface="Lato"/>
              </a:defRPr>
            </a:pPr>
            <a:r>
              <a:t>liquidity, evidence, risk and request terms also matter.</a:t>
            </a:r>
          </a:p>
        </p:txBody>
      </p:sp>
      <p:sp>
        <p:nvSpPr>
          <p:cNvPr id="60" name="TextBox 59"/>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61" name="TextBox 60"/>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S03, S05, S06, S27 | 02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3"/>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Sales tell a pattern—not only a total</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03</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Average sales feed cash generation. Their pattern feeds the source revenue-resilience component.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4254500" cy="60325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41400" y="4244730"/>
            <a:ext cx="871903" cy="0"/>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41400" y="4039576"/>
            <a:ext cx="170961" cy="0"/>
          </a:xfrm>
          <a:prstGeom prst="line">
            <a:avLst/>
          </a:prstGeom>
          <a:ln w="317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12361" y="3646365"/>
            <a:ext cx="136769" cy="393211"/>
          </a:xfrm>
          <a:prstGeom prst="line">
            <a:avLst/>
          </a:prstGeom>
          <a:ln w="317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49130" y="3646365"/>
            <a:ext cx="136770" cy="564173"/>
          </a:xfrm>
          <a:prstGeom prst="line">
            <a:avLst/>
          </a:prstGeom>
          <a:ln w="317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485900" y="3834423"/>
            <a:ext cx="119673" cy="376115"/>
          </a:xfrm>
          <a:prstGeom prst="line">
            <a:avLst/>
          </a:prstGeom>
          <a:ln w="317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05573" y="3834423"/>
            <a:ext cx="290634" cy="0"/>
          </a:xfrm>
          <a:prstGeom prst="line">
            <a:avLst/>
          </a:prstGeom>
          <a:ln w="317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1400" y="4787900"/>
            <a:ext cx="3568700" cy="787400"/>
          </a:xfrm>
          <a:prstGeom prst="rect">
            <a:avLst/>
          </a:prstGeom>
          <a:noFill/>
          <a:effectLst/>
        </p:spPr>
        <p:txBody>
          <a:bodyPr wrap="none" lIns="0" rIns="0" tIns="0" bIns="0" anchor="t">
            <a:spAutoFit/>
          </a:bodyPr>
          <a:lstStyle/>
          <a:p>
            <a:pPr algn="l">
              <a:lnSpc>
                <a:spcPts val="3364"/>
              </a:lnSpc>
              <a:spcBef>
                <a:spcPts val="0"/>
              </a:spcBef>
              <a:spcAft>
                <a:spcPts val="0"/>
              </a:spcAft>
              <a:defRPr sz="2900" b="0">
                <a:solidFill>
                  <a:srgbClr val="FFFFFF"/>
                </a:solidFill>
                <a:latin typeface="Noto Serif"/>
              </a:defRPr>
            </a:pPr>
            <a:r>
              <a:t>Start with level</a:t>
            </a:r>
          </a:p>
        </p:txBody>
      </p:sp>
      <p:sp>
        <p:nvSpPr>
          <p:cNvPr id="17" name="TextBox 16"/>
          <p:cNvSpPr txBox="1"/>
          <p:nvPr/>
        </p:nvSpPr>
        <p:spPr>
          <a:xfrm>
            <a:off x="1041400" y="5613400"/>
            <a:ext cx="3492500" cy="1549400"/>
          </a:xfrm>
          <a:prstGeom prst="rect">
            <a:avLst/>
          </a:prstGeom>
          <a:noFill/>
          <a:effectLst/>
        </p:spPr>
        <p:txBody>
          <a:bodyPr wrap="none" lIns="0" rIns="0" tIns="0" bIns="0" anchor="t">
            <a:spAutoFit/>
          </a:bodyPr>
          <a:lstStyle/>
          <a:p>
            <a:pPr algn="l">
              <a:lnSpc>
                <a:spcPts val="2668"/>
              </a:lnSpc>
              <a:spcBef>
                <a:spcPts val="0"/>
              </a:spcBef>
              <a:spcAft>
                <a:spcPts val="0"/>
              </a:spcAft>
              <a:defRPr sz="2300" b="0">
                <a:solidFill>
                  <a:srgbClr val="FFFFFF"/>
                </a:solidFill>
                <a:latin typeface="Lato"/>
              </a:defRPr>
            </a:pPr>
            <a:r>
              <a:t>30-day average eligible</a:t>
            </a:r>
          </a:p>
          <a:p>
            <a:pPr algn="l">
              <a:lnSpc>
                <a:spcPts val="2668"/>
              </a:lnSpc>
              <a:spcBef>
                <a:spcPts val="0"/>
              </a:spcBef>
              <a:spcAft>
                <a:spcPts val="0"/>
              </a:spcAft>
              <a:defRPr sz="2300" b="0">
                <a:solidFill>
                  <a:srgbClr val="FFFFFF"/>
                </a:solidFill>
                <a:latin typeface="Lato"/>
              </a:defRPr>
            </a:pPr>
            <a:r>
              <a:t>sales → modeled cash,</a:t>
            </a:r>
          </a:p>
          <a:p>
            <a:pPr algn="l">
              <a:lnSpc>
                <a:spcPts val="2668"/>
              </a:lnSpc>
              <a:spcBef>
                <a:spcPts val="0"/>
              </a:spcBef>
              <a:spcAft>
                <a:spcPts val="0"/>
              </a:spcAft>
              <a:defRPr sz="2300" b="0">
                <a:solidFill>
                  <a:srgbClr val="FFFFFF"/>
                </a:solidFill>
                <a:latin typeface="Lato"/>
              </a:defRPr>
            </a:pPr>
            <a:r>
              <a:t>obligations and remittance</a:t>
            </a:r>
          </a:p>
          <a:p>
            <a:pPr algn="l">
              <a:lnSpc>
                <a:spcPts val="2668"/>
              </a:lnSpc>
              <a:spcBef>
                <a:spcPts val="0"/>
              </a:spcBef>
              <a:spcAft>
                <a:spcPts val="0"/>
              </a:spcAft>
              <a:defRPr sz="2300" b="0">
                <a:solidFill>
                  <a:srgbClr val="FFFFFF"/>
                </a:solidFill>
                <a:latin typeface="Lato"/>
              </a:defRPr>
            </a:pPr>
            <a:r>
              <a:t>burden</a:t>
            </a:r>
          </a:p>
        </p:txBody>
      </p:sp>
      <p:sp>
        <p:nvSpPr>
          <p:cNvPr id="18" name="TextBox 17"/>
          <p:cNvSpPr txBox="1"/>
          <p:nvPr/>
        </p:nvSpPr>
        <p:spPr>
          <a:xfrm>
            <a:off x="1041400" y="7721600"/>
            <a:ext cx="3517900" cy="8890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FFFFFF"/>
                </a:solidFill>
                <a:latin typeface="Lato"/>
              </a:defRPr>
            </a:pPr>
            <a:r>
              <a:t>Zero sales is a value.</a:t>
            </a:r>
          </a:p>
          <a:p>
            <a:pPr algn="l">
              <a:lnSpc>
                <a:spcPts val="2204"/>
              </a:lnSpc>
              <a:spcBef>
                <a:spcPts val="0"/>
              </a:spcBef>
              <a:spcAft>
                <a:spcPts val="0"/>
              </a:spcAft>
              <a:defRPr sz="1900" b="0">
                <a:solidFill>
                  <a:srgbClr val="FFFFFF"/>
                </a:solidFill>
                <a:latin typeface="Lato"/>
              </a:defRPr>
            </a:pPr>
            <a:r>
              <a:t>An outage can remove usable</a:t>
            </a:r>
          </a:p>
          <a:p>
            <a:pPr algn="l">
              <a:lnSpc>
                <a:spcPts val="2204"/>
              </a:lnSpc>
              <a:spcBef>
                <a:spcPts val="0"/>
              </a:spcBef>
              <a:spcAft>
                <a:spcPts val="0"/>
              </a:spcAft>
              <a:defRPr sz="1900" b="0">
                <a:solidFill>
                  <a:srgbClr val="FFFFFF"/>
                </a:solidFill>
                <a:latin typeface="Lato"/>
              </a:defRPr>
            </a:pPr>
            <a:r>
              <a:t>evidence.</a:t>
            </a:r>
          </a:p>
        </p:txBody>
      </p:sp>
      <p:sp>
        <p:nvSpPr>
          <p:cNvPr id="19" name="Rounded Rectangle 18"/>
          <p:cNvSpPr/>
          <p:nvPr/>
        </p:nvSpPr>
        <p:spPr>
          <a:xfrm>
            <a:off x="5334000" y="3111500"/>
            <a:ext cx="5930900" cy="25400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8000" y="3327400"/>
            <a:ext cx="12954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147D77"/>
                </a:solidFill>
                <a:latin typeface="Noto Serif"/>
              </a:defRPr>
            </a:pPr>
            <a:r>
              <a:t>40%</a:t>
            </a:r>
          </a:p>
        </p:txBody>
      </p:sp>
      <p:sp>
        <p:nvSpPr>
          <p:cNvPr id="21" name="TextBox 20"/>
          <p:cNvSpPr txBox="1"/>
          <p:nvPr/>
        </p:nvSpPr>
        <p:spPr>
          <a:xfrm>
            <a:off x="6959600" y="3378200"/>
            <a:ext cx="4013200" cy="533400"/>
          </a:xfrm>
          <a:prstGeom prst="rect">
            <a:avLst/>
          </a:prstGeom>
          <a:noFill/>
          <a:effectLst/>
        </p:spPr>
        <p:txBody>
          <a:bodyPr wrap="none" lIns="0" rIns="0" tIns="0" bIns="0" anchor="t">
            <a:spAutoFit/>
          </a:bodyPr>
          <a:lstStyle/>
          <a:p>
            <a:pPr algn="l">
              <a:lnSpc>
                <a:spcPts val="2899"/>
              </a:lnSpc>
              <a:spcBef>
                <a:spcPts val="0"/>
              </a:spcBef>
              <a:spcAft>
                <a:spcPts val="0"/>
              </a:spcAft>
              <a:defRPr sz="2500" b="1">
                <a:solidFill>
                  <a:srgbClr val="203B4C"/>
                </a:solidFill>
                <a:latin typeface="Lato"/>
              </a:defRPr>
            </a:pPr>
            <a:r>
              <a:t>Trend</a:t>
            </a:r>
          </a:p>
        </p:txBody>
      </p:sp>
      <p:sp>
        <p:nvSpPr>
          <p:cNvPr id="22" name="TextBox 21"/>
          <p:cNvSpPr txBox="1"/>
          <p:nvPr/>
        </p:nvSpPr>
        <p:spPr>
          <a:xfrm>
            <a:off x="5588000" y="4114800"/>
            <a:ext cx="5397500" cy="7620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30-day average / 90-day average − 1</a:t>
            </a:r>
          </a:p>
        </p:txBody>
      </p:sp>
      <p:sp>
        <p:nvSpPr>
          <p:cNvPr id="23" name="TextBox 22"/>
          <p:cNvSpPr txBox="1"/>
          <p:nvPr/>
        </p:nvSpPr>
        <p:spPr>
          <a:xfrm>
            <a:off x="5588000" y="5016500"/>
            <a:ext cx="5397500" cy="5080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Growth after source scaling</a:t>
            </a:r>
          </a:p>
        </p:txBody>
      </p:sp>
      <p:sp>
        <p:nvSpPr>
          <p:cNvPr id="24" name="Rounded Rectangle 23"/>
          <p:cNvSpPr/>
          <p:nvPr/>
        </p:nvSpPr>
        <p:spPr>
          <a:xfrm>
            <a:off x="11607800" y="3111500"/>
            <a:ext cx="5930900" cy="25400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61800" y="3327400"/>
            <a:ext cx="12954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147D77"/>
                </a:solidFill>
                <a:latin typeface="Noto Serif"/>
              </a:defRPr>
            </a:pPr>
            <a:r>
              <a:t>25%</a:t>
            </a:r>
          </a:p>
        </p:txBody>
      </p:sp>
      <p:sp>
        <p:nvSpPr>
          <p:cNvPr id="26" name="TextBox 25"/>
          <p:cNvSpPr txBox="1"/>
          <p:nvPr/>
        </p:nvSpPr>
        <p:spPr>
          <a:xfrm>
            <a:off x="13233400" y="3378200"/>
            <a:ext cx="4013200" cy="533400"/>
          </a:xfrm>
          <a:prstGeom prst="rect">
            <a:avLst/>
          </a:prstGeom>
          <a:noFill/>
          <a:effectLst/>
        </p:spPr>
        <p:txBody>
          <a:bodyPr wrap="none" lIns="0" rIns="0" tIns="0" bIns="0" anchor="t">
            <a:spAutoFit/>
          </a:bodyPr>
          <a:lstStyle/>
          <a:p>
            <a:pPr algn="l">
              <a:lnSpc>
                <a:spcPts val="2899"/>
              </a:lnSpc>
              <a:spcBef>
                <a:spcPts val="0"/>
              </a:spcBef>
              <a:spcAft>
                <a:spcPts val="0"/>
              </a:spcAft>
              <a:defRPr sz="2500" b="1">
                <a:solidFill>
                  <a:srgbClr val="203B4C"/>
                </a:solidFill>
                <a:latin typeface="Lato"/>
              </a:defRPr>
            </a:pPr>
            <a:r>
              <a:t>Stability</a:t>
            </a:r>
          </a:p>
        </p:txBody>
      </p:sp>
      <p:sp>
        <p:nvSpPr>
          <p:cNvPr id="27" name="TextBox 26"/>
          <p:cNvSpPr txBox="1"/>
          <p:nvPr/>
        </p:nvSpPr>
        <p:spPr>
          <a:xfrm>
            <a:off x="11861800" y="4114800"/>
            <a:ext cx="5397500" cy="7620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Daily standard deviation / daily mean</a:t>
            </a:r>
          </a:p>
        </p:txBody>
      </p:sp>
      <p:sp>
        <p:nvSpPr>
          <p:cNvPr id="28" name="TextBox 27"/>
          <p:cNvSpPr txBox="1"/>
          <p:nvPr/>
        </p:nvSpPr>
        <p:spPr>
          <a:xfrm>
            <a:off x="11861800" y="5016500"/>
            <a:ext cx="5397500" cy="5080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Lower variability helps the component</a:t>
            </a:r>
          </a:p>
        </p:txBody>
      </p:sp>
      <p:sp>
        <p:nvSpPr>
          <p:cNvPr id="29" name="Rounded Rectangle 28"/>
          <p:cNvSpPr/>
          <p:nvPr/>
        </p:nvSpPr>
        <p:spPr>
          <a:xfrm>
            <a:off x="5334000" y="5905500"/>
            <a:ext cx="5930900" cy="25400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88000" y="6121400"/>
            <a:ext cx="12954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147D77"/>
                </a:solidFill>
                <a:latin typeface="Noto Serif"/>
              </a:defRPr>
            </a:pPr>
            <a:r>
              <a:t>20%</a:t>
            </a:r>
          </a:p>
        </p:txBody>
      </p:sp>
      <p:sp>
        <p:nvSpPr>
          <p:cNvPr id="31" name="TextBox 30"/>
          <p:cNvSpPr txBox="1"/>
          <p:nvPr/>
        </p:nvSpPr>
        <p:spPr>
          <a:xfrm>
            <a:off x="6959600" y="6172200"/>
            <a:ext cx="4013200" cy="533400"/>
          </a:xfrm>
          <a:prstGeom prst="rect">
            <a:avLst/>
          </a:prstGeom>
          <a:noFill/>
          <a:effectLst/>
        </p:spPr>
        <p:txBody>
          <a:bodyPr wrap="none" lIns="0" rIns="0" tIns="0" bIns="0" anchor="t">
            <a:spAutoFit/>
          </a:bodyPr>
          <a:lstStyle/>
          <a:p>
            <a:pPr algn="l">
              <a:lnSpc>
                <a:spcPts val="2899"/>
              </a:lnSpc>
              <a:spcBef>
                <a:spcPts val="0"/>
              </a:spcBef>
              <a:spcAft>
                <a:spcPts val="0"/>
              </a:spcAft>
              <a:defRPr sz="2500" b="1">
                <a:solidFill>
                  <a:srgbClr val="203B4C"/>
                </a:solidFill>
                <a:latin typeface="Lato"/>
              </a:defRPr>
            </a:pPr>
            <a:r>
              <a:t>Activity</a:t>
            </a:r>
          </a:p>
        </p:txBody>
      </p:sp>
      <p:sp>
        <p:nvSpPr>
          <p:cNvPr id="32" name="TextBox 31"/>
          <p:cNvSpPr txBox="1"/>
          <p:nvPr/>
        </p:nvSpPr>
        <p:spPr>
          <a:xfrm>
            <a:off x="5588000" y="6908800"/>
            <a:ext cx="5397500" cy="7620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Zero-sales days / defined window</a:t>
            </a:r>
          </a:p>
        </p:txBody>
      </p:sp>
      <p:sp>
        <p:nvSpPr>
          <p:cNvPr id="33" name="TextBox 32"/>
          <p:cNvSpPr txBox="1"/>
          <p:nvPr/>
        </p:nvSpPr>
        <p:spPr>
          <a:xfrm>
            <a:off x="5588000" y="7810500"/>
            <a:ext cx="5397500" cy="5080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Inactivity is assessed separately</a:t>
            </a:r>
          </a:p>
        </p:txBody>
      </p:sp>
      <p:sp>
        <p:nvSpPr>
          <p:cNvPr id="34" name="Rounded Rectangle 33"/>
          <p:cNvSpPr/>
          <p:nvPr/>
        </p:nvSpPr>
        <p:spPr>
          <a:xfrm>
            <a:off x="11607800" y="5905500"/>
            <a:ext cx="5930900" cy="25400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61800" y="6121400"/>
            <a:ext cx="12954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147D77"/>
                </a:solidFill>
                <a:latin typeface="Noto Serif"/>
              </a:defRPr>
            </a:pPr>
            <a:r>
              <a:t>15%</a:t>
            </a:r>
          </a:p>
        </p:txBody>
      </p:sp>
      <p:sp>
        <p:nvSpPr>
          <p:cNvPr id="36" name="TextBox 35"/>
          <p:cNvSpPr txBox="1"/>
          <p:nvPr/>
        </p:nvSpPr>
        <p:spPr>
          <a:xfrm>
            <a:off x="13233400" y="6172200"/>
            <a:ext cx="4013200" cy="533400"/>
          </a:xfrm>
          <a:prstGeom prst="rect">
            <a:avLst/>
          </a:prstGeom>
          <a:noFill/>
          <a:effectLst/>
        </p:spPr>
        <p:txBody>
          <a:bodyPr wrap="none" lIns="0" rIns="0" tIns="0" bIns="0" anchor="t">
            <a:spAutoFit/>
          </a:bodyPr>
          <a:lstStyle/>
          <a:p>
            <a:pPr algn="l">
              <a:lnSpc>
                <a:spcPts val="2899"/>
              </a:lnSpc>
              <a:spcBef>
                <a:spcPts val="0"/>
              </a:spcBef>
              <a:spcAft>
                <a:spcPts val="0"/>
              </a:spcAft>
              <a:defRPr sz="2500" b="1">
                <a:solidFill>
                  <a:srgbClr val="203B4C"/>
                </a:solidFill>
                <a:latin typeface="Lato"/>
              </a:defRPr>
            </a:pPr>
            <a:r>
              <a:t>Concentration</a:t>
            </a:r>
          </a:p>
        </p:txBody>
      </p:sp>
      <p:sp>
        <p:nvSpPr>
          <p:cNvPr id="37" name="TextBox 36"/>
          <p:cNvSpPr txBox="1"/>
          <p:nvPr/>
        </p:nvSpPr>
        <p:spPr>
          <a:xfrm>
            <a:off x="11861800" y="6908800"/>
            <a:ext cx="5397500" cy="7620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Largest 30-day share within 180 days</a:t>
            </a:r>
          </a:p>
        </p:txBody>
      </p:sp>
      <p:sp>
        <p:nvSpPr>
          <p:cNvPr id="38" name="TextBox 37"/>
          <p:cNvSpPr txBox="1"/>
          <p:nvPr/>
        </p:nvSpPr>
        <p:spPr>
          <a:xfrm>
            <a:off x="11861800" y="7810500"/>
            <a:ext cx="5397500" cy="5080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Dependence on one period matters</a:t>
            </a:r>
          </a:p>
        </p:txBody>
      </p:sp>
      <p:sp>
        <p:nvSpPr>
          <p:cNvPr id="39" name="Rounded Rectangle 38"/>
          <p:cNvSpPr/>
          <p:nvPr/>
        </p:nvSpPr>
        <p:spPr>
          <a:xfrm>
            <a:off x="5346700" y="8928100"/>
            <a:ext cx="12268200" cy="7112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75300" y="9093200"/>
            <a:ext cx="11811000" cy="4318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Normalize → clip each component to [0,1] → apply weights → × 100</a:t>
            </a:r>
          </a:p>
        </p:txBody>
      </p:sp>
      <p:sp>
        <p:nvSpPr>
          <p:cNvPr id="41" name="TextBox 40"/>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This is one resilience component, not the final integrated risk score. Windows and evidence availability still govern.</a:t>
            </a:r>
          </a:p>
        </p:txBody>
      </p:sp>
      <p:sp>
        <p:nvSpPr>
          <p:cNvPr id="42" name="Rounded Rectangle 41"/>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4" name="TextBox 43"/>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Can four raw percentages be added to reproduce the revenue score?</a:t>
            </a:r>
          </a:p>
        </p:txBody>
      </p:sp>
      <p:sp>
        <p:nvSpPr>
          <p:cNvPr id="45" name="Rounded Rectangle 44"/>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47" name="TextBox 46"/>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Scale and clip each feature first. Then apply 40% /</a:t>
            </a:r>
          </a:p>
          <a:p>
            <a:pPr algn="l">
              <a:lnSpc>
                <a:spcPts val="1913"/>
              </a:lnSpc>
              <a:spcBef>
                <a:spcPts val="0"/>
              </a:spcBef>
              <a:spcAft>
                <a:spcPts val="0"/>
              </a:spcAft>
              <a:defRPr sz="1650" b="0">
                <a:solidFill>
                  <a:srgbClr val="FFFFFF"/>
                </a:solidFill>
                <a:latin typeface="Lato"/>
              </a:defRPr>
            </a:pPr>
            <a:r>
              <a:t>25% / 20% / 15%; missing inputs can block it.</a:t>
            </a:r>
          </a:p>
        </p:txBody>
      </p:sp>
      <p:sp>
        <p:nvSpPr>
          <p:cNvPr id="48" name="TextBox 47"/>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49" name="TextBox 48"/>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S02, S05, S01 | 03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Build capacity from cash and commitments</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04</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098 / Baseline. Every amount below belongs to a stated input, operation or output.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098800"/>
            <a:ext cx="4229100" cy="1676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314700"/>
            <a:ext cx="698500" cy="6985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671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098</a:t>
            </a:r>
          </a:p>
        </p:txBody>
      </p:sp>
      <p:sp>
        <p:nvSpPr>
          <p:cNvPr id="12" name="TextBox 11"/>
          <p:cNvSpPr txBox="1"/>
          <p:nvPr/>
        </p:nvSpPr>
        <p:spPr>
          <a:xfrm>
            <a:off x="1828800" y="3327400"/>
            <a:ext cx="28575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098</a:t>
            </a:r>
          </a:p>
        </p:txBody>
      </p:sp>
      <p:sp>
        <p:nvSpPr>
          <p:cNvPr id="13" name="TextBox 12"/>
          <p:cNvSpPr txBox="1"/>
          <p:nvPr/>
        </p:nvSpPr>
        <p:spPr>
          <a:xfrm>
            <a:off x="1828800" y="3670300"/>
            <a:ext cx="28575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Cash after</a:t>
            </a:r>
          </a:p>
          <a:p>
            <a:pPr algn="l">
              <a:lnSpc>
                <a:spcPts val="2436"/>
              </a:lnSpc>
              <a:spcBef>
                <a:spcPts val="0"/>
              </a:spcBef>
              <a:spcAft>
                <a:spcPts val="0"/>
              </a:spcAft>
              <a:defRPr sz="2100" b="1">
                <a:solidFill>
                  <a:srgbClr val="203B4C"/>
                </a:solidFill>
                <a:latin typeface="Lato"/>
              </a:defRPr>
            </a:pPr>
            <a:r>
              <a:t>commitments</a:t>
            </a:r>
          </a:p>
        </p:txBody>
      </p:sp>
      <p:sp>
        <p:nvSpPr>
          <p:cNvPr id="14" name="TextBox 13"/>
          <p:cNvSpPr txBox="1"/>
          <p:nvPr/>
        </p:nvSpPr>
        <p:spPr>
          <a:xfrm>
            <a:off x="939800" y="4419600"/>
            <a:ext cx="37211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BASELINE</a:t>
            </a:r>
          </a:p>
        </p:txBody>
      </p:sp>
      <p:sp>
        <p:nvSpPr>
          <p:cNvPr id="15" name="Rounded Rectangle 14"/>
          <p:cNvSpPr/>
          <p:nvPr/>
        </p:nvSpPr>
        <p:spPr>
          <a:xfrm>
            <a:off x="685800" y="5067300"/>
            <a:ext cx="4229100" cy="45593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800" y="5283200"/>
            <a:ext cx="37338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START WITH SOURCE INPUTS</a:t>
            </a:r>
          </a:p>
        </p:txBody>
      </p:sp>
      <p:sp>
        <p:nvSpPr>
          <p:cNvPr id="17" name="TextBox 16"/>
          <p:cNvSpPr txBox="1"/>
          <p:nvPr/>
        </p:nvSpPr>
        <p:spPr>
          <a:xfrm>
            <a:off x="939800" y="5753100"/>
            <a:ext cx="3708400" cy="3175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58707B"/>
                </a:solidFill>
                <a:latin typeface="Lato"/>
              </a:defRPr>
            </a:pPr>
            <a:r>
              <a:t>Eligible sales / day</a:t>
            </a:r>
          </a:p>
        </p:txBody>
      </p:sp>
      <p:sp>
        <p:nvSpPr>
          <p:cNvPr id="18" name="TextBox 17"/>
          <p:cNvSpPr txBox="1"/>
          <p:nvPr/>
        </p:nvSpPr>
        <p:spPr>
          <a:xfrm>
            <a:off x="939800" y="6057900"/>
            <a:ext cx="3670300" cy="4826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$423.27</a:t>
            </a:r>
          </a:p>
        </p:txBody>
      </p:sp>
      <p:sp>
        <p:nvSpPr>
          <p:cNvPr id="19" name="TextBox 18"/>
          <p:cNvSpPr txBox="1"/>
          <p:nvPr/>
        </p:nvSpPr>
        <p:spPr>
          <a:xfrm>
            <a:off x="939800" y="6642100"/>
            <a:ext cx="3708400" cy="3175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58707B"/>
                </a:solidFill>
                <a:latin typeface="Lato"/>
              </a:defRPr>
            </a:pPr>
            <a:r>
              <a:t>Policy operating margin</a:t>
            </a:r>
          </a:p>
        </p:txBody>
      </p:sp>
      <p:sp>
        <p:nvSpPr>
          <p:cNvPr id="20" name="TextBox 19"/>
          <p:cNvSpPr txBox="1"/>
          <p:nvPr/>
        </p:nvSpPr>
        <p:spPr>
          <a:xfrm>
            <a:off x="939800" y="6946900"/>
            <a:ext cx="3670300" cy="4826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30%</a:t>
            </a:r>
          </a:p>
        </p:txBody>
      </p:sp>
      <p:sp>
        <p:nvSpPr>
          <p:cNvPr id="21" name="TextBox 20"/>
          <p:cNvSpPr txBox="1"/>
          <p:nvPr/>
        </p:nvSpPr>
        <p:spPr>
          <a:xfrm>
            <a:off x="939800" y="7531100"/>
            <a:ext cx="3708400" cy="3175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58707B"/>
                </a:solidFill>
                <a:latin typeface="Lato"/>
              </a:defRPr>
            </a:pPr>
            <a:r>
              <a:t>Existing obligations / day</a:t>
            </a:r>
          </a:p>
        </p:txBody>
      </p:sp>
      <p:sp>
        <p:nvSpPr>
          <p:cNvPr id="22" name="TextBox 21"/>
          <p:cNvSpPr txBox="1"/>
          <p:nvPr/>
        </p:nvSpPr>
        <p:spPr>
          <a:xfrm>
            <a:off x="939800" y="7835900"/>
            <a:ext cx="3670300" cy="4826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$4.19</a:t>
            </a:r>
          </a:p>
        </p:txBody>
      </p:sp>
      <p:sp>
        <p:nvSpPr>
          <p:cNvPr id="23" name="TextBox 22"/>
          <p:cNvSpPr txBox="1"/>
          <p:nvPr/>
        </p:nvSpPr>
        <p:spPr>
          <a:xfrm>
            <a:off x="939800" y="8420100"/>
            <a:ext cx="3708400" cy="3175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58707B"/>
                </a:solidFill>
                <a:latin typeface="Lato"/>
              </a:defRPr>
            </a:pPr>
            <a:r>
              <a:t>Observed average balance</a:t>
            </a:r>
          </a:p>
        </p:txBody>
      </p:sp>
      <p:sp>
        <p:nvSpPr>
          <p:cNvPr id="24" name="TextBox 23"/>
          <p:cNvSpPr txBox="1"/>
          <p:nvPr/>
        </p:nvSpPr>
        <p:spPr>
          <a:xfrm>
            <a:off x="939800" y="8724900"/>
            <a:ext cx="3670300" cy="4826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$1,717.45</a:t>
            </a:r>
          </a:p>
        </p:txBody>
      </p:sp>
      <p:sp>
        <p:nvSpPr>
          <p:cNvPr id="25" name="TextBox 24"/>
          <p:cNvSpPr txBox="1"/>
          <p:nvPr/>
        </p:nvSpPr>
        <p:spPr>
          <a:xfrm>
            <a:off x="5397500" y="3136900"/>
            <a:ext cx="11938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CASH GENERATION MINUS TOTAL DAILY BURDEN</a:t>
            </a:r>
          </a:p>
        </p:txBody>
      </p:sp>
      <p:sp>
        <p:nvSpPr>
          <p:cNvPr id="26" name="Rounded Rectangle 25"/>
          <p:cNvSpPr/>
          <p:nvPr/>
        </p:nvSpPr>
        <p:spPr>
          <a:xfrm>
            <a:off x="5397500" y="3657600"/>
            <a:ext cx="5511800" cy="17399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51500" y="3886200"/>
            <a:ext cx="5054600" cy="355600"/>
          </a:xfrm>
          <a:prstGeom prst="rect">
            <a:avLst/>
          </a:prstGeom>
          <a:noFill/>
          <a:effectLst/>
        </p:spPr>
        <p:txBody>
          <a:bodyPr wrap="none" lIns="0" rIns="0" tIns="0" bIns="0" anchor="t">
            <a:spAutoFit/>
          </a:bodyPr>
          <a:lstStyle/>
          <a:p>
            <a:pPr algn="l">
              <a:lnSpc>
                <a:spcPts val="2668"/>
              </a:lnSpc>
              <a:spcBef>
                <a:spcPts val="0"/>
              </a:spcBef>
              <a:spcAft>
                <a:spcPts val="0"/>
              </a:spcAft>
              <a:defRPr sz="2300" b="0">
                <a:solidFill>
                  <a:srgbClr val="FFFFFF"/>
                </a:solidFill>
                <a:latin typeface="Lato"/>
              </a:defRPr>
            </a:pPr>
            <a:r>
              <a:t>C = $423.27 × 30%</a:t>
            </a:r>
          </a:p>
        </p:txBody>
      </p:sp>
      <p:sp>
        <p:nvSpPr>
          <p:cNvPr id="28" name="TextBox 27"/>
          <p:cNvSpPr txBox="1"/>
          <p:nvPr/>
        </p:nvSpPr>
        <p:spPr>
          <a:xfrm>
            <a:off x="5651500" y="4483100"/>
            <a:ext cx="5067300" cy="6604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$126.98 / day</a:t>
            </a:r>
          </a:p>
        </p:txBody>
      </p:sp>
      <p:sp>
        <p:nvSpPr>
          <p:cNvPr id="29" name="Rounded Rectangle 28"/>
          <p:cNvSpPr/>
          <p:nvPr/>
        </p:nvSpPr>
        <p:spPr>
          <a:xfrm>
            <a:off x="11315700" y="3657600"/>
            <a:ext cx="6299200" cy="17399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569700" y="3886200"/>
            <a:ext cx="5765800" cy="368300"/>
          </a:xfrm>
          <a:prstGeom prst="rect">
            <a:avLst/>
          </a:prstGeom>
          <a:noFill/>
          <a:effectLst/>
        </p:spPr>
        <p:txBody>
          <a:bodyPr wrap="none" lIns="0" rIns="0" tIns="0" bIns="0" anchor="t">
            <a:spAutoFit/>
          </a:bodyPr>
          <a:lstStyle/>
          <a:p>
            <a:pPr algn="l">
              <a:lnSpc>
                <a:spcPts val="2552"/>
              </a:lnSpc>
              <a:spcBef>
                <a:spcPts val="0"/>
              </a:spcBef>
              <a:spcAft>
                <a:spcPts val="0"/>
              </a:spcAft>
              <a:defRPr sz="2200" b="0">
                <a:solidFill>
                  <a:srgbClr val="FFFFFF"/>
                </a:solidFill>
                <a:latin typeface="Lato"/>
              </a:defRPr>
            </a:pPr>
            <a:r>
              <a:t>D = $4.19 existing + $72.75 new</a:t>
            </a:r>
          </a:p>
        </p:txBody>
      </p:sp>
      <p:sp>
        <p:nvSpPr>
          <p:cNvPr id="31" name="TextBox 30"/>
          <p:cNvSpPr txBox="1"/>
          <p:nvPr/>
        </p:nvSpPr>
        <p:spPr>
          <a:xfrm>
            <a:off x="11569700" y="4483100"/>
            <a:ext cx="5765800" cy="6604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$76.94 / day</a:t>
            </a:r>
          </a:p>
        </p:txBody>
      </p:sp>
      <p:cxnSp>
        <p:nvCxnSpPr>
          <p:cNvPr id="32" name="Connector 31"/>
          <p:cNvCxnSpPr/>
          <p:nvPr/>
        </p:nvCxnSpPr>
        <p:spPr>
          <a:xfrm>
            <a:off x="8153400" y="5422900"/>
            <a:ext cx="0" cy="406400"/>
          </a:xfrm>
          <a:prstGeom prst="line">
            <a:avLst/>
          </a:prstGeom>
          <a:ln w="25400">
            <a:solidFill>
              <a:srgbClr val="147D7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427200" y="5422900"/>
            <a:ext cx="0" cy="406400"/>
          </a:xfrm>
          <a:prstGeom prst="line">
            <a:avLst/>
          </a:prstGeom>
          <a:ln w="25400">
            <a:solidFill>
              <a:srgbClr val="19384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397500" y="5918200"/>
            <a:ext cx="12217400" cy="10668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51500" y="6121400"/>
            <a:ext cx="11709400" cy="622300"/>
          </a:xfrm>
          <a:prstGeom prst="rect">
            <a:avLst/>
          </a:prstGeom>
          <a:noFill/>
          <a:effectLst/>
        </p:spPr>
        <p:txBody>
          <a:bodyPr wrap="none" lIns="0" rIns="0" tIns="0" bIns="0" anchor="t">
            <a:spAutoFit/>
          </a:bodyPr>
          <a:lstStyle/>
          <a:p>
            <a:pPr algn="l">
              <a:lnSpc>
                <a:spcPts val="3596"/>
              </a:lnSpc>
              <a:spcBef>
                <a:spcPts val="0"/>
              </a:spcBef>
              <a:spcAft>
                <a:spcPts val="0"/>
              </a:spcAft>
              <a:defRPr sz="3100" b="0">
                <a:solidFill>
                  <a:srgbClr val="203B4C"/>
                </a:solidFill>
                <a:latin typeface="Noto Serif"/>
              </a:defRPr>
            </a:pPr>
            <a:r>
              <a:t>Residual: $126.98 − $76.94 = $50.04 / day</a:t>
            </a:r>
          </a:p>
        </p:txBody>
      </p:sp>
      <p:sp>
        <p:nvSpPr>
          <p:cNvPr id="36" name="TextBox 35"/>
          <p:cNvSpPr txBox="1"/>
          <p:nvPr/>
        </p:nvSpPr>
        <p:spPr>
          <a:xfrm>
            <a:off x="5435600" y="7340600"/>
            <a:ext cx="117348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PROJECT LIQUIDITY — DO NOT ADD THE ADVANCE PRINCIPAL</a:t>
            </a:r>
          </a:p>
        </p:txBody>
      </p:sp>
      <p:sp>
        <p:nvSpPr>
          <p:cNvPr id="37" name="TextBox 36"/>
          <p:cNvSpPr txBox="1"/>
          <p:nvPr/>
        </p:nvSpPr>
        <p:spPr>
          <a:xfrm>
            <a:off x="5435600" y="7797800"/>
            <a:ext cx="12128500" cy="584200"/>
          </a:xfrm>
          <a:prstGeom prst="rect">
            <a:avLst/>
          </a:prstGeom>
          <a:noFill/>
          <a:effectLst/>
        </p:spPr>
        <p:txBody>
          <a:bodyPr wrap="none" lIns="0" rIns="0" tIns="0" bIns="0" anchor="t">
            <a:spAutoFit/>
          </a:bodyPr>
          <a:lstStyle/>
          <a:p>
            <a:pPr algn="l">
              <a:lnSpc>
                <a:spcPts val="3479"/>
              </a:lnSpc>
              <a:spcBef>
                <a:spcPts val="0"/>
              </a:spcBef>
              <a:spcAft>
                <a:spcPts val="0"/>
              </a:spcAft>
              <a:defRPr sz="3000" b="0">
                <a:solidFill>
                  <a:srgbClr val="147D77"/>
                </a:solidFill>
                <a:latin typeface="Noto Serif"/>
              </a:defRPr>
            </a:pPr>
            <a:r>
              <a:t>$1,717.45 + (30 × $50.04) = $3,218.65</a:t>
            </a:r>
          </a:p>
        </p:txBody>
      </p:sp>
      <p:sp>
        <p:nvSpPr>
          <p:cNvPr id="38" name="Rounded Rectangle 37"/>
          <p:cNvSpPr/>
          <p:nvPr/>
        </p:nvSpPr>
        <p:spPr>
          <a:xfrm>
            <a:off x="5397500" y="8661400"/>
            <a:ext cx="5816600" cy="9652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38800" y="8826500"/>
            <a:ext cx="5334000" cy="6858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Coverage = C / D</a:t>
            </a:r>
          </a:p>
          <a:p>
            <a:pPr algn="l">
              <a:lnSpc>
                <a:spcPts val="2436"/>
              </a:lnSpc>
              <a:spcBef>
                <a:spcPts val="0"/>
              </a:spcBef>
              <a:spcAft>
                <a:spcPts val="0"/>
              </a:spcAft>
              <a:defRPr sz="2100" b="0">
                <a:solidFill>
                  <a:srgbClr val="203B4C"/>
                </a:solidFill>
                <a:latin typeface="Lato"/>
              </a:defRPr>
            </a:pPr>
            <a:r>
              <a:t>$126.98 / $76.94 = 1.6504×</a:t>
            </a:r>
          </a:p>
        </p:txBody>
      </p:sp>
      <p:sp>
        <p:nvSpPr>
          <p:cNvPr id="40" name="Rounded Rectangle 39"/>
          <p:cNvSpPr/>
          <p:nvPr/>
        </p:nvSpPr>
        <p:spPr>
          <a:xfrm>
            <a:off x="11480800" y="8661400"/>
            <a:ext cx="6134100" cy="9652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09400" y="8826500"/>
            <a:ext cx="5651500" cy="6858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Buffer days = projected buffer / D</a:t>
            </a:r>
          </a:p>
          <a:p>
            <a:pPr algn="l">
              <a:lnSpc>
                <a:spcPts val="2320"/>
              </a:lnSpc>
              <a:spcBef>
                <a:spcPts val="0"/>
              </a:spcBef>
              <a:spcAft>
                <a:spcPts val="0"/>
              </a:spcAft>
              <a:defRPr sz="2000" b="0">
                <a:solidFill>
                  <a:srgbClr val="203B4C"/>
                </a:solidFill>
                <a:latin typeface="Lato"/>
              </a:defRPr>
            </a:pPr>
            <a:r>
              <a:t>$3,218.65 / $76.94 = 41.8332 days</a:t>
            </a:r>
          </a:p>
        </p:txBody>
      </p:sp>
      <p:sp>
        <p:nvSpPr>
          <p:cNvPr id="42" name="TextBox 41"/>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30% is this industry policy assumption—not a measured profit margin. Source operations round to cents.</a:t>
            </a:r>
          </a:p>
        </p:txBody>
      </p:sp>
      <p:sp>
        <p:nvSpPr>
          <p:cNvPr id="43" name="Rounded Rectangle 42"/>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5" name="TextBox 44"/>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is $1,717.45 observed balance different from the $3,218.65 projected buffer?</a:t>
            </a:r>
          </a:p>
        </p:txBody>
      </p:sp>
      <p:sp>
        <p:nvSpPr>
          <p:cNvPr id="46" name="Rounded Rectangle 45"/>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48" name="TextBox 47"/>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The model adds 30 days of residual cash. The projection is</a:t>
            </a:r>
          </a:p>
          <a:p>
            <a:pPr algn="l">
              <a:lnSpc>
                <a:spcPts val="1913"/>
              </a:lnSpc>
              <a:spcBef>
                <a:spcPts val="0"/>
              </a:spcBef>
              <a:spcAft>
                <a:spcPts val="0"/>
              </a:spcAft>
              <a:defRPr sz="1650" b="0">
                <a:solidFill>
                  <a:srgbClr val="FFFFFF"/>
                </a:solidFill>
                <a:latin typeface="Lato"/>
              </a:defRPr>
            </a:pPr>
            <a:r>
              <a:t>not an observed balance or an advance deposit.</a:t>
            </a:r>
          </a:p>
        </p:txBody>
      </p:sp>
      <p:sp>
        <p:nvSpPr>
          <p:cNvPr id="49" name="TextBox 48"/>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0" name="TextBox 49"/>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S03, S04 | 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3"/>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Before judging performance, establish evidence</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05</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An available record is not the same as an available decision-critical feature.</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4254500" cy="18415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327400"/>
            <a:ext cx="698500" cy="6985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98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738</a:t>
            </a:r>
          </a:p>
        </p:txBody>
      </p:sp>
      <p:sp>
        <p:nvSpPr>
          <p:cNvPr id="12" name="TextBox 11"/>
          <p:cNvSpPr txBox="1"/>
          <p:nvPr/>
        </p:nvSpPr>
        <p:spPr>
          <a:xfrm>
            <a:off x="1828800" y="3340100"/>
            <a:ext cx="28829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738</a:t>
            </a:r>
          </a:p>
        </p:txBody>
      </p:sp>
      <p:sp>
        <p:nvSpPr>
          <p:cNvPr id="13" name="TextBox 12"/>
          <p:cNvSpPr txBox="1"/>
          <p:nvPr/>
        </p:nvSpPr>
        <p:spPr>
          <a:xfrm>
            <a:off x="1828800" y="3683000"/>
            <a:ext cx="28829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Missing is not zero</a:t>
            </a:r>
          </a:p>
        </p:txBody>
      </p:sp>
      <p:sp>
        <p:nvSpPr>
          <p:cNvPr id="14" name="TextBox 13"/>
          <p:cNvSpPr txBox="1"/>
          <p:nvPr/>
        </p:nvSpPr>
        <p:spPr>
          <a:xfrm>
            <a:off x="939800" y="4597400"/>
            <a:ext cx="37465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MATCHED ALTERNATIVE SCENARIOS</a:t>
            </a:r>
          </a:p>
        </p:txBody>
      </p:sp>
      <p:sp>
        <p:nvSpPr>
          <p:cNvPr id="15" name="Rounded Rectangle 14"/>
          <p:cNvSpPr/>
          <p:nvPr/>
        </p:nvSpPr>
        <p:spPr>
          <a:xfrm>
            <a:off x="685800" y="5257800"/>
            <a:ext cx="4254500" cy="44196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2500" y="5499100"/>
            <a:ext cx="3657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SIX SYNTHETIC CHECK FAMILIES</a:t>
            </a:r>
          </a:p>
        </p:txBody>
      </p:sp>
      <p:sp>
        <p:nvSpPr>
          <p:cNvPr id="17" name="TextBox 16"/>
          <p:cNvSpPr txBox="1"/>
          <p:nvPr/>
        </p:nvSpPr>
        <p:spPr>
          <a:xfrm>
            <a:off x="952500" y="6019800"/>
            <a:ext cx="3619500" cy="2286000"/>
          </a:xfrm>
          <a:prstGeom prst="rect">
            <a:avLst/>
          </a:prstGeom>
          <a:noFill/>
          <a:effectLst/>
        </p:spPr>
        <p:txBody>
          <a:bodyPr wrap="none" lIns="0" rIns="0" tIns="0" bIns="0" anchor="t">
            <a:spAutoFit/>
          </a:bodyPr>
          <a:lstStyle/>
          <a:p>
            <a:pPr algn="l">
              <a:lnSpc>
                <a:spcPts val="2552"/>
              </a:lnSpc>
              <a:spcBef>
                <a:spcPts val="0"/>
              </a:spcBef>
              <a:spcAft>
                <a:spcPts val="0"/>
              </a:spcAft>
              <a:defRPr sz="2200" b="0">
                <a:solidFill>
                  <a:srgbClr val="203B4C"/>
                </a:solidFill>
                <a:latin typeface="Lato"/>
              </a:defRPr>
            </a:pPr>
            <a:r>
              <a:t>Entity / KYB</a:t>
            </a:r>
          </a:p>
          <a:p>
            <a:pPr algn="l">
              <a:lnSpc>
                <a:spcPts val="2552"/>
              </a:lnSpc>
              <a:spcBef>
                <a:spcPts val="0"/>
              </a:spcBef>
              <a:spcAft>
                <a:spcPts val="0"/>
              </a:spcAft>
              <a:defRPr sz="2200" b="0">
                <a:solidFill>
                  <a:srgbClr val="203B4C"/>
                </a:solidFill>
                <a:latin typeface="Lato"/>
              </a:defRPr>
            </a:pPr>
            <a:r>
              <a:t>Beneficial owner</a:t>
            </a:r>
          </a:p>
          <a:p>
            <a:pPr algn="l">
              <a:lnSpc>
                <a:spcPts val="2552"/>
              </a:lnSpc>
              <a:spcBef>
                <a:spcPts val="0"/>
              </a:spcBef>
              <a:spcAft>
                <a:spcPts val="0"/>
              </a:spcAft>
              <a:defRPr sz="2200" b="0">
                <a:solidFill>
                  <a:srgbClr val="203B4C"/>
                </a:solidFill>
                <a:latin typeface="Lato"/>
              </a:defRPr>
            </a:pPr>
            <a:r>
              <a:t>Bank-account match</a:t>
            </a:r>
          </a:p>
          <a:p>
            <a:pPr algn="l">
              <a:lnSpc>
                <a:spcPts val="2552"/>
              </a:lnSpc>
              <a:spcBef>
                <a:spcPts val="0"/>
              </a:spcBef>
              <a:spcAft>
                <a:spcPts val="0"/>
              </a:spcAft>
              <a:defRPr sz="2200" b="0">
                <a:solidFill>
                  <a:srgbClr val="203B4C"/>
                </a:solidFill>
                <a:latin typeface="Lato"/>
              </a:defRPr>
            </a:pPr>
            <a:r>
              <a:t>Processor match</a:t>
            </a:r>
          </a:p>
          <a:p>
            <a:pPr algn="l">
              <a:lnSpc>
                <a:spcPts val="2552"/>
              </a:lnSpc>
              <a:spcBef>
                <a:spcPts val="0"/>
              </a:spcBef>
              <a:spcAft>
                <a:spcPts val="0"/>
              </a:spcAft>
              <a:defRPr sz="2200" b="0">
                <a:solidFill>
                  <a:srgbClr val="203B4C"/>
                </a:solidFill>
                <a:latin typeface="Lato"/>
              </a:defRPr>
            </a:pPr>
            <a:r>
              <a:t>Fraud screen</a:t>
            </a:r>
          </a:p>
          <a:p>
            <a:pPr algn="l">
              <a:lnSpc>
                <a:spcPts val="2552"/>
              </a:lnSpc>
              <a:spcBef>
                <a:spcPts val="0"/>
              </a:spcBef>
              <a:spcAft>
                <a:spcPts val="0"/>
              </a:spcAft>
              <a:defRPr sz="2200" b="0">
                <a:solidFill>
                  <a:srgbClr val="203B4C"/>
                </a:solidFill>
                <a:latin typeface="Lato"/>
              </a:defRPr>
            </a:pPr>
            <a:r>
              <a:t>Sanctions</a:t>
            </a:r>
          </a:p>
        </p:txBody>
      </p:sp>
      <p:sp>
        <p:nvSpPr>
          <p:cNvPr id="18" name="TextBox 17"/>
          <p:cNvSpPr txBox="1"/>
          <p:nvPr/>
        </p:nvSpPr>
        <p:spPr>
          <a:xfrm>
            <a:off x="952500" y="8674100"/>
            <a:ext cx="3619500" cy="7493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These labels do not claim a live</a:t>
            </a:r>
          </a:p>
          <a:p>
            <a:pPr algn="l">
              <a:lnSpc>
                <a:spcPts val="1972"/>
              </a:lnSpc>
              <a:spcBef>
                <a:spcPts val="0"/>
              </a:spcBef>
              <a:spcAft>
                <a:spcPts val="0"/>
              </a:spcAft>
              <a:defRPr sz="1700" b="0">
                <a:solidFill>
                  <a:srgbClr val="58707B"/>
                </a:solidFill>
                <a:latin typeface="Lato"/>
              </a:defRPr>
            </a:pPr>
            <a:r>
              <a:t>provider connection.</a:t>
            </a:r>
          </a:p>
        </p:txBody>
      </p:sp>
      <p:sp>
        <p:nvSpPr>
          <p:cNvPr id="19" name="Rounded Rectangle 18"/>
          <p:cNvSpPr/>
          <p:nvPr/>
        </p:nvSpPr>
        <p:spPr>
          <a:xfrm>
            <a:off x="5422900" y="3124200"/>
            <a:ext cx="5867400" cy="51689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0" y="3403600"/>
            <a:ext cx="5181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BASELINE</a:t>
            </a:r>
          </a:p>
        </p:txBody>
      </p:sp>
      <p:sp>
        <p:nvSpPr>
          <p:cNvPr id="21" name="TextBox 20"/>
          <p:cNvSpPr txBox="1"/>
          <p:nvPr/>
        </p:nvSpPr>
        <p:spPr>
          <a:xfrm>
            <a:off x="5715000" y="3987800"/>
            <a:ext cx="5181600" cy="825500"/>
          </a:xfrm>
          <a:prstGeom prst="rect">
            <a:avLst/>
          </a:prstGeom>
          <a:noFill/>
          <a:effectLst/>
        </p:spPr>
        <p:txBody>
          <a:bodyPr wrap="none" lIns="0" rIns="0" tIns="0" bIns="0" anchor="t">
            <a:spAutoFit/>
          </a:bodyPr>
          <a:lstStyle/>
          <a:p>
            <a:pPr algn="l">
              <a:lnSpc>
                <a:spcPts val="3596"/>
              </a:lnSpc>
              <a:spcBef>
                <a:spcPts val="0"/>
              </a:spcBef>
              <a:spcAft>
                <a:spcPts val="0"/>
              </a:spcAft>
              <a:defRPr sz="3100" b="0">
                <a:solidFill>
                  <a:srgbClr val="147D77"/>
                </a:solidFill>
                <a:latin typeface="Noto Serif"/>
              </a:defRPr>
            </a:pPr>
            <a:r>
              <a:t>30 / 30 usable days</a:t>
            </a:r>
          </a:p>
        </p:txBody>
      </p:sp>
      <p:sp>
        <p:nvSpPr>
          <p:cNvPr id="22" name="Rectangle 21"/>
          <p:cNvSpPr/>
          <p:nvPr/>
        </p:nvSpPr>
        <p:spPr>
          <a:xfrm>
            <a:off x="5740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8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56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4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80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88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96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04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312400" y="5092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40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8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756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64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80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88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296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04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312400" y="55372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740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48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756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64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80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788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296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804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312400" y="5981700"/>
            <a:ext cx="355600" cy="3048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15000" y="6629400"/>
            <a:ext cx="5207000" cy="6985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147D77"/>
                </a:solidFill>
                <a:latin typeface="Lato"/>
              </a:defRPr>
            </a:pPr>
            <a:r>
              <a:t>$4,154.96 / day available</a:t>
            </a:r>
          </a:p>
        </p:txBody>
      </p:sp>
      <p:sp>
        <p:nvSpPr>
          <p:cNvPr id="53" name="TextBox 52"/>
          <p:cNvSpPr txBox="1"/>
          <p:nvPr/>
        </p:nvSpPr>
        <p:spPr>
          <a:xfrm>
            <a:off x="5715000" y="7416800"/>
            <a:ext cx="52070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$25,000 authorized</a:t>
            </a:r>
          </a:p>
        </p:txBody>
      </p:sp>
      <p:sp>
        <p:nvSpPr>
          <p:cNvPr id="54" name="Rounded Rectangle 53"/>
          <p:cNvSpPr/>
          <p:nvPr/>
        </p:nvSpPr>
        <p:spPr>
          <a:xfrm>
            <a:off x="11734800" y="3124200"/>
            <a:ext cx="5867400" cy="51689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026900" y="3403600"/>
            <a:ext cx="5181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44F3C"/>
                </a:solidFill>
                <a:latin typeface="Lato"/>
              </a:defRPr>
            </a:pPr>
            <a:r>
              <a:t>RECESSION ENERGY</a:t>
            </a:r>
          </a:p>
        </p:txBody>
      </p:sp>
      <p:sp>
        <p:nvSpPr>
          <p:cNvPr id="56" name="TextBox 55"/>
          <p:cNvSpPr txBox="1"/>
          <p:nvPr/>
        </p:nvSpPr>
        <p:spPr>
          <a:xfrm>
            <a:off x="12026900" y="3987800"/>
            <a:ext cx="5181600" cy="825500"/>
          </a:xfrm>
          <a:prstGeom prst="rect">
            <a:avLst/>
          </a:prstGeom>
          <a:noFill/>
          <a:effectLst/>
        </p:spPr>
        <p:txBody>
          <a:bodyPr wrap="none" lIns="0" rIns="0" tIns="0" bIns="0" anchor="t">
            <a:spAutoFit/>
          </a:bodyPr>
          <a:lstStyle/>
          <a:p>
            <a:pPr algn="l">
              <a:lnSpc>
                <a:spcPts val="3596"/>
              </a:lnSpc>
              <a:spcBef>
                <a:spcPts val="0"/>
              </a:spcBef>
              <a:spcAft>
                <a:spcPts val="0"/>
              </a:spcAft>
              <a:defRPr sz="3100" b="0">
                <a:solidFill>
                  <a:srgbClr val="B44F3C"/>
                </a:solidFill>
                <a:latin typeface="Noto Serif"/>
              </a:defRPr>
            </a:pPr>
            <a:r>
              <a:t>28 / 30 usable days</a:t>
            </a:r>
          </a:p>
        </p:txBody>
      </p:sp>
      <p:sp>
        <p:nvSpPr>
          <p:cNvPr id="57" name="Rectangle 56"/>
          <p:cNvSpPr/>
          <p:nvPr/>
        </p:nvSpPr>
        <p:spPr>
          <a:xfrm>
            <a:off x="12052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2560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3068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3576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4084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4592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5100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5608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116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6624300" y="5092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2052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2560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3068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3576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4084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4592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5100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5608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116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6624300" y="55372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2052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2560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3068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3576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4084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4592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5100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5608300" y="5981700"/>
            <a:ext cx="355600" cy="304800"/>
          </a:xfrm>
          <a:prstGeom prst="rect">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6116300" y="5981700"/>
            <a:ext cx="355600" cy="304800"/>
          </a:xfrm>
          <a:prstGeom prst="rect">
            <a:avLst/>
          </a:prstGeom>
          <a:solidFill>
            <a:srgbClr val="FAE8E2"/>
          </a:solidFill>
          <a:ln w="12700">
            <a:solidFill>
              <a:srgbClr val="B44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6624300" y="5981700"/>
            <a:ext cx="355600" cy="304800"/>
          </a:xfrm>
          <a:prstGeom prst="rect">
            <a:avLst/>
          </a:prstGeom>
          <a:solidFill>
            <a:srgbClr val="FAE8E2"/>
          </a:solidFill>
          <a:ln w="12700">
            <a:solidFill>
              <a:srgbClr val="B44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026900" y="6629400"/>
            <a:ext cx="5207000" cy="6985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B44F3C"/>
                </a:solidFill>
                <a:latin typeface="Lato"/>
              </a:defRPr>
            </a:pPr>
            <a:r>
              <a:t>Eligible-sales feature unavailable</a:t>
            </a:r>
          </a:p>
        </p:txBody>
      </p:sp>
      <p:sp>
        <p:nvSpPr>
          <p:cNvPr id="88" name="TextBox 87"/>
          <p:cNvSpPr txBox="1"/>
          <p:nvPr/>
        </p:nvSpPr>
        <p:spPr>
          <a:xfrm>
            <a:off x="12026900" y="7416800"/>
            <a:ext cx="52070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Capacity, risk &amp; economics withheld.</a:t>
            </a:r>
          </a:p>
          <a:p>
            <a:pPr algn="l">
              <a:lnSpc>
                <a:spcPts val="2436"/>
              </a:lnSpc>
              <a:spcBef>
                <a:spcPts val="0"/>
              </a:spcBef>
              <a:spcAft>
                <a:spcPts val="0"/>
              </a:spcAft>
              <a:defRPr sz="2100" b="0">
                <a:solidFill>
                  <a:srgbClr val="203B4C"/>
                </a:solidFill>
                <a:latin typeface="Lato"/>
              </a:defRPr>
            </a:pPr>
            <a:r>
              <a:t>Outcome: evidence decline.</a:t>
            </a:r>
          </a:p>
        </p:txBody>
      </p:sp>
      <p:sp>
        <p:nvSpPr>
          <p:cNvPr id="89" name="Rounded Rectangle 88"/>
          <p:cNvSpPr/>
          <p:nvPr/>
        </p:nvSpPr>
        <p:spPr>
          <a:xfrm>
            <a:off x="5422900" y="8610600"/>
            <a:ext cx="12179300" cy="10668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715000" y="8788400"/>
            <a:ext cx="11569700" cy="7366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Required: 30 usable days. Stress has two disconnected outage days.</a:t>
            </a:r>
          </a:p>
          <a:p>
            <a:pPr algn="l">
              <a:lnSpc>
                <a:spcPts val="2320"/>
              </a:lnSpc>
              <a:spcBef>
                <a:spcPts val="0"/>
              </a:spcBef>
              <a:spcAft>
                <a:spcPts val="0"/>
              </a:spcAft>
              <a:defRPr sz="2000" b="0">
                <a:solidFill>
                  <a:srgbClr val="203B4C"/>
                </a:solidFill>
                <a:latin typeface="Lato"/>
              </a:defRPr>
            </a:pPr>
            <a:r>
              <a:t>Count display only—not the historical position of those outages.</a:t>
            </a:r>
          </a:p>
        </p:txBody>
      </p:sp>
      <p:sp>
        <p:nvSpPr>
          <p:cNvPr id="91" name="TextBox 90"/>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A broad COMPLETE or REVIEW label does not replace the specific availability and binding-reason records.</a:t>
            </a:r>
          </a:p>
        </p:txBody>
      </p:sp>
      <p:sp>
        <p:nvSpPr>
          <p:cNvPr id="92" name="Rounded Rectangle 91"/>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94" name="TextBox 93"/>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Can a smaller request repair 738’s missing eligible-sales feature?</a:t>
            </a:r>
          </a:p>
        </p:txBody>
      </p:sp>
      <p:sp>
        <p:nvSpPr>
          <p:cNvPr id="95" name="Rounded Rectangle 94"/>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97" name="TextBox 96"/>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Revised terms cannot supply missing observations.</a:t>
            </a:r>
          </a:p>
          <a:p>
            <a:pPr algn="l">
              <a:lnSpc>
                <a:spcPts val="1913"/>
              </a:lnSpc>
              <a:spcBef>
                <a:spcPts val="0"/>
              </a:spcBef>
              <a:spcAft>
                <a:spcPts val="0"/>
              </a:spcAft>
              <a:defRPr sz="1650" b="0">
                <a:solidFill>
                  <a:srgbClr val="FFFFFF"/>
                </a:solidFill>
                <a:latin typeface="Lato"/>
              </a:defRPr>
            </a:pPr>
            <a:r>
              <a:t>Required evidence must exist before dependent tests.</a:t>
            </a:r>
          </a:p>
        </p:txBody>
      </p:sp>
      <p:sp>
        <p:nvSpPr>
          <p:cNvPr id="98" name="TextBox 97"/>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99" name="TextBox 98"/>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S11, S13, S15, S27 | 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 READ THE MERCHANT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Risk and economics answer different questions</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06</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 high contribution cannot cancel an adverse capacity, evidence or authority test.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7251700" cy="65913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3390900"/>
            <a:ext cx="6477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80CCBF"/>
                </a:solidFill>
                <a:latin typeface="Lato"/>
              </a:defRPr>
            </a:pPr>
            <a:r>
              <a:t>M1.12 / COMPARATIVE RISK</a:t>
            </a:r>
          </a:p>
        </p:txBody>
      </p:sp>
      <p:sp>
        <p:nvSpPr>
          <p:cNvPr id="11" name="Oval 10"/>
          <p:cNvSpPr/>
          <p:nvPr/>
        </p:nvSpPr>
        <p:spPr>
          <a:xfrm>
            <a:off x="990600" y="39370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3300" y="39624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1</a:t>
            </a:r>
          </a:p>
        </p:txBody>
      </p:sp>
      <p:sp>
        <p:nvSpPr>
          <p:cNvPr id="13" name="TextBox 12"/>
          <p:cNvSpPr txBox="1"/>
          <p:nvPr/>
        </p:nvSpPr>
        <p:spPr>
          <a:xfrm>
            <a:off x="1524000" y="38862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Operating resilience</a:t>
            </a:r>
          </a:p>
        </p:txBody>
      </p:sp>
      <p:sp>
        <p:nvSpPr>
          <p:cNvPr id="14" name="Oval 13"/>
          <p:cNvSpPr/>
          <p:nvPr/>
        </p:nvSpPr>
        <p:spPr>
          <a:xfrm>
            <a:off x="990600" y="45212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3300" y="45466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2</a:t>
            </a:r>
          </a:p>
        </p:txBody>
      </p:sp>
      <p:sp>
        <p:nvSpPr>
          <p:cNvPr id="16" name="TextBox 15"/>
          <p:cNvSpPr txBox="1"/>
          <p:nvPr/>
        </p:nvSpPr>
        <p:spPr>
          <a:xfrm>
            <a:off x="1524000" y="44704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Capacity / burden</a:t>
            </a:r>
          </a:p>
        </p:txBody>
      </p:sp>
      <p:sp>
        <p:nvSpPr>
          <p:cNvPr id="17" name="Oval 16"/>
          <p:cNvSpPr/>
          <p:nvPr/>
        </p:nvSpPr>
        <p:spPr>
          <a:xfrm>
            <a:off x="990600" y="51054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3300" y="51308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3</a:t>
            </a:r>
          </a:p>
        </p:txBody>
      </p:sp>
      <p:sp>
        <p:nvSpPr>
          <p:cNvPr id="19" name="TextBox 18"/>
          <p:cNvSpPr txBox="1"/>
          <p:nvPr/>
        </p:nvSpPr>
        <p:spPr>
          <a:xfrm>
            <a:off x="1524000" y="50546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Liquidity</a:t>
            </a:r>
          </a:p>
        </p:txBody>
      </p:sp>
      <p:sp>
        <p:nvSpPr>
          <p:cNvPr id="20" name="Oval 19"/>
          <p:cNvSpPr/>
          <p:nvPr/>
        </p:nvSpPr>
        <p:spPr>
          <a:xfrm>
            <a:off x="990600" y="56896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3300" y="57150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4</a:t>
            </a:r>
          </a:p>
        </p:txBody>
      </p:sp>
      <p:sp>
        <p:nvSpPr>
          <p:cNvPr id="22" name="TextBox 21"/>
          <p:cNvSpPr txBox="1"/>
          <p:nvPr/>
        </p:nvSpPr>
        <p:spPr>
          <a:xfrm>
            <a:off x="1524000" y="56388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Source confidence</a:t>
            </a:r>
          </a:p>
        </p:txBody>
      </p:sp>
      <p:sp>
        <p:nvSpPr>
          <p:cNvPr id="23" name="Oval 22"/>
          <p:cNvSpPr/>
          <p:nvPr/>
        </p:nvSpPr>
        <p:spPr>
          <a:xfrm>
            <a:off x="990600" y="62738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3300" y="62992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5</a:t>
            </a:r>
          </a:p>
        </p:txBody>
      </p:sp>
      <p:sp>
        <p:nvSpPr>
          <p:cNvPr id="25" name="TextBox 24"/>
          <p:cNvSpPr txBox="1"/>
          <p:nvPr/>
        </p:nvSpPr>
        <p:spPr>
          <a:xfrm>
            <a:off x="1524000" y="62230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Verification / fraud</a:t>
            </a:r>
          </a:p>
        </p:txBody>
      </p:sp>
      <p:sp>
        <p:nvSpPr>
          <p:cNvPr id="26" name="Oval 25"/>
          <p:cNvSpPr/>
          <p:nvPr/>
        </p:nvSpPr>
        <p:spPr>
          <a:xfrm>
            <a:off x="990600" y="68580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3300" y="68834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6</a:t>
            </a:r>
          </a:p>
        </p:txBody>
      </p:sp>
      <p:sp>
        <p:nvSpPr>
          <p:cNvPr id="28" name="TextBox 27"/>
          <p:cNvSpPr txBox="1"/>
          <p:nvPr/>
        </p:nvSpPr>
        <p:spPr>
          <a:xfrm>
            <a:off x="1524000" y="68072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Processor continuity</a:t>
            </a:r>
          </a:p>
        </p:txBody>
      </p:sp>
      <p:sp>
        <p:nvSpPr>
          <p:cNvPr id="29" name="Oval 28"/>
          <p:cNvSpPr/>
          <p:nvPr/>
        </p:nvSpPr>
        <p:spPr>
          <a:xfrm>
            <a:off x="990600" y="7442200"/>
            <a:ext cx="304800" cy="3048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3300" y="7467600"/>
            <a:ext cx="279400" cy="2667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7</a:t>
            </a:r>
          </a:p>
        </p:txBody>
      </p:sp>
      <p:sp>
        <p:nvSpPr>
          <p:cNvPr id="31" name="TextBox 30"/>
          <p:cNvSpPr txBox="1"/>
          <p:nvPr/>
        </p:nvSpPr>
        <p:spPr>
          <a:xfrm>
            <a:off x="1524000" y="7391400"/>
            <a:ext cx="6032500" cy="457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Industry / relationship context</a:t>
            </a:r>
          </a:p>
        </p:txBody>
      </p:sp>
      <p:sp>
        <p:nvSpPr>
          <p:cNvPr id="32" name="TextBox 31"/>
          <p:cNvSpPr txBox="1"/>
          <p:nvPr/>
        </p:nvSpPr>
        <p:spPr>
          <a:xfrm>
            <a:off x="977900" y="8483600"/>
            <a:ext cx="6489700" cy="9271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FFFFFF"/>
                </a:solidFill>
                <a:latin typeface="Lato"/>
              </a:defRPr>
            </a:pPr>
            <a:r>
              <a:t>Weighted components + explicit floors</a:t>
            </a:r>
          </a:p>
          <a:p>
            <a:pPr algn="l">
              <a:lnSpc>
                <a:spcPts val="2552"/>
              </a:lnSpc>
              <a:spcBef>
                <a:spcPts val="0"/>
              </a:spcBef>
              <a:spcAft>
                <a:spcPts val="0"/>
              </a:spcAft>
              <a:defRPr sz="2200" b="1">
                <a:solidFill>
                  <a:srgbClr val="FFFFFF"/>
                </a:solidFill>
                <a:latin typeface="Lato"/>
              </a:defRPr>
            </a:pPr>
            <a:r>
              <a:t>→ synthetic risk proxy and tier</a:t>
            </a:r>
          </a:p>
        </p:txBody>
      </p:sp>
      <p:sp>
        <p:nvSpPr>
          <p:cNvPr id="33" name="TextBox 32"/>
          <p:cNvSpPr txBox="1"/>
          <p:nvPr/>
        </p:nvSpPr>
        <p:spPr>
          <a:xfrm>
            <a:off x="8458200" y="3162300"/>
            <a:ext cx="8737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M1.13–M1.14 / ECONOMIC BRIDGE</a:t>
            </a:r>
          </a:p>
        </p:txBody>
      </p:sp>
      <p:sp>
        <p:nvSpPr>
          <p:cNvPr id="34" name="TextBox 33"/>
          <p:cNvSpPr txBox="1"/>
          <p:nvPr/>
        </p:nvSpPr>
        <p:spPr>
          <a:xfrm>
            <a:off x="8458200" y="3632200"/>
            <a:ext cx="8775700" cy="762000"/>
          </a:xfrm>
          <a:prstGeom prst="rect">
            <a:avLst/>
          </a:prstGeom>
          <a:noFill/>
          <a:effectLst/>
        </p:spPr>
        <p:txBody>
          <a:bodyPr wrap="none" lIns="0" rIns="0" tIns="0" bIns="0" anchor="t">
            <a:spAutoFit/>
          </a:bodyPr>
          <a:lstStyle/>
          <a:p>
            <a:pPr algn="l">
              <a:lnSpc>
                <a:spcPts val="2899"/>
              </a:lnSpc>
              <a:spcBef>
                <a:spcPts val="0"/>
              </a:spcBef>
              <a:spcAft>
                <a:spcPts val="0"/>
              </a:spcAft>
              <a:defRPr sz="2500" b="0">
                <a:solidFill>
                  <a:srgbClr val="203B4C"/>
                </a:solidFill>
                <a:latin typeface="Noto Serif"/>
              </a:defRPr>
            </a:pPr>
            <a:r>
              <a:t>Comparative loss = weighted exposure</a:t>
            </a:r>
          </a:p>
          <a:p>
            <a:pPr algn="l">
              <a:lnSpc>
                <a:spcPts val="2899"/>
              </a:lnSpc>
              <a:spcBef>
                <a:spcPts val="0"/>
              </a:spcBef>
              <a:spcAft>
                <a:spcPts val="0"/>
              </a:spcAft>
              <a:defRPr sz="2500" b="0">
                <a:solidFill>
                  <a:srgbClr val="203B4C"/>
                </a:solidFill>
                <a:latin typeface="Noto Serif"/>
              </a:defRPr>
            </a:pPr>
            <a:r>
              <a:t>× synthetic risk proxy × LGD</a:t>
            </a:r>
          </a:p>
        </p:txBody>
      </p:sp>
      <p:sp>
        <p:nvSpPr>
          <p:cNvPr id="35" name="TextBox 34"/>
          <p:cNvSpPr txBox="1"/>
          <p:nvPr/>
        </p:nvSpPr>
        <p:spPr>
          <a:xfrm>
            <a:off x="8458200" y="4635500"/>
            <a:ext cx="8763000" cy="9652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203B4C"/>
                </a:solidFill>
                <a:latin typeface="Lato"/>
              </a:defRPr>
            </a:pPr>
            <a:r>
              <a:t>Contribution = finance revenue − non-loss costs</a:t>
            </a:r>
          </a:p>
          <a:p>
            <a:pPr algn="l">
              <a:lnSpc>
                <a:spcPts val="2668"/>
              </a:lnSpc>
              <a:spcBef>
                <a:spcPts val="0"/>
              </a:spcBef>
              <a:spcAft>
                <a:spcPts val="0"/>
              </a:spcAft>
              <a:defRPr sz="2300" b="1">
                <a:solidFill>
                  <a:srgbClr val="203B4C"/>
                </a:solidFill>
                <a:latin typeface="Lato"/>
              </a:defRPr>
            </a:pPr>
            <a:r>
              <a:t>− comparative loss − risk-capital charge</a:t>
            </a:r>
          </a:p>
        </p:txBody>
      </p:sp>
      <p:sp>
        <p:nvSpPr>
          <p:cNvPr id="36" name="TextBox 35"/>
          <p:cNvSpPr txBox="1"/>
          <p:nvPr/>
        </p:nvSpPr>
        <p:spPr>
          <a:xfrm>
            <a:off x="8458200" y="5816600"/>
            <a:ext cx="8763000" cy="7366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58707B"/>
                </a:solidFill>
                <a:latin typeface="Lato"/>
              </a:defRPr>
            </a:pPr>
            <a:r>
              <a:t>Non-loss costs: processing, acquisition, funding, servicing and operations. LGD is</a:t>
            </a:r>
          </a:p>
          <a:p>
            <a:pPr algn="l">
              <a:lnSpc>
                <a:spcPts val="2088"/>
              </a:lnSpc>
              <a:spcBef>
                <a:spcPts val="0"/>
              </a:spcBef>
              <a:spcAft>
                <a:spcPts val="0"/>
              </a:spcAft>
              <a:defRPr sz="1800" b="0">
                <a:solidFill>
                  <a:srgbClr val="58707B"/>
                </a:solidFill>
                <a:latin typeface="Lato"/>
              </a:defRPr>
            </a:pPr>
            <a:r>
              <a:t>modeled loss share after recovery.</a:t>
            </a:r>
          </a:p>
        </p:txBody>
      </p:sp>
      <p:sp>
        <p:nvSpPr>
          <p:cNvPr id="37" name="Rounded Rectangle 36"/>
          <p:cNvSpPr/>
          <p:nvPr/>
        </p:nvSpPr>
        <p:spPr>
          <a:xfrm>
            <a:off x="8382000" y="6959600"/>
            <a:ext cx="9232900" cy="27051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74100" y="7213600"/>
            <a:ext cx="8610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CASE 098 / BASELINE REQUEST</a:t>
            </a:r>
          </a:p>
        </p:txBody>
      </p:sp>
      <p:sp>
        <p:nvSpPr>
          <p:cNvPr id="39" name="TextBox 38"/>
          <p:cNvSpPr txBox="1"/>
          <p:nvPr/>
        </p:nvSpPr>
        <p:spPr>
          <a:xfrm>
            <a:off x="8674100" y="7696200"/>
            <a:ext cx="8534400" cy="685800"/>
          </a:xfrm>
          <a:prstGeom prst="rect">
            <a:avLst/>
          </a:prstGeom>
          <a:noFill/>
          <a:effectLst/>
        </p:spPr>
        <p:txBody>
          <a:bodyPr wrap="none" lIns="0" rIns="0" tIns="0" bIns="0" anchor="t">
            <a:spAutoFit/>
          </a:bodyPr>
          <a:lstStyle/>
          <a:p>
            <a:pPr algn="l">
              <a:lnSpc>
                <a:spcPts val="4408"/>
              </a:lnSpc>
              <a:spcBef>
                <a:spcPts val="0"/>
              </a:spcBef>
              <a:spcAft>
                <a:spcPts val="0"/>
              </a:spcAft>
              <a:defRPr sz="3800" b="0">
                <a:solidFill>
                  <a:srgbClr val="147D77"/>
                </a:solidFill>
                <a:latin typeface="Noto Serif"/>
              </a:defRPr>
            </a:pPr>
            <a:r>
              <a:t>$654.26 &gt; $230.79</a:t>
            </a:r>
          </a:p>
        </p:txBody>
      </p:sp>
      <p:sp>
        <p:nvSpPr>
          <p:cNvPr id="40" name="TextBox 39"/>
          <p:cNvSpPr txBox="1"/>
          <p:nvPr/>
        </p:nvSpPr>
        <p:spPr>
          <a:xfrm>
            <a:off x="8674100" y="8496300"/>
            <a:ext cx="8559800" cy="876300"/>
          </a:xfrm>
          <a:prstGeom prst="rect">
            <a:avLst/>
          </a:prstGeom>
          <a:noFill/>
          <a:effectLst/>
        </p:spPr>
        <p:txBody>
          <a:bodyPr wrap="none" lIns="0" rIns="0" tIns="0" bIns="0" anchor="t">
            <a:spAutoFit/>
          </a:bodyPr>
          <a:lstStyle/>
          <a:p>
            <a:pPr algn="l">
              <a:lnSpc>
                <a:spcPts val="2552"/>
              </a:lnSpc>
              <a:spcBef>
                <a:spcPts val="0"/>
              </a:spcBef>
              <a:spcAft>
                <a:spcPts val="0"/>
              </a:spcAft>
              <a:defRPr sz="2200" b="0">
                <a:solidFill>
                  <a:srgbClr val="203B4C"/>
                </a:solidFill>
                <a:latin typeface="Lato"/>
              </a:defRPr>
            </a:pPr>
            <a:r>
              <a:t>Contribution exceeds the required hurdle.</a:t>
            </a:r>
          </a:p>
          <a:p>
            <a:pPr algn="l">
              <a:lnSpc>
                <a:spcPts val="2552"/>
              </a:lnSpc>
              <a:spcBef>
                <a:spcPts val="0"/>
              </a:spcBef>
              <a:spcAft>
                <a:spcPts val="0"/>
              </a:spcAft>
              <a:defRPr sz="2200" b="0">
                <a:solidFill>
                  <a:srgbClr val="203B4C"/>
                </a:solidFill>
                <a:latin typeface="Lato"/>
              </a:defRPr>
            </a:pPr>
            <a:r>
              <a:t>Hurdle = $5,200 × 18% × 90 / 365</a:t>
            </a:r>
          </a:p>
        </p:txBody>
      </p:sp>
      <p:sp>
        <p:nvSpPr>
          <p:cNvPr id="41" name="TextBox 40"/>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Strict risk / resilience tier ≤2; review ≤3. Synthetic risk is not calibrated PD; contribution is not profit or APR.</a:t>
            </a:r>
          </a:p>
        </p:txBody>
      </p:sp>
      <p:sp>
        <p:nvSpPr>
          <p:cNvPr id="42" name="Rounded Rectangle 41"/>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4" name="TextBox 43"/>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Does clearing the economic hurdle compensate for a capacity failure?</a:t>
            </a:r>
          </a:p>
        </p:txBody>
      </p:sp>
      <p:sp>
        <p:nvSpPr>
          <p:cNvPr id="45" name="Rounded Rectangle 44"/>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47" name="TextBox 46"/>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Capacity and economics are separate required tests.</a:t>
            </a:r>
          </a:p>
          <a:p>
            <a:pPr algn="l">
              <a:lnSpc>
                <a:spcPts val="1913"/>
              </a:lnSpc>
              <a:spcBef>
                <a:spcPts val="0"/>
              </a:spcBef>
              <a:spcAft>
                <a:spcPts val="0"/>
              </a:spcAft>
              <a:defRPr sz="1650" b="0">
                <a:solidFill>
                  <a:srgbClr val="FFFFFF"/>
                </a:solidFill>
                <a:latin typeface="Lato"/>
              </a:defRPr>
            </a:pPr>
            <a:r>
              <a:t>Strong contribution cannot waive another gate.</a:t>
            </a:r>
          </a:p>
        </p:txBody>
      </p:sp>
      <p:sp>
        <p:nvSpPr>
          <p:cNvPr id="48" name="TextBox 47"/>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49" name="TextBox 48"/>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S05, S06, S07, S08, S01, S09 | 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9384B"/>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72CFC3"/>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D7E4EA"/>
                </a:solidFill>
                <a:latin typeface="Lato"/>
              </a:defRPr>
            </a:pPr>
            <a:r>
              <a:t>II READ THE REQUEST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FFFFFF"/>
                </a:solidFill>
                <a:latin typeface="Noto Serif"/>
              </a:defRPr>
            </a:pPr>
            <a:r>
              <a:t>Read the request as four linked parameters</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07</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D7E4EA"/>
                </a:solidFill>
                <a:latin typeface="Lato"/>
              </a:defRPr>
            </a:pPr>
            <a:r>
              <a:t>The total, the sales share and the timing benchmark do different jobs. Actual collection is a separate ledger.</a:t>
            </a:r>
          </a:p>
        </p:txBody>
      </p:sp>
      <p:cxnSp>
        <p:nvCxnSpPr>
          <p:cNvPr id="8" name="Connector 7"/>
          <p:cNvCxnSpPr/>
          <p:nvPr/>
        </p:nvCxnSpPr>
        <p:spPr>
          <a:xfrm>
            <a:off x="685800" y="2781300"/>
            <a:ext cx="16916400" cy="0"/>
          </a:xfrm>
          <a:prstGeom prst="line">
            <a:avLst/>
          </a:prstGeom>
          <a:ln w="12700">
            <a:solidFill>
              <a:srgbClr val="416172"/>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3340100" cy="3810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187700"/>
            <a:ext cx="31369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CASE 098 / BASELINE</a:t>
            </a:r>
          </a:p>
        </p:txBody>
      </p:sp>
      <p:sp>
        <p:nvSpPr>
          <p:cNvPr id="11" name="Rounded Rectangle 10"/>
          <p:cNvSpPr/>
          <p:nvPr/>
        </p:nvSpPr>
        <p:spPr>
          <a:xfrm>
            <a:off x="685800" y="3784600"/>
            <a:ext cx="4000500" cy="2247900"/>
          </a:xfrm>
          <a:prstGeom prst="roundRect">
            <a:avLst>
              <a:gd name="adj" fmla="val 7000"/>
            </a:avLst>
          </a:prstGeom>
          <a:solidFill>
            <a:srgbClr val="2546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7100" y="4000500"/>
            <a:ext cx="342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ED5CB"/>
                </a:solidFill>
                <a:latin typeface="Lato"/>
              </a:defRPr>
            </a:pPr>
            <a:r>
              <a:t>ADVANCE</a:t>
            </a:r>
          </a:p>
        </p:txBody>
      </p:sp>
      <p:sp>
        <p:nvSpPr>
          <p:cNvPr id="13" name="TextBox 12"/>
          <p:cNvSpPr txBox="1"/>
          <p:nvPr/>
        </p:nvSpPr>
        <p:spPr>
          <a:xfrm>
            <a:off x="927100" y="4445000"/>
            <a:ext cx="3441700" cy="7239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$5,200</a:t>
            </a:r>
          </a:p>
        </p:txBody>
      </p:sp>
      <p:sp>
        <p:nvSpPr>
          <p:cNvPr id="14" name="TextBox 13"/>
          <p:cNvSpPr txBox="1"/>
          <p:nvPr/>
        </p:nvSpPr>
        <p:spPr>
          <a:xfrm>
            <a:off x="927100" y="5334000"/>
            <a:ext cx="3441700" cy="558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D7E4EA"/>
                </a:solidFill>
                <a:latin typeface="Lato"/>
              </a:defRPr>
            </a:pPr>
            <a:r>
              <a:t>Capital requested</a:t>
            </a:r>
          </a:p>
        </p:txBody>
      </p:sp>
      <p:sp>
        <p:nvSpPr>
          <p:cNvPr id="15" name="Rounded Rectangle 14"/>
          <p:cNvSpPr/>
          <p:nvPr/>
        </p:nvSpPr>
        <p:spPr>
          <a:xfrm>
            <a:off x="4965700" y="3784600"/>
            <a:ext cx="4000500" cy="2247900"/>
          </a:xfrm>
          <a:prstGeom prst="roundRect">
            <a:avLst>
              <a:gd name="adj" fmla="val 7000"/>
            </a:avLst>
          </a:prstGeom>
          <a:solidFill>
            <a:srgbClr val="2546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7000" y="4000500"/>
            <a:ext cx="342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ED5CB"/>
                </a:solidFill>
                <a:latin typeface="Lato"/>
              </a:defRPr>
            </a:pPr>
            <a:r>
              <a:t>PAYBACK</a:t>
            </a:r>
          </a:p>
        </p:txBody>
      </p:sp>
      <p:sp>
        <p:nvSpPr>
          <p:cNvPr id="17" name="TextBox 16"/>
          <p:cNvSpPr txBox="1"/>
          <p:nvPr/>
        </p:nvSpPr>
        <p:spPr>
          <a:xfrm>
            <a:off x="5207000" y="4445000"/>
            <a:ext cx="3441700" cy="7239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1.259198×</a:t>
            </a:r>
          </a:p>
        </p:txBody>
      </p:sp>
      <p:sp>
        <p:nvSpPr>
          <p:cNvPr id="18" name="TextBox 17"/>
          <p:cNvSpPr txBox="1"/>
          <p:nvPr/>
        </p:nvSpPr>
        <p:spPr>
          <a:xfrm>
            <a:off x="5207000" y="5334000"/>
            <a:ext cx="3441700" cy="558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D7E4EA"/>
                </a:solidFill>
                <a:latin typeface="Lato"/>
              </a:defRPr>
            </a:pPr>
            <a:r>
              <a:t>T = round(A × m, 2)</a:t>
            </a:r>
          </a:p>
        </p:txBody>
      </p:sp>
      <p:sp>
        <p:nvSpPr>
          <p:cNvPr id="19" name="Rounded Rectangle 18"/>
          <p:cNvSpPr/>
          <p:nvPr/>
        </p:nvSpPr>
        <p:spPr>
          <a:xfrm>
            <a:off x="9245600" y="3784600"/>
            <a:ext cx="4000500" cy="2247900"/>
          </a:xfrm>
          <a:prstGeom prst="roundRect">
            <a:avLst>
              <a:gd name="adj" fmla="val 7000"/>
            </a:avLst>
          </a:prstGeom>
          <a:solidFill>
            <a:srgbClr val="2546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86900" y="4000500"/>
            <a:ext cx="342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ED5CB"/>
                </a:solidFill>
                <a:latin typeface="Lato"/>
              </a:defRPr>
            </a:pPr>
            <a:r>
              <a:t>REMITTANCE</a:t>
            </a:r>
          </a:p>
        </p:txBody>
      </p:sp>
      <p:sp>
        <p:nvSpPr>
          <p:cNvPr id="21" name="TextBox 20"/>
          <p:cNvSpPr txBox="1"/>
          <p:nvPr/>
        </p:nvSpPr>
        <p:spPr>
          <a:xfrm>
            <a:off x="9486900" y="4445000"/>
            <a:ext cx="3441700" cy="7239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10.9032%</a:t>
            </a:r>
          </a:p>
        </p:txBody>
      </p:sp>
      <p:sp>
        <p:nvSpPr>
          <p:cNvPr id="22" name="TextBox 21"/>
          <p:cNvSpPr txBox="1"/>
          <p:nvPr/>
        </p:nvSpPr>
        <p:spPr>
          <a:xfrm>
            <a:off x="9486900" y="5334000"/>
            <a:ext cx="3441700" cy="558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D7E4EA"/>
                </a:solidFill>
                <a:latin typeface="Lato"/>
              </a:defRPr>
            </a:pPr>
            <a:r>
              <a:t>Share of eligible sales</a:t>
            </a:r>
          </a:p>
        </p:txBody>
      </p:sp>
      <p:sp>
        <p:nvSpPr>
          <p:cNvPr id="23" name="Rounded Rectangle 22"/>
          <p:cNvSpPr/>
          <p:nvPr/>
        </p:nvSpPr>
        <p:spPr>
          <a:xfrm>
            <a:off x="13525500" y="3784600"/>
            <a:ext cx="4000500" cy="2247900"/>
          </a:xfrm>
          <a:prstGeom prst="roundRect">
            <a:avLst>
              <a:gd name="adj" fmla="val 7000"/>
            </a:avLst>
          </a:prstGeom>
          <a:solidFill>
            <a:srgbClr val="2546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66800" y="4000500"/>
            <a:ext cx="342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ED5CB"/>
                </a:solidFill>
                <a:latin typeface="Lato"/>
              </a:defRPr>
            </a:pPr>
            <a:r>
              <a:t>HORIZON</a:t>
            </a:r>
          </a:p>
        </p:txBody>
      </p:sp>
      <p:sp>
        <p:nvSpPr>
          <p:cNvPr id="25" name="TextBox 24"/>
          <p:cNvSpPr txBox="1"/>
          <p:nvPr/>
        </p:nvSpPr>
        <p:spPr>
          <a:xfrm>
            <a:off x="13766800" y="4445000"/>
            <a:ext cx="3441700" cy="7239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FFFFFF"/>
                </a:solidFill>
                <a:latin typeface="Noto Serif"/>
              </a:defRPr>
            </a:pPr>
            <a:r>
              <a:t>90 days</a:t>
            </a:r>
          </a:p>
        </p:txBody>
      </p:sp>
      <p:sp>
        <p:nvSpPr>
          <p:cNvPr id="26" name="TextBox 25"/>
          <p:cNvSpPr txBox="1"/>
          <p:nvPr/>
        </p:nvSpPr>
        <p:spPr>
          <a:xfrm>
            <a:off x="13766800" y="5334000"/>
            <a:ext cx="3441700" cy="558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D7E4EA"/>
                </a:solidFill>
                <a:latin typeface="Lato"/>
              </a:defRPr>
            </a:pPr>
            <a:r>
              <a:t>Assessment timing</a:t>
            </a:r>
          </a:p>
        </p:txBody>
      </p:sp>
      <p:sp>
        <p:nvSpPr>
          <p:cNvPr id="27" name="TextBox 26"/>
          <p:cNvSpPr txBox="1"/>
          <p:nvPr/>
        </p:nvSpPr>
        <p:spPr>
          <a:xfrm>
            <a:off x="723900" y="6324600"/>
            <a:ext cx="16891000" cy="546100"/>
          </a:xfrm>
          <a:prstGeom prst="rect">
            <a:avLst/>
          </a:prstGeom>
          <a:noFill/>
          <a:effectLst/>
        </p:spPr>
        <p:txBody>
          <a:bodyPr wrap="none" lIns="0" rIns="0" tIns="0" bIns="0" anchor="t">
            <a:spAutoFit/>
          </a:bodyPr>
          <a:lstStyle/>
          <a:p>
            <a:pPr algn="l">
              <a:lnSpc>
                <a:spcPts val="3015"/>
              </a:lnSpc>
              <a:spcBef>
                <a:spcPts val="0"/>
              </a:spcBef>
              <a:spcAft>
                <a:spcPts val="0"/>
              </a:spcAft>
              <a:defRPr sz="2600" b="0">
                <a:solidFill>
                  <a:srgbClr val="FFFFFF"/>
                </a:solidFill>
                <a:latin typeface="Noto Serif"/>
              </a:defRPr>
            </a:pPr>
            <a:r>
              <a:t>Repayment target: $6,547.83 | Horizon demand: $72.75 / day</a:t>
            </a:r>
          </a:p>
        </p:txBody>
      </p:sp>
      <p:sp>
        <p:nvSpPr>
          <p:cNvPr id="28" name="TextBox 27"/>
          <p:cNvSpPr txBox="1"/>
          <p:nvPr/>
        </p:nvSpPr>
        <p:spPr>
          <a:xfrm>
            <a:off x="711200" y="7137400"/>
            <a:ext cx="13462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F1C56C"/>
                </a:solidFill>
                <a:latin typeface="Lato"/>
              </a:defRPr>
            </a:pPr>
            <a:r>
              <a:t>SEPARATE DAILY ILLUSTRATION / RATE = 10% / BALANCE SHOWN BEFORE COLLECTION</a:t>
            </a:r>
          </a:p>
        </p:txBody>
      </p:sp>
      <p:sp>
        <p:nvSpPr>
          <p:cNvPr id="29" name="Rectangle 28"/>
          <p:cNvSpPr/>
          <p:nvPr/>
        </p:nvSpPr>
        <p:spPr>
          <a:xfrm>
            <a:off x="685800" y="7645400"/>
            <a:ext cx="36322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7759700"/>
            <a:ext cx="33274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ELIGIBLE SALES</a:t>
            </a:r>
          </a:p>
        </p:txBody>
      </p:sp>
      <p:sp>
        <p:nvSpPr>
          <p:cNvPr id="31" name="Rectangle 30"/>
          <p:cNvSpPr/>
          <p:nvPr/>
        </p:nvSpPr>
        <p:spPr>
          <a:xfrm>
            <a:off x="4318000" y="7645400"/>
            <a:ext cx="32258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0400" y="7759700"/>
            <a:ext cx="29210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10% SHARE</a:t>
            </a:r>
          </a:p>
        </p:txBody>
      </p:sp>
      <p:sp>
        <p:nvSpPr>
          <p:cNvPr id="33" name="Rectangle 32"/>
          <p:cNvSpPr/>
          <p:nvPr/>
        </p:nvSpPr>
        <p:spPr>
          <a:xfrm>
            <a:off x="7543800" y="7645400"/>
            <a:ext cx="42672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96200" y="7759700"/>
            <a:ext cx="39624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REMAINING BALANCE</a:t>
            </a:r>
          </a:p>
        </p:txBody>
      </p:sp>
      <p:sp>
        <p:nvSpPr>
          <p:cNvPr id="35" name="Rectangle 34"/>
          <p:cNvSpPr/>
          <p:nvPr/>
        </p:nvSpPr>
        <p:spPr>
          <a:xfrm>
            <a:off x="11811000" y="7645400"/>
            <a:ext cx="58039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963400" y="7759700"/>
            <a:ext cx="54991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ILLUSTRATIVE REMITTANCE</a:t>
            </a:r>
          </a:p>
        </p:txBody>
      </p:sp>
      <p:sp>
        <p:nvSpPr>
          <p:cNvPr id="37" name="Rectangle 36"/>
          <p:cNvSpPr/>
          <p:nvPr/>
        </p:nvSpPr>
        <p:spPr>
          <a:xfrm>
            <a:off x="685800" y="8128000"/>
            <a:ext cx="3632200" cy="749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8200" y="8280400"/>
            <a:ext cx="33274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$2,000</a:t>
            </a:r>
          </a:p>
        </p:txBody>
      </p:sp>
      <p:sp>
        <p:nvSpPr>
          <p:cNvPr id="39" name="Rectangle 38"/>
          <p:cNvSpPr/>
          <p:nvPr/>
        </p:nvSpPr>
        <p:spPr>
          <a:xfrm>
            <a:off x="4318000" y="8128000"/>
            <a:ext cx="3225800" cy="749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0400" y="8280400"/>
            <a:ext cx="29210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$200</a:t>
            </a:r>
          </a:p>
        </p:txBody>
      </p:sp>
      <p:sp>
        <p:nvSpPr>
          <p:cNvPr id="41" name="Rectangle 40"/>
          <p:cNvSpPr/>
          <p:nvPr/>
        </p:nvSpPr>
        <p:spPr>
          <a:xfrm>
            <a:off x="7543800" y="8128000"/>
            <a:ext cx="4267200" cy="749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6200" y="8280400"/>
            <a:ext cx="39624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$5,000</a:t>
            </a:r>
          </a:p>
        </p:txBody>
      </p:sp>
      <p:sp>
        <p:nvSpPr>
          <p:cNvPr id="43" name="Rectangle 42"/>
          <p:cNvSpPr/>
          <p:nvPr/>
        </p:nvSpPr>
        <p:spPr>
          <a:xfrm>
            <a:off x="11811000" y="8128000"/>
            <a:ext cx="5803900" cy="749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963400" y="8280400"/>
            <a:ext cx="54991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$200 — share binds</a:t>
            </a:r>
          </a:p>
        </p:txBody>
      </p:sp>
      <p:cxnSp>
        <p:nvCxnSpPr>
          <p:cNvPr id="45" name="Connector 44"/>
          <p:cNvCxnSpPr/>
          <p:nvPr/>
        </p:nvCxnSpPr>
        <p:spPr>
          <a:xfrm>
            <a:off x="685800" y="88773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685800" y="8877300"/>
            <a:ext cx="3632200" cy="7493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8200" y="9029700"/>
            <a:ext cx="33274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$2,000</a:t>
            </a:r>
          </a:p>
        </p:txBody>
      </p:sp>
      <p:sp>
        <p:nvSpPr>
          <p:cNvPr id="48" name="Rectangle 47"/>
          <p:cNvSpPr/>
          <p:nvPr/>
        </p:nvSpPr>
        <p:spPr>
          <a:xfrm>
            <a:off x="4318000" y="8877300"/>
            <a:ext cx="3225800" cy="7493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70400" y="9029700"/>
            <a:ext cx="29210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$200</a:t>
            </a:r>
          </a:p>
        </p:txBody>
      </p:sp>
      <p:sp>
        <p:nvSpPr>
          <p:cNvPr id="50" name="Rectangle 49"/>
          <p:cNvSpPr/>
          <p:nvPr/>
        </p:nvSpPr>
        <p:spPr>
          <a:xfrm>
            <a:off x="7543800" y="8877300"/>
            <a:ext cx="4267200" cy="7493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6200" y="9029700"/>
            <a:ext cx="39624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$80</a:t>
            </a:r>
          </a:p>
        </p:txBody>
      </p:sp>
      <p:sp>
        <p:nvSpPr>
          <p:cNvPr id="52" name="Rectangle 51"/>
          <p:cNvSpPr/>
          <p:nvPr/>
        </p:nvSpPr>
        <p:spPr>
          <a:xfrm>
            <a:off x="11811000" y="8877300"/>
            <a:ext cx="5803900" cy="7493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963400" y="9029700"/>
            <a:ext cx="5499100" cy="5842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$80 — balance caps collection</a:t>
            </a:r>
          </a:p>
        </p:txBody>
      </p:sp>
      <p:cxnSp>
        <p:nvCxnSpPr>
          <p:cNvPr id="54" name="Connector 53"/>
          <p:cNvCxnSpPr/>
          <p:nvPr/>
        </p:nvCxnSpPr>
        <p:spPr>
          <a:xfrm>
            <a:off x="685800" y="96266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91D5C9"/>
                </a:solidFill>
                <a:latin typeface="Lato"/>
              </a:defRPr>
            </a:pPr>
            <a:r>
              <a:t>Assessment burden uses the larger test. Daily collection uses the smaller of sales share and remaining balance.</a:t>
            </a:r>
          </a:p>
        </p:txBody>
      </p:sp>
      <p:sp>
        <p:nvSpPr>
          <p:cNvPr id="56" name="Rounded Rectangle 55"/>
          <p:cNvSpPr/>
          <p:nvPr/>
        </p:nvSpPr>
        <p:spPr>
          <a:xfrm>
            <a:off x="685800" y="10604500"/>
            <a:ext cx="9994900" cy="1041400"/>
          </a:xfrm>
          <a:prstGeom prst="roundRect">
            <a:avLst>
              <a:gd name="adj" fmla="val 7000"/>
            </a:avLst>
          </a:prstGeom>
          <a:solidFill>
            <a:srgbClr val="2E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F1C56C"/>
                </a:solidFill>
                <a:latin typeface="Lato"/>
              </a:defRPr>
            </a:pPr>
            <a:r>
              <a:t>TRY IT</a:t>
            </a:r>
          </a:p>
        </p:txBody>
      </p:sp>
      <p:sp>
        <p:nvSpPr>
          <p:cNvPr id="58" name="TextBox 57"/>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FFFFFF"/>
                </a:solidFill>
                <a:latin typeface="Lato"/>
              </a:defRPr>
            </a:pPr>
            <a:r>
              <a:t>At $1,500 eligible sales and a $100 balance, what is a 10% remittance?</a:t>
            </a:r>
          </a:p>
        </p:txBody>
      </p:sp>
      <p:sp>
        <p:nvSpPr>
          <p:cNvPr id="59" name="Rounded Rectangle 58"/>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61" name="TextBox 60"/>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$100. The share is $150, but min($150, $100) = $100. All</a:t>
            </a:r>
          </a:p>
          <a:p>
            <a:pPr algn="l">
              <a:lnSpc>
                <a:spcPts val="1913"/>
              </a:lnSpc>
              <a:spcBef>
                <a:spcPts val="0"/>
              </a:spcBef>
              <a:spcAft>
                <a:spcPts val="0"/>
              </a:spcAft>
              <a:defRPr sz="1650" b="0">
                <a:solidFill>
                  <a:srgbClr val="FFFFFF"/>
                </a:solidFill>
                <a:latin typeface="Lato"/>
              </a:defRPr>
            </a:pPr>
            <a:r>
              <a:t>assumptions belong to this illustration.</a:t>
            </a:r>
          </a:p>
        </p:txBody>
      </p:sp>
      <p:sp>
        <p:nvSpPr>
          <p:cNvPr id="62" name="TextBox 61"/>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D7E4EA"/>
                </a:solidFill>
                <a:latin typeface="Lato"/>
              </a:defRPr>
            </a:pPr>
            <a:r>
              <a:t>Andrew R. Goad · Synthetic MSBF · Non-production · No real funds</a:t>
            </a:r>
          </a:p>
        </p:txBody>
      </p:sp>
      <p:sp>
        <p:nvSpPr>
          <p:cNvPr id="63" name="TextBox 62"/>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D7E4EA"/>
                </a:solidFill>
                <a:latin typeface="Lato"/>
              </a:defRPr>
            </a:pPr>
            <a:r>
              <a:t>Evidence S01, S03, S17 | 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 READ THE REQUEST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Change one term. Find the binding burden.</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08</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 lower amount or rate does not guarantee a lower assessment burden: the other leg can remain binding.</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098800"/>
            <a:ext cx="16929100" cy="10287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3263900"/>
            <a:ext cx="16344900" cy="7620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Hold fixed: S = $423.27/day · m = 1.259198 · margin = 30% · existing = $4.19/day</a:t>
            </a:r>
          </a:p>
          <a:p>
            <a:pPr algn="l">
              <a:lnSpc>
                <a:spcPts val="2436"/>
              </a:lnSpc>
              <a:spcBef>
                <a:spcPts val="0"/>
              </a:spcBef>
              <a:spcAft>
                <a:spcPts val="0"/>
              </a:spcAft>
              <a:defRPr sz="2100" b="0">
                <a:solidFill>
                  <a:srgbClr val="FFFFFF"/>
                </a:solidFill>
                <a:latin typeface="Lato"/>
              </a:defRPr>
            </a:pPr>
            <a:r>
              <a:t>N = max[round(S × r, 2), round(round(A × m, 2) / H, 2)]</a:t>
            </a:r>
          </a:p>
        </p:txBody>
      </p:sp>
      <p:sp>
        <p:nvSpPr>
          <p:cNvPr id="11" name="TextBox 10"/>
          <p:cNvSpPr txBox="1"/>
          <p:nvPr/>
        </p:nvSpPr>
        <p:spPr>
          <a:xfrm>
            <a:off x="711200" y="4381500"/>
            <a:ext cx="850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9384B"/>
                </a:solidFill>
                <a:latin typeface="Lato"/>
              </a:defRPr>
            </a:pPr>
            <a:r>
              <a:t>CONTROLLED VARIANTS — NOT R26 CANDIDATE RESULTS</a:t>
            </a:r>
          </a:p>
        </p:txBody>
      </p:sp>
      <p:sp>
        <p:nvSpPr>
          <p:cNvPr id="12" name="Rectangle 11"/>
          <p:cNvSpPr/>
          <p:nvPr/>
        </p:nvSpPr>
        <p:spPr>
          <a:xfrm>
            <a:off x="685800" y="4876800"/>
            <a:ext cx="26797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4991100"/>
            <a:ext cx="23749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CHANGE</a:t>
            </a:r>
          </a:p>
        </p:txBody>
      </p:sp>
      <p:sp>
        <p:nvSpPr>
          <p:cNvPr id="14" name="Rectangle 13"/>
          <p:cNvSpPr/>
          <p:nvPr/>
        </p:nvSpPr>
        <p:spPr>
          <a:xfrm>
            <a:off x="3365500" y="4876800"/>
            <a:ext cx="16256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7900" y="4991100"/>
            <a:ext cx="13208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AMOUNT</a:t>
            </a:r>
          </a:p>
        </p:txBody>
      </p:sp>
      <p:sp>
        <p:nvSpPr>
          <p:cNvPr id="16" name="Rectangle 15"/>
          <p:cNvSpPr/>
          <p:nvPr/>
        </p:nvSpPr>
        <p:spPr>
          <a:xfrm>
            <a:off x="4991100" y="4876800"/>
            <a:ext cx="19812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3500" y="4991100"/>
            <a:ext cx="16764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RATE</a:t>
            </a:r>
          </a:p>
        </p:txBody>
      </p:sp>
      <p:sp>
        <p:nvSpPr>
          <p:cNvPr id="18" name="Rectangle 17"/>
          <p:cNvSpPr/>
          <p:nvPr/>
        </p:nvSpPr>
        <p:spPr>
          <a:xfrm>
            <a:off x="6972300" y="4876800"/>
            <a:ext cx="11303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24700" y="4991100"/>
            <a:ext cx="8255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DAYS</a:t>
            </a:r>
          </a:p>
        </p:txBody>
      </p:sp>
      <p:sp>
        <p:nvSpPr>
          <p:cNvPr id="20" name="Rectangle 19"/>
          <p:cNvSpPr/>
          <p:nvPr/>
        </p:nvSpPr>
        <p:spPr>
          <a:xfrm>
            <a:off x="8102600" y="4876800"/>
            <a:ext cx="14986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5000" y="4991100"/>
            <a:ext cx="11938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N / DAY</a:t>
            </a:r>
          </a:p>
        </p:txBody>
      </p:sp>
      <p:sp>
        <p:nvSpPr>
          <p:cNvPr id="22" name="Rectangle 21"/>
          <p:cNvSpPr/>
          <p:nvPr/>
        </p:nvSpPr>
        <p:spPr>
          <a:xfrm>
            <a:off x="685800" y="5359400"/>
            <a:ext cx="26797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 y="5511800"/>
            <a:ext cx="23749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Source request</a:t>
            </a:r>
          </a:p>
        </p:txBody>
      </p:sp>
      <p:sp>
        <p:nvSpPr>
          <p:cNvPr id="24" name="Rectangle 23"/>
          <p:cNvSpPr/>
          <p:nvPr/>
        </p:nvSpPr>
        <p:spPr>
          <a:xfrm>
            <a:off x="3365500" y="5359400"/>
            <a:ext cx="1625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17900" y="5511800"/>
            <a:ext cx="1320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$5,200</a:t>
            </a:r>
          </a:p>
        </p:txBody>
      </p:sp>
      <p:sp>
        <p:nvSpPr>
          <p:cNvPr id="26" name="Rectangle 25"/>
          <p:cNvSpPr/>
          <p:nvPr/>
        </p:nvSpPr>
        <p:spPr>
          <a:xfrm>
            <a:off x="4991100" y="5359400"/>
            <a:ext cx="19812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43500" y="5511800"/>
            <a:ext cx="1676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10.9032%</a:t>
            </a:r>
          </a:p>
        </p:txBody>
      </p:sp>
      <p:sp>
        <p:nvSpPr>
          <p:cNvPr id="28" name="Rectangle 27"/>
          <p:cNvSpPr/>
          <p:nvPr/>
        </p:nvSpPr>
        <p:spPr>
          <a:xfrm>
            <a:off x="6972300" y="5359400"/>
            <a:ext cx="11303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24700" y="5511800"/>
            <a:ext cx="8255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90</a:t>
            </a:r>
          </a:p>
        </p:txBody>
      </p:sp>
      <p:sp>
        <p:nvSpPr>
          <p:cNvPr id="30" name="Rectangle 29"/>
          <p:cNvSpPr/>
          <p:nvPr/>
        </p:nvSpPr>
        <p:spPr>
          <a:xfrm>
            <a:off x="8102600" y="5359400"/>
            <a:ext cx="1498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55000" y="5511800"/>
            <a:ext cx="1193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9384B"/>
                </a:solidFill>
                <a:latin typeface="Lato"/>
              </a:defRPr>
            </a:pPr>
            <a:r>
              <a:t>$72.75</a:t>
            </a:r>
          </a:p>
        </p:txBody>
      </p:sp>
      <p:cxnSp>
        <p:nvCxnSpPr>
          <p:cNvPr id="32" name="Connector 31"/>
          <p:cNvCxnSpPr/>
          <p:nvPr/>
        </p:nvCxnSpPr>
        <p:spPr>
          <a:xfrm>
            <a:off x="685800" y="6184900"/>
            <a:ext cx="8915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85800" y="6184900"/>
            <a:ext cx="26797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200" y="6337300"/>
            <a:ext cx="23749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Shorter horizon</a:t>
            </a:r>
          </a:p>
        </p:txBody>
      </p:sp>
      <p:sp>
        <p:nvSpPr>
          <p:cNvPr id="35" name="Rectangle 34"/>
          <p:cNvSpPr/>
          <p:nvPr/>
        </p:nvSpPr>
        <p:spPr>
          <a:xfrm>
            <a:off x="3365500" y="6184900"/>
            <a:ext cx="16256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17900" y="6337300"/>
            <a:ext cx="1320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$5,200</a:t>
            </a:r>
          </a:p>
        </p:txBody>
      </p:sp>
      <p:sp>
        <p:nvSpPr>
          <p:cNvPr id="37" name="Rectangle 36"/>
          <p:cNvSpPr/>
          <p:nvPr/>
        </p:nvSpPr>
        <p:spPr>
          <a:xfrm>
            <a:off x="4991100" y="6184900"/>
            <a:ext cx="19812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43500" y="6337300"/>
            <a:ext cx="1676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10.9032%</a:t>
            </a:r>
          </a:p>
        </p:txBody>
      </p:sp>
      <p:sp>
        <p:nvSpPr>
          <p:cNvPr id="39" name="Rectangle 38"/>
          <p:cNvSpPr/>
          <p:nvPr/>
        </p:nvSpPr>
        <p:spPr>
          <a:xfrm>
            <a:off x="6972300" y="6184900"/>
            <a:ext cx="11303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24700" y="6337300"/>
            <a:ext cx="8255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60</a:t>
            </a:r>
          </a:p>
        </p:txBody>
      </p:sp>
      <p:sp>
        <p:nvSpPr>
          <p:cNvPr id="41" name="Rectangle 40"/>
          <p:cNvSpPr/>
          <p:nvPr/>
        </p:nvSpPr>
        <p:spPr>
          <a:xfrm>
            <a:off x="8102600" y="6184900"/>
            <a:ext cx="14986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5000" y="6337300"/>
            <a:ext cx="1193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9384B"/>
                </a:solidFill>
                <a:latin typeface="Lato"/>
              </a:defRPr>
            </a:pPr>
            <a:r>
              <a:t>$109.13</a:t>
            </a:r>
          </a:p>
        </p:txBody>
      </p:sp>
      <p:cxnSp>
        <p:nvCxnSpPr>
          <p:cNvPr id="43" name="Connector 42"/>
          <p:cNvCxnSpPr/>
          <p:nvPr/>
        </p:nvCxnSpPr>
        <p:spPr>
          <a:xfrm>
            <a:off x="685800" y="7010400"/>
            <a:ext cx="8915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85800" y="7010400"/>
            <a:ext cx="26797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200" y="7162800"/>
            <a:ext cx="23749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Lower amount</a:t>
            </a:r>
          </a:p>
        </p:txBody>
      </p:sp>
      <p:sp>
        <p:nvSpPr>
          <p:cNvPr id="46" name="Rectangle 45"/>
          <p:cNvSpPr/>
          <p:nvPr/>
        </p:nvSpPr>
        <p:spPr>
          <a:xfrm>
            <a:off x="3365500" y="7010400"/>
            <a:ext cx="1625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17900" y="7162800"/>
            <a:ext cx="1320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$2,500</a:t>
            </a:r>
          </a:p>
        </p:txBody>
      </p:sp>
      <p:sp>
        <p:nvSpPr>
          <p:cNvPr id="48" name="Rectangle 47"/>
          <p:cNvSpPr/>
          <p:nvPr/>
        </p:nvSpPr>
        <p:spPr>
          <a:xfrm>
            <a:off x="4991100" y="7010400"/>
            <a:ext cx="19812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43500" y="7162800"/>
            <a:ext cx="1676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10.9032%</a:t>
            </a:r>
          </a:p>
        </p:txBody>
      </p:sp>
      <p:sp>
        <p:nvSpPr>
          <p:cNvPr id="50" name="Rectangle 49"/>
          <p:cNvSpPr/>
          <p:nvPr/>
        </p:nvSpPr>
        <p:spPr>
          <a:xfrm>
            <a:off x="6972300" y="7010400"/>
            <a:ext cx="11303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24700" y="7162800"/>
            <a:ext cx="8255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90</a:t>
            </a:r>
          </a:p>
        </p:txBody>
      </p:sp>
      <p:sp>
        <p:nvSpPr>
          <p:cNvPr id="52" name="Rectangle 51"/>
          <p:cNvSpPr/>
          <p:nvPr/>
        </p:nvSpPr>
        <p:spPr>
          <a:xfrm>
            <a:off x="8102600" y="7010400"/>
            <a:ext cx="1498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55000" y="7162800"/>
            <a:ext cx="1193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9384B"/>
                </a:solidFill>
                <a:latin typeface="Lato"/>
              </a:defRPr>
            </a:pPr>
            <a:r>
              <a:t>$46.15</a:t>
            </a:r>
          </a:p>
        </p:txBody>
      </p:sp>
      <p:cxnSp>
        <p:nvCxnSpPr>
          <p:cNvPr id="54" name="Connector 53"/>
          <p:cNvCxnSpPr/>
          <p:nvPr/>
        </p:nvCxnSpPr>
        <p:spPr>
          <a:xfrm>
            <a:off x="685800" y="7835900"/>
            <a:ext cx="8915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85800" y="7835900"/>
            <a:ext cx="26797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8200" y="7988300"/>
            <a:ext cx="23749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Lower rate</a:t>
            </a:r>
          </a:p>
        </p:txBody>
      </p:sp>
      <p:sp>
        <p:nvSpPr>
          <p:cNvPr id="57" name="Rectangle 56"/>
          <p:cNvSpPr/>
          <p:nvPr/>
        </p:nvSpPr>
        <p:spPr>
          <a:xfrm>
            <a:off x="3365500" y="7835900"/>
            <a:ext cx="16256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17900" y="7988300"/>
            <a:ext cx="1320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$5,200</a:t>
            </a:r>
          </a:p>
        </p:txBody>
      </p:sp>
      <p:sp>
        <p:nvSpPr>
          <p:cNvPr id="59" name="Rectangle 58"/>
          <p:cNvSpPr/>
          <p:nvPr/>
        </p:nvSpPr>
        <p:spPr>
          <a:xfrm>
            <a:off x="4991100" y="7835900"/>
            <a:ext cx="19812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43500" y="7988300"/>
            <a:ext cx="1676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8.0000%</a:t>
            </a:r>
          </a:p>
        </p:txBody>
      </p:sp>
      <p:sp>
        <p:nvSpPr>
          <p:cNvPr id="61" name="Rectangle 60"/>
          <p:cNvSpPr/>
          <p:nvPr/>
        </p:nvSpPr>
        <p:spPr>
          <a:xfrm>
            <a:off x="6972300" y="7835900"/>
            <a:ext cx="11303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24700" y="7988300"/>
            <a:ext cx="8255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90</a:t>
            </a:r>
          </a:p>
        </p:txBody>
      </p:sp>
      <p:sp>
        <p:nvSpPr>
          <p:cNvPr id="63" name="Rectangle 62"/>
          <p:cNvSpPr/>
          <p:nvPr/>
        </p:nvSpPr>
        <p:spPr>
          <a:xfrm>
            <a:off x="8102600" y="7835900"/>
            <a:ext cx="14986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55000" y="7988300"/>
            <a:ext cx="1193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9384B"/>
                </a:solidFill>
                <a:latin typeface="Lato"/>
              </a:defRPr>
            </a:pPr>
            <a:r>
              <a:t>$72.75</a:t>
            </a:r>
          </a:p>
        </p:txBody>
      </p:sp>
      <p:cxnSp>
        <p:nvCxnSpPr>
          <p:cNvPr id="65" name="Connector 64"/>
          <p:cNvCxnSpPr/>
          <p:nvPr/>
        </p:nvCxnSpPr>
        <p:spPr>
          <a:xfrm>
            <a:off x="685800" y="8661400"/>
            <a:ext cx="8915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85800" y="8661400"/>
            <a:ext cx="26797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8200" y="8813800"/>
            <a:ext cx="23749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Higher rate</a:t>
            </a:r>
          </a:p>
        </p:txBody>
      </p:sp>
      <p:sp>
        <p:nvSpPr>
          <p:cNvPr id="68" name="Rectangle 67"/>
          <p:cNvSpPr/>
          <p:nvPr/>
        </p:nvSpPr>
        <p:spPr>
          <a:xfrm>
            <a:off x="3365500" y="8661400"/>
            <a:ext cx="1625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17900" y="8813800"/>
            <a:ext cx="1320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$5,200</a:t>
            </a:r>
          </a:p>
        </p:txBody>
      </p:sp>
      <p:sp>
        <p:nvSpPr>
          <p:cNvPr id="70" name="Rectangle 69"/>
          <p:cNvSpPr/>
          <p:nvPr/>
        </p:nvSpPr>
        <p:spPr>
          <a:xfrm>
            <a:off x="4991100" y="8661400"/>
            <a:ext cx="19812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43500" y="8813800"/>
            <a:ext cx="1676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20.0000%</a:t>
            </a:r>
          </a:p>
        </p:txBody>
      </p:sp>
      <p:sp>
        <p:nvSpPr>
          <p:cNvPr id="72" name="Rectangle 71"/>
          <p:cNvSpPr/>
          <p:nvPr/>
        </p:nvSpPr>
        <p:spPr>
          <a:xfrm>
            <a:off x="6972300" y="8661400"/>
            <a:ext cx="11303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24700" y="8813800"/>
            <a:ext cx="8255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90</a:t>
            </a:r>
          </a:p>
        </p:txBody>
      </p:sp>
      <p:sp>
        <p:nvSpPr>
          <p:cNvPr id="74" name="Rectangle 73"/>
          <p:cNvSpPr/>
          <p:nvPr/>
        </p:nvSpPr>
        <p:spPr>
          <a:xfrm>
            <a:off x="8102600" y="8661400"/>
            <a:ext cx="14986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255000" y="8813800"/>
            <a:ext cx="11938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9384B"/>
                </a:solidFill>
                <a:latin typeface="Lato"/>
              </a:defRPr>
            </a:pPr>
            <a:r>
              <a:t>$84.65</a:t>
            </a:r>
          </a:p>
        </p:txBody>
      </p:sp>
      <p:cxnSp>
        <p:nvCxnSpPr>
          <p:cNvPr id="76" name="Connector 75"/>
          <p:cNvCxnSpPr/>
          <p:nvPr/>
        </p:nvCxnSpPr>
        <p:spPr>
          <a:xfrm>
            <a:off x="685800" y="9486900"/>
            <a:ext cx="8915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10325100" y="4381500"/>
            <a:ext cx="7213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9384B"/>
                </a:solidFill>
                <a:latin typeface="Lato"/>
              </a:defRPr>
            </a:pPr>
            <a:r>
              <a:t>TWO DEMANDS / $ PER DAY</a:t>
            </a:r>
          </a:p>
        </p:txBody>
      </p:sp>
      <p:sp>
        <p:nvSpPr>
          <p:cNvPr id="78" name="Rounded Rectangle 77"/>
          <p:cNvSpPr/>
          <p:nvPr/>
        </p:nvSpPr>
        <p:spPr>
          <a:xfrm>
            <a:off x="10426700" y="4813300"/>
            <a:ext cx="2374900" cy="3810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28300" y="4889500"/>
            <a:ext cx="21717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Sales-share leg</a:t>
            </a:r>
          </a:p>
        </p:txBody>
      </p:sp>
      <p:sp>
        <p:nvSpPr>
          <p:cNvPr id="80" name="Rounded Rectangle 79"/>
          <p:cNvSpPr/>
          <p:nvPr/>
        </p:nvSpPr>
        <p:spPr>
          <a:xfrm>
            <a:off x="12966700" y="4813300"/>
            <a:ext cx="2552700" cy="3810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068300" y="4889500"/>
            <a:ext cx="23495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Horizon leg</a:t>
            </a:r>
          </a:p>
        </p:txBody>
      </p:sp>
      <p:sp>
        <p:nvSpPr>
          <p:cNvPr id="82" name="Rectangle 81"/>
          <p:cNvSpPr/>
          <p:nvPr/>
        </p:nvSpPr>
        <p:spPr>
          <a:xfrm>
            <a:off x="10439400" y="5461000"/>
            <a:ext cx="2100209" cy="1651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2628509" y="53975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47D77"/>
                </a:solidFill>
                <a:latin typeface="Lato"/>
              </a:defRPr>
            </a:pPr>
            <a:r>
              <a:t>46.15</a:t>
            </a:r>
          </a:p>
        </p:txBody>
      </p:sp>
      <p:sp>
        <p:nvSpPr>
          <p:cNvPr id="84" name="Rectangle 83"/>
          <p:cNvSpPr/>
          <p:nvPr/>
        </p:nvSpPr>
        <p:spPr>
          <a:xfrm>
            <a:off x="10439400" y="5753100"/>
            <a:ext cx="3310731" cy="1651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3839031" y="56896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9384B"/>
                </a:solidFill>
                <a:latin typeface="Lato"/>
              </a:defRPr>
            </a:pPr>
            <a:r>
              <a:t>72.75</a:t>
            </a:r>
          </a:p>
        </p:txBody>
      </p:sp>
      <p:sp>
        <p:nvSpPr>
          <p:cNvPr id="86" name="Rectangle 85"/>
          <p:cNvSpPr/>
          <p:nvPr/>
        </p:nvSpPr>
        <p:spPr>
          <a:xfrm>
            <a:off x="10439400" y="6286500"/>
            <a:ext cx="2100209" cy="1651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628509" y="62230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47D77"/>
                </a:solidFill>
                <a:latin typeface="Lato"/>
              </a:defRPr>
            </a:pPr>
            <a:r>
              <a:t>46.15</a:t>
            </a:r>
          </a:p>
        </p:txBody>
      </p:sp>
      <p:sp>
        <p:nvSpPr>
          <p:cNvPr id="88" name="Rectangle 87"/>
          <p:cNvSpPr/>
          <p:nvPr/>
        </p:nvSpPr>
        <p:spPr>
          <a:xfrm>
            <a:off x="10439400" y="6578600"/>
            <a:ext cx="4966324" cy="1651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494624" y="65151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9384B"/>
                </a:solidFill>
                <a:latin typeface="Lato"/>
              </a:defRPr>
            </a:pPr>
            <a:r>
              <a:t>109.13</a:t>
            </a:r>
          </a:p>
        </p:txBody>
      </p:sp>
      <p:sp>
        <p:nvSpPr>
          <p:cNvPr id="90" name="Rectangle 89"/>
          <p:cNvSpPr/>
          <p:nvPr/>
        </p:nvSpPr>
        <p:spPr>
          <a:xfrm>
            <a:off x="10439400" y="7112000"/>
            <a:ext cx="2100209" cy="1651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2628509" y="70485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47D77"/>
                </a:solidFill>
                <a:latin typeface="Lato"/>
              </a:defRPr>
            </a:pPr>
            <a:r>
              <a:t>46.15</a:t>
            </a:r>
          </a:p>
        </p:txBody>
      </p:sp>
      <p:sp>
        <p:nvSpPr>
          <p:cNvPr id="92" name="Rectangle 91"/>
          <p:cNvSpPr/>
          <p:nvPr/>
        </p:nvSpPr>
        <p:spPr>
          <a:xfrm>
            <a:off x="10439400" y="7404100"/>
            <a:ext cx="1591881" cy="1651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120181" y="73406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9384B"/>
                </a:solidFill>
                <a:latin typeface="Lato"/>
              </a:defRPr>
            </a:pPr>
            <a:r>
              <a:t>34.98</a:t>
            </a:r>
          </a:p>
        </p:txBody>
      </p:sp>
      <p:sp>
        <p:nvSpPr>
          <p:cNvPr id="94" name="Rectangle 93"/>
          <p:cNvSpPr/>
          <p:nvPr/>
        </p:nvSpPr>
        <p:spPr>
          <a:xfrm>
            <a:off x="10439400" y="7937500"/>
            <a:ext cx="1540912" cy="1651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2069212" y="78740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47D77"/>
                </a:solidFill>
                <a:latin typeface="Lato"/>
              </a:defRPr>
            </a:pPr>
            <a:r>
              <a:t>33.86</a:t>
            </a:r>
          </a:p>
        </p:txBody>
      </p:sp>
      <p:sp>
        <p:nvSpPr>
          <p:cNvPr id="96" name="Rectangle 95"/>
          <p:cNvSpPr/>
          <p:nvPr/>
        </p:nvSpPr>
        <p:spPr>
          <a:xfrm>
            <a:off x="10439400" y="8229600"/>
            <a:ext cx="3310731" cy="1651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3839031" y="81661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9384B"/>
                </a:solidFill>
                <a:latin typeface="Lato"/>
              </a:defRPr>
            </a:pPr>
            <a:r>
              <a:t>72.75</a:t>
            </a:r>
          </a:p>
        </p:txBody>
      </p:sp>
      <p:sp>
        <p:nvSpPr>
          <p:cNvPr id="98" name="Rectangle 97"/>
          <p:cNvSpPr/>
          <p:nvPr/>
        </p:nvSpPr>
        <p:spPr>
          <a:xfrm>
            <a:off x="10439400" y="8763000"/>
            <a:ext cx="3852280" cy="1651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4380580" y="86995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47D77"/>
                </a:solidFill>
                <a:latin typeface="Lato"/>
              </a:defRPr>
            </a:pPr>
            <a:r>
              <a:t>84.65</a:t>
            </a:r>
          </a:p>
        </p:txBody>
      </p:sp>
      <p:sp>
        <p:nvSpPr>
          <p:cNvPr id="100" name="Rectangle 99"/>
          <p:cNvSpPr/>
          <p:nvPr/>
        </p:nvSpPr>
        <p:spPr>
          <a:xfrm>
            <a:off x="10439400" y="9055100"/>
            <a:ext cx="3310731" cy="1651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3839031" y="8991600"/>
            <a:ext cx="1104900" cy="317500"/>
          </a:xfrm>
          <a:prstGeom prst="rect">
            <a:avLst/>
          </a:prstGeom>
          <a:noFill/>
          <a:effectLst/>
        </p:spPr>
        <p:txBody>
          <a:bodyPr wrap="none" lIns="0" rIns="0" tIns="0" bIns="0" anchor="t">
            <a:spAutoFit/>
          </a:bodyPr>
          <a:lstStyle/>
          <a:p>
            <a:pPr algn="l">
              <a:lnSpc>
                <a:spcPts val="1739"/>
              </a:lnSpc>
              <a:spcBef>
                <a:spcPts val="0"/>
              </a:spcBef>
              <a:spcAft>
                <a:spcPts val="0"/>
              </a:spcAft>
              <a:defRPr sz="1500" b="1">
                <a:solidFill>
                  <a:srgbClr val="19384B"/>
                </a:solidFill>
                <a:latin typeface="Lato"/>
              </a:defRPr>
            </a:pPr>
            <a:r>
              <a:t>72.75</a:t>
            </a:r>
          </a:p>
        </p:txBody>
      </p:sp>
      <p:sp>
        <p:nvSpPr>
          <p:cNvPr id="102" name="TextBox 101"/>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9384B"/>
                </a:solidFill>
                <a:latin typeface="Lato"/>
              </a:defRPr>
            </a:pPr>
            <a:r>
              <a:t>Follow the max operator. Changing a nonbinding leg can leave assessed burden unchanged.</a:t>
            </a:r>
          </a:p>
        </p:txBody>
      </p:sp>
      <p:sp>
        <p:nvSpPr>
          <p:cNvPr id="103" name="Rounded Rectangle 102"/>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105" name="TextBox 104"/>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does reducing the remittance rate to 8% leave N unchanged?</a:t>
            </a:r>
          </a:p>
        </p:txBody>
      </p:sp>
      <p:sp>
        <p:nvSpPr>
          <p:cNvPr id="106" name="Rounded Rectangle 105"/>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108" name="TextBox 107"/>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The $72.75 horizon leg still exceeds the $33.86</a:t>
            </a:r>
          </a:p>
          <a:p>
            <a:pPr algn="l">
              <a:lnSpc>
                <a:spcPts val="1913"/>
              </a:lnSpc>
              <a:spcBef>
                <a:spcPts val="0"/>
              </a:spcBef>
              <a:spcAft>
                <a:spcPts val="0"/>
              </a:spcAft>
              <a:defRPr sz="1650" b="0">
                <a:solidFill>
                  <a:srgbClr val="FFFFFF"/>
                </a:solidFill>
                <a:latin typeface="Lato"/>
              </a:defRPr>
            </a:pPr>
            <a:r>
              <a:t>sales-share leg. The larger amount governs.</a:t>
            </a:r>
          </a:p>
        </p:txBody>
      </p:sp>
      <p:sp>
        <p:nvSpPr>
          <p:cNvPr id="109" name="TextBox 108"/>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110" name="TextBox 109"/>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S03 | 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3"/>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 READ THE REQUEST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Fit the structure inside the capacity boundary</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09</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The frontier is a composite test—not an average in which a strong buffer offsets weak coverage.</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136900"/>
            <a:ext cx="15494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9384B"/>
                </a:solidFill>
                <a:latin typeface="Lato"/>
              </a:defRPr>
            </a:pPr>
            <a:r>
              <a:t>SOURCE CAPACITY GATES / AMOUNTS AND RATIOS ARE NOT INTERCHANGEABLE</a:t>
            </a:r>
          </a:p>
        </p:txBody>
      </p:sp>
      <p:sp>
        <p:nvSpPr>
          <p:cNvPr id="10" name="Rectangle 9"/>
          <p:cNvSpPr/>
          <p:nvPr/>
        </p:nvSpPr>
        <p:spPr>
          <a:xfrm>
            <a:off x="685800" y="3632200"/>
            <a:ext cx="44958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746500"/>
            <a:ext cx="41910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DIMENSION</a:t>
            </a:r>
          </a:p>
        </p:txBody>
      </p:sp>
      <p:sp>
        <p:nvSpPr>
          <p:cNvPr id="12" name="Rectangle 11"/>
          <p:cNvSpPr/>
          <p:nvPr/>
        </p:nvSpPr>
        <p:spPr>
          <a:xfrm>
            <a:off x="5181600" y="3632200"/>
            <a:ext cx="33020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4000" y="3746500"/>
            <a:ext cx="29972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STRICT FRONTIER</a:t>
            </a:r>
          </a:p>
        </p:txBody>
      </p:sp>
      <p:sp>
        <p:nvSpPr>
          <p:cNvPr id="14" name="Rectangle 13"/>
          <p:cNvSpPr/>
          <p:nvPr/>
        </p:nvSpPr>
        <p:spPr>
          <a:xfrm>
            <a:off x="8483600" y="3632200"/>
            <a:ext cx="36068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3746500"/>
            <a:ext cx="33020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REVIEW FRONTIER</a:t>
            </a:r>
          </a:p>
        </p:txBody>
      </p:sp>
      <p:sp>
        <p:nvSpPr>
          <p:cNvPr id="16" name="Rectangle 15"/>
          <p:cNvSpPr/>
          <p:nvPr/>
        </p:nvSpPr>
        <p:spPr>
          <a:xfrm>
            <a:off x="12090400" y="3632200"/>
            <a:ext cx="55245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42800" y="3746500"/>
            <a:ext cx="52197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WHAT IT PROTECTS</a:t>
            </a:r>
          </a:p>
        </p:txBody>
      </p:sp>
      <p:sp>
        <p:nvSpPr>
          <p:cNvPr id="18" name="Rectangle 17"/>
          <p:cNvSpPr/>
          <p:nvPr/>
        </p:nvSpPr>
        <p:spPr>
          <a:xfrm>
            <a:off x="685800" y="4114800"/>
            <a:ext cx="44958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200" y="4267200"/>
            <a:ext cx="4191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Coverage: cash / burden</a:t>
            </a:r>
          </a:p>
        </p:txBody>
      </p:sp>
      <p:sp>
        <p:nvSpPr>
          <p:cNvPr id="20" name="Rectangle 19"/>
          <p:cNvSpPr/>
          <p:nvPr/>
        </p:nvSpPr>
        <p:spPr>
          <a:xfrm>
            <a:off x="5181600" y="4114800"/>
            <a:ext cx="3302000" cy="7366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4000" y="4267200"/>
            <a:ext cx="29972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 1.25×</a:t>
            </a:r>
          </a:p>
        </p:txBody>
      </p:sp>
      <p:sp>
        <p:nvSpPr>
          <p:cNvPr id="22" name="Rectangle 21"/>
          <p:cNvSpPr/>
          <p:nvPr/>
        </p:nvSpPr>
        <p:spPr>
          <a:xfrm>
            <a:off x="8483600" y="4114800"/>
            <a:ext cx="3606800" cy="7366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36000" y="4267200"/>
            <a:ext cx="3302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 1.00×</a:t>
            </a:r>
          </a:p>
        </p:txBody>
      </p:sp>
      <p:sp>
        <p:nvSpPr>
          <p:cNvPr id="24" name="Rectangle 23"/>
          <p:cNvSpPr/>
          <p:nvPr/>
        </p:nvSpPr>
        <p:spPr>
          <a:xfrm>
            <a:off x="12090400" y="4114800"/>
            <a:ext cx="55245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4267200"/>
            <a:ext cx="52197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Cash generation against commitments</a:t>
            </a:r>
          </a:p>
        </p:txBody>
      </p:sp>
      <p:cxnSp>
        <p:nvCxnSpPr>
          <p:cNvPr id="26" name="Connector 25"/>
          <p:cNvCxnSpPr/>
          <p:nvPr/>
        </p:nvCxnSpPr>
        <p:spPr>
          <a:xfrm>
            <a:off x="685800" y="48514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5800" y="4851400"/>
            <a:ext cx="4495800" cy="7366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200" y="5003800"/>
            <a:ext cx="4191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Total burden / sales</a:t>
            </a:r>
          </a:p>
        </p:txBody>
      </p:sp>
      <p:sp>
        <p:nvSpPr>
          <p:cNvPr id="29" name="Rectangle 28"/>
          <p:cNvSpPr/>
          <p:nvPr/>
        </p:nvSpPr>
        <p:spPr>
          <a:xfrm>
            <a:off x="5181600" y="4851400"/>
            <a:ext cx="3302000" cy="7366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4000" y="5003800"/>
            <a:ext cx="29972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 22%</a:t>
            </a:r>
          </a:p>
        </p:txBody>
      </p:sp>
      <p:sp>
        <p:nvSpPr>
          <p:cNvPr id="31" name="Rectangle 30"/>
          <p:cNvSpPr/>
          <p:nvPr/>
        </p:nvSpPr>
        <p:spPr>
          <a:xfrm>
            <a:off x="8483600" y="4851400"/>
            <a:ext cx="3606800" cy="7366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6000" y="5003800"/>
            <a:ext cx="3302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 30%</a:t>
            </a:r>
          </a:p>
        </p:txBody>
      </p:sp>
      <p:sp>
        <p:nvSpPr>
          <p:cNvPr id="33" name="Rectangle 32"/>
          <p:cNvSpPr/>
          <p:nvPr/>
        </p:nvSpPr>
        <p:spPr>
          <a:xfrm>
            <a:off x="12090400" y="4851400"/>
            <a:ext cx="5524500" cy="7366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242800" y="5003800"/>
            <a:ext cx="52197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Share of sales committed</a:t>
            </a:r>
          </a:p>
        </p:txBody>
      </p:sp>
      <p:cxnSp>
        <p:nvCxnSpPr>
          <p:cNvPr id="35" name="Connector 34"/>
          <p:cNvCxnSpPr/>
          <p:nvPr/>
        </p:nvCxnSpPr>
        <p:spPr>
          <a:xfrm>
            <a:off x="685800" y="55880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85800" y="5588000"/>
            <a:ext cx="44958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8200" y="5740400"/>
            <a:ext cx="4191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Projected buffer / burden</a:t>
            </a:r>
          </a:p>
        </p:txBody>
      </p:sp>
      <p:sp>
        <p:nvSpPr>
          <p:cNvPr id="38" name="Rectangle 37"/>
          <p:cNvSpPr/>
          <p:nvPr/>
        </p:nvSpPr>
        <p:spPr>
          <a:xfrm>
            <a:off x="5181600" y="5588000"/>
            <a:ext cx="3302000" cy="7366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4000" y="5740400"/>
            <a:ext cx="29972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 15 days</a:t>
            </a:r>
          </a:p>
        </p:txBody>
      </p:sp>
      <p:sp>
        <p:nvSpPr>
          <p:cNvPr id="40" name="Rectangle 39"/>
          <p:cNvSpPr/>
          <p:nvPr/>
        </p:nvSpPr>
        <p:spPr>
          <a:xfrm>
            <a:off x="8483600" y="5588000"/>
            <a:ext cx="3606800" cy="7366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36000" y="5740400"/>
            <a:ext cx="3302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 5 days</a:t>
            </a:r>
          </a:p>
        </p:txBody>
      </p:sp>
      <p:sp>
        <p:nvSpPr>
          <p:cNvPr id="42" name="Rectangle 41"/>
          <p:cNvSpPr/>
          <p:nvPr/>
        </p:nvSpPr>
        <p:spPr>
          <a:xfrm>
            <a:off x="12090400" y="5588000"/>
            <a:ext cx="55245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42800" y="5740400"/>
            <a:ext cx="52197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Liquidity relative to commitments</a:t>
            </a:r>
          </a:p>
        </p:txBody>
      </p:sp>
      <p:cxnSp>
        <p:nvCxnSpPr>
          <p:cNvPr id="44" name="Connector 43"/>
          <p:cNvCxnSpPr/>
          <p:nvPr/>
        </p:nvCxnSpPr>
        <p:spPr>
          <a:xfrm>
            <a:off x="685800" y="63246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85800" y="6324600"/>
            <a:ext cx="4495800" cy="7366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200" y="6477000"/>
            <a:ext cx="4191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Residual cash</a:t>
            </a:r>
          </a:p>
        </p:txBody>
      </p:sp>
      <p:sp>
        <p:nvSpPr>
          <p:cNvPr id="47" name="Rectangle 46"/>
          <p:cNvSpPr/>
          <p:nvPr/>
        </p:nvSpPr>
        <p:spPr>
          <a:xfrm>
            <a:off x="5181600" y="6324600"/>
            <a:ext cx="3302000" cy="7366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34000" y="6477000"/>
            <a:ext cx="29972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 $0</a:t>
            </a:r>
          </a:p>
        </p:txBody>
      </p:sp>
      <p:sp>
        <p:nvSpPr>
          <p:cNvPr id="49" name="Rectangle 48"/>
          <p:cNvSpPr/>
          <p:nvPr/>
        </p:nvSpPr>
        <p:spPr>
          <a:xfrm>
            <a:off x="8483600" y="6324600"/>
            <a:ext cx="3606800" cy="7366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36000" y="6477000"/>
            <a:ext cx="3302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Composite tier governs</a:t>
            </a:r>
          </a:p>
        </p:txBody>
      </p:sp>
      <p:sp>
        <p:nvSpPr>
          <p:cNvPr id="51" name="Rectangle 50"/>
          <p:cNvSpPr/>
          <p:nvPr/>
        </p:nvSpPr>
        <p:spPr>
          <a:xfrm>
            <a:off x="12090400" y="6324600"/>
            <a:ext cx="5524500" cy="7366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242800" y="6477000"/>
            <a:ext cx="52197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No extra standalone tier-3 floor</a:t>
            </a:r>
          </a:p>
        </p:txBody>
      </p:sp>
      <p:cxnSp>
        <p:nvCxnSpPr>
          <p:cNvPr id="53" name="Connector 52"/>
          <p:cNvCxnSpPr/>
          <p:nvPr/>
        </p:nvCxnSpPr>
        <p:spPr>
          <a:xfrm>
            <a:off x="685800" y="7061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85800" y="7061200"/>
            <a:ext cx="44958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8200" y="7213600"/>
            <a:ext cx="4191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Capacity tier</a:t>
            </a:r>
          </a:p>
        </p:txBody>
      </p:sp>
      <p:sp>
        <p:nvSpPr>
          <p:cNvPr id="56" name="Rectangle 55"/>
          <p:cNvSpPr/>
          <p:nvPr/>
        </p:nvSpPr>
        <p:spPr>
          <a:xfrm>
            <a:off x="5181600" y="7061200"/>
            <a:ext cx="3302000" cy="7366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34000" y="7213600"/>
            <a:ext cx="29972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 2</a:t>
            </a:r>
          </a:p>
        </p:txBody>
      </p:sp>
      <p:sp>
        <p:nvSpPr>
          <p:cNvPr id="58" name="Rectangle 57"/>
          <p:cNvSpPr/>
          <p:nvPr/>
        </p:nvSpPr>
        <p:spPr>
          <a:xfrm>
            <a:off x="8483600" y="7061200"/>
            <a:ext cx="3606800" cy="736600"/>
          </a:xfrm>
          <a:prstGeom prst="rect">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36000" y="7213600"/>
            <a:ext cx="33020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 3</a:t>
            </a:r>
          </a:p>
        </p:txBody>
      </p:sp>
      <p:sp>
        <p:nvSpPr>
          <p:cNvPr id="60" name="Rectangle 59"/>
          <p:cNvSpPr/>
          <p:nvPr/>
        </p:nvSpPr>
        <p:spPr>
          <a:xfrm>
            <a:off x="12090400" y="7061200"/>
            <a:ext cx="5524500" cy="736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242800" y="7213600"/>
            <a:ext cx="5219700" cy="5715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The conditions work together</a:t>
            </a:r>
          </a:p>
        </p:txBody>
      </p:sp>
      <p:cxnSp>
        <p:nvCxnSpPr>
          <p:cNvPr id="62" name="Connector 61"/>
          <p:cNvCxnSpPr/>
          <p:nvPr/>
        </p:nvCxnSpPr>
        <p:spPr>
          <a:xfrm>
            <a:off x="685800" y="77978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85800" y="8267700"/>
            <a:ext cx="4495800" cy="14351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14400" y="8483600"/>
            <a:ext cx="698500" cy="698500"/>
          </a:xfrm>
          <a:prstGeom prst="ellipse">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86360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082</a:t>
            </a:r>
          </a:p>
        </p:txBody>
      </p:sp>
      <p:sp>
        <p:nvSpPr>
          <p:cNvPr id="66" name="TextBox 65"/>
          <p:cNvSpPr txBox="1"/>
          <p:nvPr/>
        </p:nvSpPr>
        <p:spPr>
          <a:xfrm>
            <a:off x="1828800" y="8496300"/>
            <a:ext cx="31242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082</a:t>
            </a:r>
          </a:p>
        </p:txBody>
      </p:sp>
      <p:sp>
        <p:nvSpPr>
          <p:cNvPr id="67" name="TextBox 66"/>
          <p:cNvSpPr txBox="1"/>
          <p:nvPr/>
        </p:nvSpPr>
        <p:spPr>
          <a:xfrm>
            <a:off x="1828800" y="8839200"/>
            <a:ext cx="31242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Large buffer, failed</a:t>
            </a:r>
          </a:p>
          <a:p>
            <a:pPr algn="l">
              <a:lnSpc>
                <a:spcPts val="2436"/>
              </a:lnSpc>
              <a:spcBef>
                <a:spcPts val="0"/>
              </a:spcBef>
              <a:spcAft>
                <a:spcPts val="0"/>
              </a:spcAft>
              <a:defRPr sz="2100" b="1">
                <a:solidFill>
                  <a:srgbClr val="203B4C"/>
                </a:solidFill>
                <a:latin typeface="Lato"/>
              </a:defRPr>
            </a:pPr>
            <a:r>
              <a:t>request</a:t>
            </a:r>
          </a:p>
        </p:txBody>
      </p:sp>
      <p:sp>
        <p:nvSpPr>
          <p:cNvPr id="68" name="TextBox 67"/>
          <p:cNvSpPr txBox="1"/>
          <p:nvPr/>
        </p:nvSpPr>
        <p:spPr>
          <a:xfrm>
            <a:off x="939800" y="9347200"/>
            <a:ext cx="39878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BASELINE</a:t>
            </a:r>
          </a:p>
        </p:txBody>
      </p:sp>
      <p:sp>
        <p:nvSpPr>
          <p:cNvPr id="69" name="TextBox 68"/>
          <p:cNvSpPr txBox="1"/>
          <p:nvPr/>
        </p:nvSpPr>
        <p:spPr>
          <a:xfrm>
            <a:off x="5575300" y="8343900"/>
            <a:ext cx="3657600" cy="609600"/>
          </a:xfrm>
          <a:prstGeom prst="rect">
            <a:avLst/>
          </a:prstGeom>
          <a:noFill/>
          <a:effectLst/>
        </p:spPr>
        <p:txBody>
          <a:bodyPr wrap="none" lIns="0" rIns="0" tIns="0" bIns="0" anchor="t">
            <a:spAutoFit/>
          </a:bodyPr>
          <a:lstStyle/>
          <a:p>
            <a:pPr algn="l">
              <a:lnSpc>
                <a:spcPts val="3827"/>
              </a:lnSpc>
              <a:spcBef>
                <a:spcPts val="0"/>
              </a:spcBef>
              <a:spcAft>
                <a:spcPts val="0"/>
              </a:spcAft>
              <a:defRPr sz="3300" b="0">
                <a:solidFill>
                  <a:srgbClr val="147D77"/>
                </a:solidFill>
                <a:latin typeface="Noto Serif"/>
              </a:defRPr>
            </a:pPr>
            <a:r>
              <a:t>127.8328</a:t>
            </a:r>
          </a:p>
        </p:txBody>
      </p:sp>
      <p:sp>
        <p:nvSpPr>
          <p:cNvPr id="70" name="TextBox 69"/>
          <p:cNvSpPr txBox="1"/>
          <p:nvPr/>
        </p:nvSpPr>
        <p:spPr>
          <a:xfrm>
            <a:off x="5575300" y="9055100"/>
            <a:ext cx="36576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147D77"/>
                </a:solidFill>
                <a:latin typeface="Lato"/>
              </a:defRPr>
            </a:pPr>
            <a:r>
              <a:t>Buffer days / passes</a:t>
            </a:r>
          </a:p>
        </p:txBody>
      </p:sp>
      <p:sp>
        <p:nvSpPr>
          <p:cNvPr id="71" name="TextBox 70"/>
          <p:cNvSpPr txBox="1"/>
          <p:nvPr/>
        </p:nvSpPr>
        <p:spPr>
          <a:xfrm>
            <a:off x="9804400" y="8343900"/>
            <a:ext cx="3657600" cy="609600"/>
          </a:xfrm>
          <a:prstGeom prst="rect">
            <a:avLst/>
          </a:prstGeom>
          <a:noFill/>
          <a:effectLst/>
        </p:spPr>
        <p:txBody>
          <a:bodyPr wrap="none" lIns="0" rIns="0" tIns="0" bIns="0" anchor="t">
            <a:spAutoFit/>
          </a:bodyPr>
          <a:lstStyle/>
          <a:p>
            <a:pPr algn="l">
              <a:lnSpc>
                <a:spcPts val="3827"/>
              </a:lnSpc>
              <a:spcBef>
                <a:spcPts val="0"/>
              </a:spcBef>
              <a:spcAft>
                <a:spcPts val="0"/>
              </a:spcAft>
              <a:defRPr sz="3300" b="0">
                <a:solidFill>
                  <a:srgbClr val="B44F3C"/>
                </a:solidFill>
                <a:latin typeface="Noto Serif"/>
              </a:defRPr>
            </a:pPr>
            <a:r>
              <a:t>0.7180×</a:t>
            </a:r>
          </a:p>
        </p:txBody>
      </p:sp>
      <p:sp>
        <p:nvSpPr>
          <p:cNvPr id="72" name="TextBox 71"/>
          <p:cNvSpPr txBox="1"/>
          <p:nvPr/>
        </p:nvSpPr>
        <p:spPr>
          <a:xfrm>
            <a:off x="9804400" y="9055100"/>
            <a:ext cx="36576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B44F3C"/>
                </a:solidFill>
                <a:latin typeface="Lato"/>
              </a:defRPr>
            </a:pPr>
            <a:r>
              <a:t>Coverage / fails</a:t>
            </a:r>
          </a:p>
        </p:txBody>
      </p:sp>
      <p:sp>
        <p:nvSpPr>
          <p:cNvPr id="73" name="TextBox 72"/>
          <p:cNvSpPr txBox="1"/>
          <p:nvPr/>
        </p:nvSpPr>
        <p:spPr>
          <a:xfrm>
            <a:off x="13830300" y="8343900"/>
            <a:ext cx="3657600" cy="609600"/>
          </a:xfrm>
          <a:prstGeom prst="rect">
            <a:avLst/>
          </a:prstGeom>
          <a:noFill/>
          <a:effectLst/>
        </p:spPr>
        <p:txBody>
          <a:bodyPr wrap="none" lIns="0" rIns="0" tIns="0" bIns="0" anchor="t">
            <a:spAutoFit/>
          </a:bodyPr>
          <a:lstStyle/>
          <a:p>
            <a:pPr algn="l">
              <a:lnSpc>
                <a:spcPts val="3827"/>
              </a:lnSpc>
              <a:spcBef>
                <a:spcPts val="0"/>
              </a:spcBef>
              <a:spcAft>
                <a:spcPts val="0"/>
              </a:spcAft>
              <a:defRPr sz="3300" b="0">
                <a:solidFill>
                  <a:srgbClr val="B44F3C"/>
                </a:solidFill>
                <a:latin typeface="Noto Serif"/>
              </a:defRPr>
            </a:pPr>
            <a:r>
              <a:t>33.4278%</a:t>
            </a:r>
          </a:p>
        </p:txBody>
      </p:sp>
      <p:sp>
        <p:nvSpPr>
          <p:cNvPr id="74" name="TextBox 73"/>
          <p:cNvSpPr txBox="1"/>
          <p:nvPr/>
        </p:nvSpPr>
        <p:spPr>
          <a:xfrm>
            <a:off x="13830300" y="9055100"/>
            <a:ext cx="36576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1">
                <a:solidFill>
                  <a:srgbClr val="B44F3C"/>
                </a:solidFill>
                <a:latin typeface="Lato"/>
              </a:defRPr>
            </a:pPr>
            <a:r>
              <a:t>Burden / fails</a:t>
            </a:r>
          </a:p>
        </p:txBody>
      </p:sp>
      <p:sp>
        <p:nvSpPr>
          <p:cNvPr id="75" name="TextBox 74"/>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9384B"/>
                </a:solidFill>
                <a:latin typeface="Lato"/>
              </a:defRPr>
            </a:pPr>
            <a:r>
              <a:t>Stacking &lt;3 is a tier-1 condition—not an independent universal veto for otherwise valid tier-2/3 paths.</a:t>
            </a:r>
          </a:p>
        </p:txBody>
      </p:sp>
      <p:sp>
        <p:nvSpPr>
          <p:cNvPr id="76" name="Rounded Rectangle 75"/>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78" name="TextBox 77"/>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Does a large bank balance prove merchant 082’s request is affordable?</a:t>
            </a:r>
          </a:p>
        </p:txBody>
      </p:sp>
      <p:sp>
        <p:nvSpPr>
          <p:cNvPr id="79" name="Rounded Rectangle 78"/>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81" name="TextBox 80"/>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Requested residual cash is −$471.87/day; coverage</a:t>
            </a:r>
          </a:p>
          <a:p>
            <a:pPr algn="l">
              <a:lnSpc>
                <a:spcPts val="1913"/>
              </a:lnSpc>
              <a:spcBef>
                <a:spcPts val="0"/>
              </a:spcBef>
              <a:spcAft>
                <a:spcPts val="0"/>
              </a:spcAft>
              <a:defRPr sz="1650" b="0">
                <a:solidFill>
                  <a:srgbClr val="FFFFFF"/>
                </a:solidFill>
                <a:latin typeface="Lato"/>
              </a:defRPr>
            </a:pPr>
            <a:r>
              <a:t>and burden fail despite a large buffer.</a:t>
            </a:r>
          </a:p>
        </p:txBody>
      </p:sp>
      <p:sp>
        <p:nvSpPr>
          <p:cNvPr id="82" name="TextBox 81"/>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83" name="TextBox 82"/>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S03, S04, S10, S12 | 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 READ THE REQUEST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What can revised terms fix—and what can’t they?</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10</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Read the specific condition before deciding whether to search, review, preserve an advisory or stop.</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49600"/>
            <a:ext cx="1981200" cy="9271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3454400"/>
            <a:ext cx="1739900" cy="3937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EVIDENCE</a:t>
            </a:r>
          </a:p>
        </p:txBody>
      </p:sp>
      <p:sp>
        <p:nvSpPr>
          <p:cNvPr id="11" name="Rounded Rectangle 10"/>
          <p:cNvSpPr/>
          <p:nvPr/>
        </p:nvSpPr>
        <p:spPr>
          <a:xfrm>
            <a:off x="2946400" y="3149600"/>
            <a:ext cx="7175500" cy="927100"/>
          </a:xfrm>
          <a:prstGeom prst="roundRect">
            <a:avLst>
              <a:gd name="adj" fmla="val 7000"/>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75000" y="3340100"/>
            <a:ext cx="6667500" cy="749300"/>
          </a:xfrm>
          <a:prstGeom prst="rect">
            <a:avLst/>
          </a:prstGeom>
          <a:noFill/>
          <a:effectLst/>
        </p:spPr>
        <p:txBody>
          <a:bodyPr wrap="none" lIns="0" rIns="0" tIns="0" bIns="0" anchor="t">
            <a:spAutoFit/>
          </a:bodyPr>
          <a:lstStyle/>
          <a:p>
            <a:pPr algn="l">
              <a:lnSpc>
                <a:spcPts val="2145"/>
              </a:lnSpc>
              <a:spcBef>
                <a:spcPts val="0"/>
              </a:spcBef>
              <a:spcAft>
                <a:spcPts val="0"/>
              </a:spcAft>
              <a:defRPr sz="1850" b="0">
                <a:solidFill>
                  <a:srgbClr val="203B4C"/>
                </a:solidFill>
                <a:latin typeface="Lato"/>
              </a:defRPr>
            </a:pPr>
            <a:r>
              <a:t>Missing required feature</a:t>
            </a:r>
          </a:p>
        </p:txBody>
      </p:sp>
      <p:cxnSp>
        <p:nvCxnSpPr>
          <p:cNvPr id="13" name="Connector 12"/>
          <p:cNvCxnSpPr/>
          <p:nvPr/>
        </p:nvCxnSpPr>
        <p:spPr>
          <a:xfrm>
            <a:off x="10210800" y="3606800"/>
            <a:ext cx="520700" cy="0"/>
          </a:xfrm>
          <a:prstGeom prst="line">
            <a:avLst/>
          </a:prstGeom>
          <a:ln w="25400">
            <a:solidFill>
              <a:srgbClr val="B44F3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22000" y="3238500"/>
            <a:ext cx="6350000" cy="393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B44F3C"/>
                </a:solidFill>
                <a:latin typeface="Lato"/>
              </a:defRPr>
            </a:pPr>
            <a:r>
              <a:t>Evidence decline</a:t>
            </a:r>
          </a:p>
        </p:txBody>
      </p:sp>
      <p:sp>
        <p:nvSpPr>
          <p:cNvPr id="15" name="TextBox 14"/>
          <p:cNvSpPr txBox="1"/>
          <p:nvPr/>
        </p:nvSpPr>
        <p:spPr>
          <a:xfrm>
            <a:off x="10922000" y="3683000"/>
            <a:ext cx="6350000" cy="3937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Do not zero-fill</a:t>
            </a:r>
          </a:p>
        </p:txBody>
      </p:sp>
      <p:sp>
        <p:nvSpPr>
          <p:cNvPr id="16" name="Rounded Rectangle 15"/>
          <p:cNvSpPr/>
          <p:nvPr/>
        </p:nvSpPr>
        <p:spPr>
          <a:xfrm>
            <a:off x="685800" y="4279900"/>
            <a:ext cx="1981200" cy="9271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 y="4584700"/>
            <a:ext cx="1739900" cy="3937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HARD STOP</a:t>
            </a:r>
          </a:p>
        </p:txBody>
      </p:sp>
      <p:sp>
        <p:nvSpPr>
          <p:cNvPr id="18" name="Rounded Rectangle 17"/>
          <p:cNvSpPr/>
          <p:nvPr/>
        </p:nvSpPr>
        <p:spPr>
          <a:xfrm>
            <a:off x="2946400" y="4279900"/>
            <a:ext cx="7175500" cy="927100"/>
          </a:xfrm>
          <a:prstGeom prst="roundRect">
            <a:avLst>
              <a:gd name="adj" fmla="val 7000"/>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75000" y="4470400"/>
            <a:ext cx="6667500" cy="749300"/>
          </a:xfrm>
          <a:prstGeom prst="rect">
            <a:avLst/>
          </a:prstGeom>
          <a:noFill/>
          <a:effectLst/>
        </p:spPr>
        <p:txBody>
          <a:bodyPr wrap="none" lIns="0" rIns="0" tIns="0" bIns="0" anchor="t">
            <a:spAutoFit/>
          </a:bodyPr>
          <a:lstStyle/>
          <a:p>
            <a:pPr algn="l">
              <a:lnSpc>
                <a:spcPts val="2145"/>
              </a:lnSpc>
              <a:spcBef>
                <a:spcPts val="0"/>
              </a:spcBef>
              <a:spcAft>
                <a:spcPts val="0"/>
              </a:spcAft>
              <a:defRPr sz="1850" b="0">
                <a:solidFill>
                  <a:srgbClr val="203B4C"/>
                </a:solidFill>
                <a:latin typeface="Lato"/>
              </a:defRPr>
            </a:pPr>
            <a:r>
              <a:t>Non-remediable prohibition</a:t>
            </a:r>
          </a:p>
        </p:txBody>
      </p:sp>
      <p:cxnSp>
        <p:nvCxnSpPr>
          <p:cNvPr id="20" name="Connector 19"/>
          <p:cNvCxnSpPr/>
          <p:nvPr/>
        </p:nvCxnSpPr>
        <p:spPr>
          <a:xfrm>
            <a:off x="10210800" y="4737100"/>
            <a:ext cx="520700" cy="0"/>
          </a:xfrm>
          <a:prstGeom prst="line">
            <a:avLst/>
          </a:prstGeom>
          <a:ln w="25400">
            <a:solidFill>
              <a:srgbClr val="B44F3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922000" y="4368800"/>
            <a:ext cx="6350000" cy="393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B44F3C"/>
                </a:solidFill>
                <a:latin typeface="Lato"/>
              </a:defRPr>
            </a:pPr>
            <a:r>
              <a:t>Policy decline</a:t>
            </a:r>
          </a:p>
        </p:txBody>
      </p:sp>
      <p:sp>
        <p:nvSpPr>
          <p:cNvPr id="22" name="TextBox 21"/>
          <p:cNvSpPr txBox="1"/>
          <p:nvPr/>
        </p:nvSpPr>
        <p:spPr>
          <a:xfrm>
            <a:off x="10922000" y="4813300"/>
            <a:ext cx="6350000" cy="3937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Terms cannot waive it</a:t>
            </a:r>
          </a:p>
        </p:txBody>
      </p:sp>
      <p:sp>
        <p:nvSpPr>
          <p:cNvPr id="23" name="Rounded Rectangle 22"/>
          <p:cNvSpPr/>
          <p:nvPr/>
        </p:nvSpPr>
        <p:spPr>
          <a:xfrm>
            <a:off x="685800" y="5410200"/>
            <a:ext cx="1981200" cy="9271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 y="5715000"/>
            <a:ext cx="1739900" cy="3937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STRUCTURE</a:t>
            </a:r>
          </a:p>
        </p:txBody>
      </p:sp>
      <p:sp>
        <p:nvSpPr>
          <p:cNvPr id="25" name="Rounded Rectangle 24"/>
          <p:cNvSpPr/>
          <p:nvPr/>
        </p:nvSpPr>
        <p:spPr>
          <a:xfrm>
            <a:off x="2946400" y="5410200"/>
            <a:ext cx="7175500" cy="9271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75000" y="5600700"/>
            <a:ext cx="6667500" cy="749300"/>
          </a:xfrm>
          <a:prstGeom prst="rect">
            <a:avLst/>
          </a:prstGeom>
          <a:noFill/>
          <a:effectLst/>
        </p:spPr>
        <p:txBody>
          <a:bodyPr wrap="none" lIns="0" rIns="0" tIns="0" bIns="0" anchor="t">
            <a:spAutoFit/>
          </a:bodyPr>
          <a:lstStyle/>
          <a:p>
            <a:pPr algn="l">
              <a:lnSpc>
                <a:spcPts val="2145"/>
              </a:lnSpc>
              <a:spcBef>
                <a:spcPts val="0"/>
              </a:spcBef>
              <a:spcAft>
                <a:spcPts val="0"/>
              </a:spcAft>
              <a:defRPr sz="1850" b="0">
                <a:solidFill>
                  <a:srgbClr val="203B4C"/>
                </a:solidFill>
                <a:latin typeface="Lato"/>
              </a:defRPr>
            </a:pPr>
            <a:r>
              <a:t>Capacity / economics FAIL or REVIEW</a:t>
            </a:r>
          </a:p>
        </p:txBody>
      </p:sp>
      <p:cxnSp>
        <p:nvCxnSpPr>
          <p:cNvPr id="27" name="Connector 26"/>
          <p:cNvCxnSpPr/>
          <p:nvPr/>
        </p:nvCxnSpPr>
        <p:spPr>
          <a:xfrm>
            <a:off x="10210800" y="5867400"/>
            <a:ext cx="520700" cy="0"/>
          </a:xfrm>
          <a:prstGeom prst="line">
            <a:avLst/>
          </a:prstGeom>
          <a:ln w="25400">
            <a:solidFill>
              <a:srgbClr val="19384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22000" y="5499100"/>
            <a:ext cx="6350000" cy="393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19384B"/>
                </a:solidFill>
                <a:latin typeface="Lato"/>
              </a:defRPr>
            </a:pPr>
            <a:r>
              <a:t>Governed search</a:t>
            </a:r>
          </a:p>
        </p:txBody>
      </p:sp>
      <p:sp>
        <p:nvSpPr>
          <p:cNvPr id="29" name="TextBox 28"/>
          <p:cNvSpPr txBox="1"/>
          <p:nvPr/>
        </p:nvSpPr>
        <p:spPr>
          <a:xfrm>
            <a:off x="10922000" y="5943600"/>
            <a:ext cx="6350000" cy="3937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Recalculate alternatives</a:t>
            </a:r>
          </a:p>
        </p:txBody>
      </p:sp>
      <p:sp>
        <p:nvSpPr>
          <p:cNvPr id="30" name="Rounded Rectangle 29"/>
          <p:cNvSpPr/>
          <p:nvPr/>
        </p:nvSpPr>
        <p:spPr>
          <a:xfrm>
            <a:off x="685800" y="6540500"/>
            <a:ext cx="1981200" cy="9271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 y="6845300"/>
            <a:ext cx="1739900" cy="3937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JUDGMENT</a:t>
            </a:r>
          </a:p>
        </p:txBody>
      </p:sp>
      <p:sp>
        <p:nvSpPr>
          <p:cNvPr id="32" name="Rounded Rectangle 31"/>
          <p:cNvSpPr/>
          <p:nvPr/>
        </p:nvSpPr>
        <p:spPr>
          <a:xfrm>
            <a:off x="2946400" y="6540500"/>
            <a:ext cx="7175500" cy="9271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5000" y="6731000"/>
            <a:ext cx="6667500" cy="749300"/>
          </a:xfrm>
          <a:prstGeom prst="rect">
            <a:avLst/>
          </a:prstGeom>
          <a:noFill/>
          <a:effectLst/>
        </p:spPr>
        <p:txBody>
          <a:bodyPr wrap="none" lIns="0" rIns="0" tIns="0" bIns="0" anchor="t">
            <a:spAutoFit/>
          </a:bodyPr>
          <a:lstStyle/>
          <a:p>
            <a:pPr algn="l">
              <a:lnSpc>
                <a:spcPts val="2145"/>
              </a:lnSpc>
              <a:spcBef>
                <a:spcPts val="0"/>
              </a:spcBef>
              <a:spcAft>
                <a:spcPts val="0"/>
              </a:spcAft>
              <a:defRPr sz="1850" b="0">
                <a:solidFill>
                  <a:srgbClr val="203B4C"/>
                </a:solidFill>
                <a:latin typeface="Lato"/>
              </a:defRPr>
            </a:pPr>
            <a:r>
              <a:t>Conflict · MEDIUM confidence · fraud tier 3</a:t>
            </a:r>
          </a:p>
          <a:p>
            <a:pPr algn="l">
              <a:lnSpc>
                <a:spcPts val="2145"/>
              </a:lnSpc>
              <a:spcBef>
                <a:spcPts val="0"/>
              </a:spcBef>
              <a:spcAft>
                <a:spcPts val="0"/>
              </a:spcAft>
              <a:defRPr sz="1850" b="0">
                <a:solidFill>
                  <a:srgbClr val="203B4C"/>
                </a:solidFill>
                <a:latin typeface="Lato"/>
              </a:defRPr>
            </a:pPr>
            <a:r>
              <a:t>Disrupted / unavailable continuity</a:t>
            </a:r>
          </a:p>
        </p:txBody>
      </p:sp>
      <p:cxnSp>
        <p:nvCxnSpPr>
          <p:cNvPr id="34" name="Connector 33"/>
          <p:cNvCxnSpPr/>
          <p:nvPr/>
        </p:nvCxnSpPr>
        <p:spPr>
          <a:xfrm>
            <a:off x="10210800" y="6997700"/>
            <a:ext cx="520700" cy="0"/>
          </a:xfrm>
          <a:prstGeom prst="line">
            <a:avLst/>
          </a:prstGeom>
          <a:ln w="2540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922000" y="6629400"/>
            <a:ext cx="6350000" cy="393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BC8623"/>
                </a:solidFill>
                <a:latin typeface="Lato"/>
              </a:defRPr>
            </a:pPr>
            <a:r>
              <a:t>Review can remain</a:t>
            </a:r>
          </a:p>
        </p:txBody>
      </p:sp>
      <p:sp>
        <p:nvSpPr>
          <p:cNvPr id="36" name="TextBox 35"/>
          <p:cNvSpPr txBox="1"/>
          <p:nvPr/>
        </p:nvSpPr>
        <p:spPr>
          <a:xfrm>
            <a:off x="10922000" y="7073900"/>
            <a:ext cx="6350000" cy="3937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Keep the binding review gate</a:t>
            </a:r>
          </a:p>
        </p:txBody>
      </p:sp>
      <p:sp>
        <p:nvSpPr>
          <p:cNvPr id="37" name="Rounded Rectangle 36"/>
          <p:cNvSpPr/>
          <p:nvPr/>
        </p:nvSpPr>
        <p:spPr>
          <a:xfrm>
            <a:off x="685800" y="7670800"/>
            <a:ext cx="1981200" cy="9271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 y="7975600"/>
            <a:ext cx="1739900" cy="3937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ADVISORY</a:t>
            </a:r>
          </a:p>
        </p:txBody>
      </p:sp>
      <p:sp>
        <p:nvSpPr>
          <p:cNvPr id="39" name="Rounded Rectangle 38"/>
          <p:cNvSpPr/>
          <p:nvPr/>
        </p:nvSpPr>
        <p:spPr>
          <a:xfrm>
            <a:off x="2946400" y="7670800"/>
            <a:ext cx="7175500" cy="9271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75000" y="7861300"/>
            <a:ext cx="6667500" cy="749300"/>
          </a:xfrm>
          <a:prstGeom prst="rect">
            <a:avLst/>
          </a:prstGeom>
          <a:noFill/>
          <a:effectLst/>
        </p:spPr>
        <p:txBody>
          <a:bodyPr wrap="none" lIns="0" rIns="0" tIns="0" bIns="0" anchor="t">
            <a:spAutoFit/>
          </a:bodyPr>
          <a:lstStyle/>
          <a:p>
            <a:pPr algn="l">
              <a:lnSpc>
                <a:spcPts val="2145"/>
              </a:lnSpc>
              <a:spcBef>
                <a:spcPts val="0"/>
              </a:spcBef>
              <a:spcAft>
                <a:spcPts val="0"/>
              </a:spcAft>
              <a:defRPr sz="1850" b="0">
                <a:solidFill>
                  <a:srgbClr val="203B4C"/>
                </a:solidFill>
                <a:latin typeface="Lato"/>
              </a:defRPr>
            </a:pPr>
            <a:r>
              <a:t>Processor WATCH or selected warnings</a:t>
            </a:r>
          </a:p>
          <a:p>
            <a:pPr algn="l">
              <a:lnSpc>
                <a:spcPts val="2145"/>
              </a:lnSpc>
              <a:spcBef>
                <a:spcPts val="0"/>
              </a:spcBef>
              <a:spcAft>
                <a:spcPts val="0"/>
              </a:spcAft>
              <a:defRPr sz="1850" b="0">
                <a:solidFill>
                  <a:srgbClr val="203B4C"/>
                </a:solidFill>
                <a:latin typeface="Lato"/>
              </a:defRPr>
            </a:pPr>
            <a:r>
              <a:t>Critical evidence remains usable</a:t>
            </a:r>
          </a:p>
        </p:txBody>
      </p:sp>
      <p:cxnSp>
        <p:nvCxnSpPr>
          <p:cNvPr id="41" name="Connector 40"/>
          <p:cNvCxnSpPr/>
          <p:nvPr/>
        </p:nvCxnSpPr>
        <p:spPr>
          <a:xfrm>
            <a:off x="10210800" y="8128000"/>
            <a:ext cx="520700" cy="0"/>
          </a:xfrm>
          <a:prstGeom prst="line">
            <a:avLst/>
          </a:prstGeom>
          <a:ln w="25400">
            <a:solidFill>
              <a:srgbClr val="147D7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922000" y="7759700"/>
            <a:ext cx="6350000" cy="393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147D77"/>
                </a:solidFill>
                <a:latin typeface="Lato"/>
              </a:defRPr>
            </a:pPr>
            <a:r>
              <a:t>Specific rule controls</a:t>
            </a:r>
          </a:p>
        </p:txBody>
      </p:sp>
      <p:sp>
        <p:nvSpPr>
          <p:cNvPr id="43" name="TextBox 42"/>
          <p:cNvSpPr txBox="1"/>
          <p:nvPr/>
        </p:nvSpPr>
        <p:spPr>
          <a:xfrm>
            <a:off x="10922000" y="8204200"/>
            <a:ext cx="6350000" cy="3937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58707B"/>
                </a:solidFill>
                <a:latin typeface="Lato"/>
              </a:defRPr>
            </a:pPr>
            <a:r>
              <a:t>Retain—not automatic decline</a:t>
            </a:r>
          </a:p>
        </p:txBody>
      </p:sp>
      <p:sp>
        <p:nvSpPr>
          <p:cNvPr id="44" name="Rounded Rectangle 43"/>
          <p:cNvSpPr/>
          <p:nvPr/>
        </p:nvSpPr>
        <p:spPr>
          <a:xfrm>
            <a:off x="685800" y="9105900"/>
            <a:ext cx="16929100" cy="6350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2500" y="9258300"/>
            <a:ext cx="16383000" cy="406400"/>
          </a:xfrm>
          <a:prstGeom prst="rect">
            <a:avLst/>
          </a:prstGeom>
          <a:noFill/>
          <a:effectLst/>
        </p:spPr>
        <p:txBody>
          <a:bodyPr wrap="none" lIns="0" rIns="0" tIns="0" bIns="0" anchor="t">
            <a:spAutoFit/>
          </a:bodyPr>
          <a:lstStyle/>
          <a:p>
            <a:pPr algn="l">
              <a:lnSpc>
                <a:spcPts val="2145"/>
              </a:lnSpc>
              <a:spcBef>
                <a:spcPts val="0"/>
              </a:spcBef>
              <a:spcAft>
                <a:spcPts val="0"/>
              </a:spcAft>
              <a:defRPr sz="1850" b="1">
                <a:solidFill>
                  <a:srgbClr val="147D77"/>
                </a:solidFill>
                <a:latin typeface="Lato"/>
              </a:defRPr>
            </a:pPr>
            <a:r>
              <a:t>738 has verification REVIEW in both scenarios—but no binding human-judgment gate. The stress feature gap controls.</a:t>
            </a:r>
          </a:p>
        </p:txBody>
      </p:sp>
      <p:sp>
        <p:nvSpPr>
          <p:cNvPr id="46" name="TextBox 45"/>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9384B"/>
                </a:solidFill>
                <a:latin typeface="Lato"/>
              </a:defRPr>
            </a:pPr>
            <a:r>
              <a:t>Human conditions are source-defined. A generic REVIEW label is not executable decision logic.</a:t>
            </a:r>
          </a:p>
        </p:txBody>
      </p:sp>
      <p:sp>
        <p:nvSpPr>
          <p:cNvPr id="47" name="Rounded Rectangle 46"/>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9" name="TextBox 48"/>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does 738’s broad verification REVIEW label not explain its stress evidence decline?</a:t>
            </a:r>
          </a:p>
        </p:txBody>
      </p:sp>
      <p:sp>
        <p:nvSpPr>
          <p:cNvPr id="50" name="Rounded Rectangle 49"/>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2" name="TextBox 51"/>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Its refined human gate is NONE. Stress separately lacks</a:t>
            </a:r>
          </a:p>
          <a:p>
            <a:pPr algn="l">
              <a:lnSpc>
                <a:spcPts val="1913"/>
              </a:lnSpc>
              <a:spcBef>
                <a:spcPts val="0"/>
              </a:spcBef>
              <a:spcAft>
                <a:spcPts val="0"/>
              </a:spcAft>
              <a:defRPr sz="1650" b="0">
                <a:solidFill>
                  <a:srgbClr val="FFFFFF"/>
                </a:solidFill>
                <a:latin typeface="Lato"/>
              </a:defRPr>
            </a:pPr>
            <a:r>
              <a:t>30 usable POS days; that specific evidence failure binds.</a:t>
            </a:r>
          </a:p>
        </p:txBody>
      </p:sp>
      <p:sp>
        <p:nvSpPr>
          <p:cNvPr id="53" name="TextBox 52"/>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4" name="TextBox 53"/>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S09, S10, S11, S13 | 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4F51"/>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72CFC3"/>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D7E4EA"/>
                </a:solidFill>
                <a:latin typeface="Lato"/>
              </a:defRPr>
            </a:pPr>
            <a:r>
              <a:t>III SEARCH &amp; DECIDE</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FFFFFF"/>
                </a:solidFill>
                <a:latin typeface="Noto Serif"/>
              </a:defRPr>
            </a:pPr>
            <a:r>
              <a:t>Search a governed set—not an unlimited menu</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11</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D7E4EA"/>
                </a:solidFill>
                <a:latin typeface="Lato"/>
              </a:defRPr>
            </a:pPr>
            <a:r>
              <a:t>M2.2 constructs and tests. M2.3 selects under authority and matched-scenario constraints.</a:t>
            </a:r>
          </a:p>
        </p:txBody>
      </p:sp>
      <p:cxnSp>
        <p:nvCxnSpPr>
          <p:cNvPr id="8" name="Connector 7"/>
          <p:cNvCxnSpPr/>
          <p:nvPr/>
        </p:nvCxnSpPr>
        <p:spPr>
          <a:xfrm>
            <a:off x="685800" y="2781300"/>
            <a:ext cx="16916400" cy="0"/>
          </a:xfrm>
          <a:prstGeom prst="line">
            <a:avLst/>
          </a:prstGeom>
          <a:ln w="12700">
            <a:solidFill>
              <a:srgbClr val="416172"/>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238500"/>
            <a:ext cx="5405966" cy="10541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3441700"/>
            <a:ext cx="5101166" cy="8255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Enter</a:t>
            </a:r>
          </a:p>
          <a:p>
            <a:pPr algn="ctr">
              <a:lnSpc>
                <a:spcPts val="2436"/>
              </a:lnSpc>
              <a:spcBef>
                <a:spcPts val="0"/>
              </a:spcBef>
              <a:spcAft>
                <a:spcPts val="0"/>
              </a:spcAft>
              <a:defRPr sz="2100" b="1">
                <a:solidFill>
                  <a:srgbClr val="FFFFFF"/>
                </a:solidFill>
                <a:latin typeface="Lato"/>
              </a:defRPr>
            </a:pPr>
            <a:r>
              <a:t>remediable path</a:t>
            </a:r>
          </a:p>
        </p:txBody>
      </p:sp>
      <p:cxnSp>
        <p:nvCxnSpPr>
          <p:cNvPr id="11" name="Connector 10"/>
          <p:cNvCxnSpPr/>
          <p:nvPr/>
        </p:nvCxnSpPr>
        <p:spPr>
          <a:xfrm>
            <a:off x="6142566" y="37655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47366" y="3238500"/>
            <a:ext cx="5405966" cy="10541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9766" y="3441700"/>
            <a:ext cx="5101166" cy="8255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Construct</a:t>
            </a:r>
          </a:p>
          <a:p>
            <a:pPr algn="ctr">
              <a:lnSpc>
                <a:spcPts val="2436"/>
              </a:lnSpc>
              <a:spcBef>
                <a:spcPts val="0"/>
              </a:spcBef>
              <a:spcAft>
                <a:spcPts val="0"/>
              </a:spcAft>
              <a:defRPr sz="2100" b="1">
                <a:solidFill>
                  <a:srgbClr val="FFFFFF"/>
                </a:solidFill>
                <a:latin typeface="Lato"/>
              </a:defRPr>
            </a:pPr>
            <a:r>
              <a:t>exact terms</a:t>
            </a:r>
          </a:p>
        </p:txBody>
      </p:sp>
      <p:cxnSp>
        <p:nvCxnSpPr>
          <p:cNvPr id="14" name="Connector 13"/>
          <p:cNvCxnSpPr/>
          <p:nvPr/>
        </p:nvCxnSpPr>
        <p:spPr>
          <a:xfrm>
            <a:off x="11904133" y="37655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208933" y="3238500"/>
            <a:ext cx="5405966" cy="10541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61333" y="3441700"/>
            <a:ext cx="5101166" cy="825500"/>
          </a:xfrm>
          <a:prstGeom prst="rect">
            <a:avLst/>
          </a:prstGeom>
          <a:noFill/>
          <a:effectLst/>
        </p:spPr>
        <p:txBody>
          <a:bodyPr wrap="none" lIns="0" rIns="0" tIns="0" bIns="0" anchor="t">
            <a:spAutoFit/>
          </a:bodyPr>
          <a:lstStyle/>
          <a:p>
            <a:pPr algn="ctr">
              <a:lnSpc>
                <a:spcPts val="2436"/>
              </a:lnSpc>
              <a:spcBef>
                <a:spcPts val="0"/>
              </a:spcBef>
              <a:spcAft>
                <a:spcPts val="0"/>
              </a:spcAft>
              <a:defRPr sz="2100" b="1">
                <a:solidFill>
                  <a:srgbClr val="FFFFFF"/>
                </a:solidFill>
                <a:latin typeface="Lato"/>
              </a:defRPr>
            </a:pPr>
            <a:r>
              <a:t>Recalculate</a:t>
            </a:r>
          </a:p>
          <a:p>
            <a:pPr algn="ctr">
              <a:lnSpc>
                <a:spcPts val="2436"/>
              </a:lnSpc>
              <a:spcBef>
                <a:spcPts val="0"/>
              </a:spcBef>
              <a:spcAft>
                <a:spcPts val="0"/>
              </a:spcAft>
              <a:defRPr sz="2100" b="1">
                <a:solidFill>
                  <a:srgbClr val="FFFFFF"/>
                </a:solidFill>
                <a:latin typeface="Lato"/>
              </a:defRPr>
            </a:pPr>
            <a:r>
              <a:t>all required tests</a:t>
            </a:r>
          </a:p>
        </p:txBody>
      </p:sp>
      <p:cxnSp>
        <p:nvCxnSpPr>
          <p:cNvPr id="17" name="Connector 16"/>
          <p:cNvCxnSpPr/>
          <p:nvPr/>
        </p:nvCxnSpPr>
        <p:spPr>
          <a:xfrm>
            <a:off x="14922500" y="4318000"/>
            <a:ext cx="0" cy="228600"/>
          </a:xfrm>
          <a:prstGeom prst="line">
            <a:avLst/>
          </a:prstGeom>
          <a:ln w="25400">
            <a:solidFill>
              <a:srgbClr val="BC862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00600" y="4546600"/>
            <a:ext cx="10121900" cy="0"/>
          </a:xfrm>
          <a:prstGeom prst="line">
            <a:avLst/>
          </a:prstGeom>
          <a:ln w="25400">
            <a:solidFill>
              <a:srgbClr val="BC862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800600" y="4546600"/>
            <a:ext cx="0" cy="228600"/>
          </a:xfrm>
          <a:prstGeom prst="line">
            <a:avLst/>
          </a:prstGeom>
          <a:ln w="2540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500100" y="4546600"/>
            <a:ext cx="0" cy="228600"/>
          </a:xfrm>
          <a:prstGeom prst="line">
            <a:avLst/>
          </a:prstGeom>
          <a:ln w="2540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5800" y="4826000"/>
            <a:ext cx="8216900" cy="2044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5029200"/>
            <a:ext cx="7594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STRICT FRONTIER</a:t>
            </a:r>
          </a:p>
        </p:txBody>
      </p:sp>
      <p:sp>
        <p:nvSpPr>
          <p:cNvPr id="23" name="TextBox 22"/>
          <p:cNvSpPr txBox="1"/>
          <p:nvPr/>
        </p:nvSpPr>
        <p:spPr>
          <a:xfrm>
            <a:off x="965200" y="5562600"/>
            <a:ext cx="7620000" cy="9906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203B4C"/>
                </a:solidFill>
                <a:latin typeface="Lato"/>
              </a:defRPr>
            </a:pPr>
            <a:r>
              <a:t>Strict credit limits + economic hurdle</a:t>
            </a:r>
          </a:p>
          <a:p>
            <a:pPr algn="l">
              <a:lnSpc>
                <a:spcPts val="2668"/>
              </a:lnSpc>
              <a:spcBef>
                <a:spcPts val="0"/>
              </a:spcBef>
              <a:spcAft>
                <a:spcPts val="0"/>
              </a:spcAft>
              <a:defRPr sz="2300" b="1">
                <a:solidFill>
                  <a:srgbClr val="203B4C"/>
                </a:solidFill>
                <a:latin typeface="Lato"/>
              </a:defRPr>
            </a:pPr>
            <a:r>
              <a:t>+ no remaining human-authority block</a:t>
            </a:r>
          </a:p>
        </p:txBody>
      </p:sp>
      <p:sp>
        <p:nvSpPr>
          <p:cNvPr id="24" name="Rounded Rectangle 23"/>
          <p:cNvSpPr/>
          <p:nvPr/>
        </p:nvSpPr>
        <p:spPr>
          <a:xfrm>
            <a:off x="9398000" y="4826000"/>
            <a:ext cx="8216900" cy="2044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7400" y="5029200"/>
            <a:ext cx="7594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REVIEW FRONTIER</a:t>
            </a:r>
          </a:p>
        </p:txBody>
      </p:sp>
      <p:sp>
        <p:nvSpPr>
          <p:cNvPr id="26" name="TextBox 25"/>
          <p:cNvSpPr txBox="1"/>
          <p:nvPr/>
        </p:nvSpPr>
        <p:spPr>
          <a:xfrm>
            <a:off x="9677400" y="5562600"/>
            <a:ext cx="7620000" cy="9906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203B4C"/>
                </a:solidFill>
                <a:latin typeface="Lato"/>
              </a:defRPr>
            </a:pPr>
            <a:r>
              <a:t>Review-eligible limits + economic hurdle</a:t>
            </a:r>
          </a:p>
          <a:p>
            <a:pPr algn="l">
              <a:lnSpc>
                <a:spcPts val="2668"/>
              </a:lnSpc>
              <a:spcBef>
                <a:spcPts val="0"/>
              </a:spcBef>
              <a:spcAft>
                <a:spcPts val="0"/>
              </a:spcAft>
              <a:defRPr sz="2300" b="1">
                <a:solidFill>
                  <a:srgbClr val="203B4C"/>
                </a:solidFill>
                <a:latin typeface="Lato"/>
              </a:defRPr>
            </a:pPr>
            <a:r>
              <a:t>+ identified review requirements</a:t>
            </a:r>
          </a:p>
        </p:txBody>
      </p:sp>
      <p:sp>
        <p:nvSpPr>
          <p:cNvPr id="27" name="TextBox 26"/>
          <p:cNvSpPr txBox="1"/>
          <p:nvPr/>
        </p:nvSpPr>
        <p:spPr>
          <a:xfrm>
            <a:off x="762000" y="7150100"/>
            <a:ext cx="16789400" cy="4445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FFFFFF"/>
                </a:solidFill>
                <a:latin typeface="Lato"/>
              </a:defRPr>
            </a:pPr>
            <a:r>
              <a:t>Authority-first selection → preserve the matched-stress floor → retain the final decision record</a:t>
            </a:r>
          </a:p>
        </p:txBody>
      </p:sp>
      <p:sp>
        <p:nvSpPr>
          <p:cNvPr id="28" name="Rounded Rectangle 27"/>
          <p:cNvSpPr/>
          <p:nvPr/>
        </p:nvSpPr>
        <p:spPr>
          <a:xfrm>
            <a:off x="685800" y="7950200"/>
            <a:ext cx="4000500" cy="1676400"/>
          </a:xfrm>
          <a:prstGeom prst="roundRect">
            <a:avLst>
              <a:gd name="adj" fmla="val 7000"/>
            </a:avLst>
          </a:prstGeom>
          <a:solidFill>
            <a:srgbClr val="23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1700" y="8140700"/>
            <a:ext cx="3556000" cy="5842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F2CB7E"/>
                </a:solidFill>
                <a:latin typeface="Noto Serif"/>
              </a:defRPr>
            </a:pPr>
            <a:r>
              <a:t>40%</a:t>
            </a:r>
          </a:p>
        </p:txBody>
      </p:sp>
      <p:sp>
        <p:nvSpPr>
          <p:cNvPr id="30" name="TextBox 29"/>
          <p:cNvSpPr txBox="1"/>
          <p:nvPr/>
        </p:nvSpPr>
        <p:spPr>
          <a:xfrm>
            <a:off x="901700" y="8788400"/>
            <a:ext cx="3556000" cy="723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FFFFFF"/>
                </a:solidFill>
                <a:latin typeface="Lato"/>
              </a:defRPr>
            </a:pPr>
            <a:r>
              <a:t>Min. amount / request</a:t>
            </a:r>
          </a:p>
          <a:p>
            <a:pPr algn="l">
              <a:lnSpc>
                <a:spcPts val="2088"/>
              </a:lnSpc>
              <a:spcBef>
                <a:spcPts val="0"/>
              </a:spcBef>
              <a:spcAft>
                <a:spcPts val="0"/>
              </a:spcAft>
              <a:defRPr sz="1800" b="0">
                <a:solidFill>
                  <a:srgbClr val="FFFFFF"/>
                </a:solidFill>
                <a:latin typeface="Lato"/>
              </a:defRPr>
            </a:pPr>
            <a:r>
              <a:t>Max. reduction: 60%</a:t>
            </a:r>
          </a:p>
        </p:txBody>
      </p:sp>
      <p:sp>
        <p:nvSpPr>
          <p:cNvPr id="31" name="Rounded Rectangle 30"/>
          <p:cNvSpPr/>
          <p:nvPr/>
        </p:nvSpPr>
        <p:spPr>
          <a:xfrm>
            <a:off x="4965700" y="7950200"/>
            <a:ext cx="4000500" cy="1676400"/>
          </a:xfrm>
          <a:prstGeom prst="roundRect">
            <a:avLst>
              <a:gd name="adj" fmla="val 7000"/>
            </a:avLst>
          </a:prstGeom>
          <a:solidFill>
            <a:srgbClr val="23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81600" y="8140700"/>
            <a:ext cx="3556000" cy="5842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F2CB7E"/>
                </a:solidFill>
                <a:latin typeface="Noto Serif"/>
              </a:defRPr>
            </a:pPr>
            <a:r>
              <a:t>30 / 60 / 90</a:t>
            </a:r>
          </a:p>
        </p:txBody>
      </p:sp>
      <p:sp>
        <p:nvSpPr>
          <p:cNvPr id="33" name="TextBox 32"/>
          <p:cNvSpPr txBox="1"/>
          <p:nvPr/>
        </p:nvSpPr>
        <p:spPr>
          <a:xfrm>
            <a:off x="5181600" y="8788400"/>
            <a:ext cx="3556000" cy="723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FFFFFF"/>
                </a:solidFill>
                <a:latin typeface="Lato"/>
              </a:defRPr>
            </a:pPr>
            <a:r>
              <a:t>Supported horizons</a:t>
            </a:r>
          </a:p>
          <a:p>
            <a:pPr algn="l">
              <a:lnSpc>
                <a:spcPts val="2088"/>
              </a:lnSpc>
              <a:spcBef>
                <a:spcPts val="0"/>
              </a:spcBef>
              <a:spcAft>
                <a:spcPts val="0"/>
              </a:spcAft>
              <a:defRPr sz="1800" b="0">
                <a:solidFill>
                  <a:srgbClr val="FFFFFF"/>
                </a:solidFill>
                <a:latin typeface="Lato"/>
              </a:defRPr>
            </a:pPr>
            <a:r>
              <a:t>in days</a:t>
            </a:r>
          </a:p>
        </p:txBody>
      </p:sp>
      <p:sp>
        <p:nvSpPr>
          <p:cNvPr id="34" name="Rounded Rectangle 33"/>
          <p:cNvSpPr/>
          <p:nvPr/>
        </p:nvSpPr>
        <p:spPr>
          <a:xfrm>
            <a:off x="9245600" y="7950200"/>
            <a:ext cx="4000500" cy="1676400"/>
          </a:xfrm>
          <a:prstGeom prst="roundRect">
            <a:avLst>
              <a:gd name="adj" fmla="val 7000"/>
            </a:avLst>
          </a:prstGeom>
          <a:solidFill>
            <a:srgbClr val="23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61500" y="8140700"/>
            <a:ext cx="3556000" cy="5842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F2CB7E"/>
                </a:solidFill>
                <a:latin typeface="Noto Serif"/>
              </a:defRPr>
            </a:pPr>
            <a:r>
              <a:t>0% / 2%</a:t>
            </a:r>
          </a:p>
        </p:txBody>
      </p:sp>
      <p:sp>
        <p:nvSpPr>
          <p:cNvPr id="36" name="TextBox 35"/>
          <p:cNvSpPr txBox="1"/>
          <p:nvPr/>
        </p:nvSpPr>
        <p:spPr>
          <a:xfrm>
            <a:off x="9461500" y="8788400"/>
            <a:ext cx="3556000" cy="723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FFFFFF"/>
                </a:solidFill>
                <a:latin typeface="Lato"/>
              </a:defRPr>
            </a:pPr>
            <a:r>
              <a:t>Repayment increase:</a:t>
            </a:r>
          </a:p>
          <a:p>
            <a:pPr algn="l">
              <a:lnSpc>
                <a:spcPts val="2088"/>
              </a:lnSpc>
              <a:spcBef>
                <a:spcPts val="0"/>
              </a:spcBef>
              <a:spcAft>
                <a:spcPts val="0"/>
              </a:spcAft>
              <a:defRPr sz="1800" b="0">
                <a:solidFill>
                  <a:srgbClr val="FFFFFF"/>
                </a:solidFill>
                <a:latin typeface="Lato"/>
              </a:defRPr>
            </a:pPr>
            <a:r>
              <a:t>automatic / review</a:t>
            </a:r>
          </a:p>
        </p:txBody>
      </p:sp>
      <p:sp>
        <p:nvSpPr>
          <p:cNvPr id="37" name="Rounded Rectangle 36"/>
          <p:cNvSpPr/>
          <p:nvPr/>
        </p:nvSpPr>
        <p:spPr>
          <a:xfrm>
            <a:off x="13525500" y="7950200"/>
            <a:ext cx="4000500" cy="1676400"/>
          </a:xfrm>
          <a:prstGeom prst="roundRect">
            <a:avLst>
              <a:gd name="adj" fmla="val 7000"/>
            </a:avLst>
          </a:prstGeom>
          <a:solidFill>
            <a:srgbClr val="23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741400" y="8140700"/>
            <a:ext cx="3556000" cy="5842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F2CB7E"/>
                </a:solidFill>
                <a:latin typeface="Noto Serif"/>
              </a:defRPr>
            </a:pPr>
            <a:r>
              <a:t>6,519</a:t>
            </a:r>
          </a:p>
        </p:txBody>
      </p:sp>
      <p:sp>
        <p:nvSpPr>
          <p:cNvPr id="39" name="TextBox 38"/>
          <p:cNvSpPr txBox="1"/>
          <p:nvPr/>
        </p:nvSpPr>
        <p:spPr>
          <a:xfrm>
            <a:off x="13741400" y="8788400"/>
            <a:ext cx="3556000" cy="723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FFFFFF"/>
                </a:solidFill>
                <a:latin typeface="Lato"/>
              </a:defRPr>
            </a:pPr>
            <a:r>
              <a:t>Reportable structures</a:t>
            </a:r>
          </a:p>
          <a:p>
            <a:pPr algn="l">
              <a:lnSpc>
                <a:spcPts val="2088"/>
              </a:lnSpc>
              <a:spcBef>
                <a:spcPts val="0"/>
              </a:spcBef>
              <a:spcAft>
                <a:spcPts val="0"/>
              </a:spcAft>
              <a:defRPr sz="1800" b="0">
                <a:solidFill>
                  <a:srgbClr val="FFFFFF"/>
                </a:solidFill>
                <a:latin typeface="Lato"/>
              </a:defRPr>
            </a:pPr>
            <a:r>
              <a:t>—not approvals</a:t>
            </a:r>
          </a:p>
        </p:txBody>
      </p:sp>
      <p:sp>
        <p:nvSpPr>
          <p:cNvPr id="40" name="TextBox 39"/>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91D5C9"/>
                </a:solidFill>
                <a:latin typeface="Lato"/>
              </a:defRPr>
            </a:pPr>
            <a:r>
              <a:t>Repayment guardrails use total target—not APR—with a $0.01 source rounding tolerance. Both frontiers require economics.</a:t>
            </a:r>
          </a:p>
        </p:txBody>
      </p:sp>
      <p:sp>
        <p:nvSpPr>
          <p:cNvPr id="41" name="Rounded Rectangle 40"/>
          <p:cNvSpPr/>
          <p:nvPr/>
        </p:nvSpPr>
        <p:spPr>
          <a:xfrm>
            <a:off x="685800" y="10604500"/>
            <a:ext cx="9994900" cy="1041400"/>
          </a:xfrm>
          <a:prstGeom prst="roundRect">
            <a:avLst>
              <a:gd name="adj" fmla="val 7000"/>
            </a:avLst>
          </a:prstGeom>
          <a:solidFill>
            <a:srgbClr val="2E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F1C56C"/>
                </a:solidFill>
                <a:latin typeface="Lato"/>
              </a:defRPr>
            </a:pPr>
            <a:r>
              <a:t>TRY IT</a:t>
            </a:r>
          </a:p>
        </p:txBody>
      </p:sp>
      <p:sp>
        <p:nvSpPr>
          <p:cNvPr id="43" name="TextBox 42"/>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FFFFFF"/>
                </a:solidFill>
                <a:latin typeface="Lato"/>
              </a:defRPr>
            </a:pPr>
            <a:r>
              <a:t>Can higher modeled return admit a candidate below the 40% amount floor?</a:t>
            </a:r>
          </a:p>
        </p:txBody>
      </p:sp>
      <p:sp>
        <p:nvSpPr>
          <p:cNvPr id="44" name="Rounded Rectangle 43"/>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46" name="TextBox 45"/>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Policy admissibility and feasibility come before</a:t>
            </a:r>
          </a:p>
          <a:p>
            <a:pPr algn="l">
              <a:lnSpc>
                <a:spcPts val="1913"/>
              </a:lnSpc>
              <a:spcBef>
                <a:spcPts val="0"/>
              </a:spcBef>
              <a:spcAft>
                <a:spcPts val="0"/>
              </a:spcAft>
              <a:defRPr sz="1650" b="0">
                <a:solidFill>
                  <a:srgbClr val="FFFFFF"/>
                </a:solidFill>
                <a:latin typeface="Lato"/>
              </a:defRPr>
            </a:pPr>
            <a:r>
              <a:t>preference. The objective cannot waive a boundary.</a:t>
            </a:r>
          </a:p>
        </p:txBody>
      </p:sp>
      <p:sp>
        <p:nvSpPr>
          <p:cNvPr id="47" name="TextBox 46"/>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D7E4EA"/>
                </a:solidFill>
                <a:latin typeface="Lato"/>
              </a:defRPr>
            </a:pPr>
            <a:r>
              <a:t>Andrew R. Goad · Synthetic MSBF · Non-production · No real funds</a:t>
            </a:r>
          </a:p>
        </p:txBody>
      </p:sp>
      <p:sp>
        <p:nvSpPr>
          <p:cNvPr id="48" name="TextBox 47"/>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D7E4EA"/>
                </a:solidFill>
                <a:latin typeface="Lato"/>
              </a:defRPr>
            </a:pPr>
            <a:r>
              <a:t>Evidence S09, S10, S12, S13 | 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III SEARCH &amp; DECIDE</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Candidate lab: where the boundary moves</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12</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082 / Baseline. Compare actual exported candidates—not a hypothetical search result.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2603500" cy="3810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187700"/>
            <a:ext cx="24003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CASE 082 / BASELINE</a:t>
            </a:r>
          </a:p>
        </p:txBody>
      </p:sp>
      <p:sp>
        <p:nvSpPr>
          <p:cNvPr id="11" name="TextBox 10"/>
          <p:cNvSpPr txBox="1"/>
          <p:nvPr/>
        </p:nvSpPr>
        <p:spPr>
          <a:xfrm>
            <a:off x="3530600" y="3175000"/>
            <a:ext cx="13995400" cy="7112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58707B"/>
                </a:solidFill>
                <a:latin typeface="Lato"/>
              </a:defRPr>
            </a:pPr>
            <a:r>
              <a:t>Sales $5,005.02/day · Existing payments $547.51/day</a:t>
            </a:r>
          </a:p>
          <a:p>
            <a:pPr algn="l">
              <a:lnSpc>
                <a:spcPts val="2088"/>
              </a:lnSpc>
              <a:spcBef>
                <a:spcPts val="0"/>
              </a:spcBef>
              <a:spcAft>
                <a:spcPts val="0"/>
              </a:spcAft>
              <a:defRPr sz="1800" b="0">
                <a:solidFill>
                  <a:srgbClr val="58707B"/>
                </a:solidFill>
                <a:latin typeface="Lato"/>
              </a:defRPr>
            </a:pPr>
            <a:r>
              <a:t>All rows: 13.0606% remittance · 1.255266× payback · 60 days</a:t>
            </a:r>
          </a:p>
        </p:txBody>
      </p:sp>
      <p:sp>
        <p:nvSpPr>
          <p:cNvPr id="12" name="Rectangle 11"/>
          <p:cNvSpPr/>
          <p:nvPr/>
        </p:nvSpPr>
        <p:spPr>
          <a:xfrm>
            <a:off x="685800" y="4165600"/>
            <a:ext cx="21717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4279900"/>
            <a:ext cx="18669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AMOUNT</a:t>
            </a:r>
          </a:p>
        </p:txBody>
      </p:sp>
      <p:sp>
        <p:nvSpPr>
          <p:cNvPr id="14" name="Rectangle 13"/>
          <p:cNvSpPr/>
          <p:nvPr/>
        </p:nvSpPr>
        <p:spPr>
          <a:xfrm>
            <a:off x="2857500" y="4165600"/>
            <a:ext cx="22860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9900" y="4279900"/>
            <a:ext cx="19812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COVERAGE</a:t>
            </a:r>
          </a:p>
        </p:txBody>
      </p:sp>
      <p:sp>
        <p:nvSpPr>
          <p:cNvPr id="16" name="Rectangle 15"/>
          <p:cNvSpPr/>
          <p:nvPr/>
        </p:nvSpPr>
        <p:spPr>
          <a:xfrm>
            <a:off x="5143500" y="4165600"/>
            <a:ext cx="24384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5900" y="4279900"/>
            <a:ext cx="21336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BURDEN / SALES</a:t>
            </a:r>
          </a:p>
        </p:txBody>
      </p:sp>
      <p:sp>
        <p:nvSpPr>
          <p:cNvPr id="18" name="Rectangle 17"/>
          <p:cNvSpPr/>
          <p:nvPr/>
        </p:nvSpPr>
        <p:spPr>
          <a:xfrm>
            <a:off x="7581900" y="4165600"/>
            <a:ext cx="34544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34300" y="4279900"/>
            <a:ext cx="31496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SOURCE STATUS</a:t>
            </a:r>
          </a:p>
        </p:txBody>
      </p:sp>
      <p:sp>
        <p:nvSpPr>
          <p:cNvPr id="20" name="Rectangle 19"/>
          <p:cNvSpPr/>
          <p:nvPr/>
        </p:nvSpPr>
        <p:spPr>
          <a:xfrm>
            <a:off x="11036300" y="4165600"/>
            <a:ext cx="65786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88700" y="4279900"/>
            <a:ext cx="62738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BINDING EXPLANATION</a:t>
            </a:r>
          </a:p>
        </p:txBody>
      </p:sp>
      <p:sp>
        <p:nvSpPr>
          <p:cNvPr id="22" name="Rectangle 21"/>
          <p:cNvSpPr/>
          <p:nvPr/>
        </p:nvSpPr>
        <p:spPr>
          <a:xfrm>
            <a:off x="685800" y="4648200"/>
            <a:ext cx="21717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 y="4800600"/>
            <a:ext cx="18669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$53,800</a:t>
            </a:r>
          </a:p>
        </p:txBody>
      </p:sp>
      <p:sp>
        <p:nvSpPr>
          <p:cNvPr id="24" name="Rectangle 23"/>
          <p:cNvSpPr/>
          <p:nvPr/>
        </p:nvSpPr>
        <p:spPr>
          <a:xfrm>
            <a:off x="2857500" y="4648200"/>
            <a:ext cx="22860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09900" y="4800600"/>
            <a:ext cx="19812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B44F3C"/>
                </a:solidFill>
                <a:latin typeface="Lato"/>
              </a:defRPr>
            </a:pPr>
            <a:r>
              <a:t>0.7180×</a:t>
            </a:r>
          </a:p>
        </p:txBody>
      </p:sp>
      <p:sp>
        <p:nvSpPr>
          <p:cNvPr id="26" name="Rectangle 25"/>
          <p:cNvSpPr/>
          <p:nvPr/>
        </p:nvSpPr>
        <p:spPr>
          <a:xfrm>
            <a:off x="5143500" y="4648200"/>
            <a:ext cx="24384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95900" y="4800600"/>
            <a:ext cx="2133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33.4278%</a:t>
            </a:r>
          </a:p>
        </p:txBody>
      </p:sp>
      <p:sp>
        <p:nvSpPr>
          <p:cNvPr id="28" name="Rectangle 27"/>
          <p:cNvSpPr/>
          <p:nvPr/>
        </p:nvSpPr>
        <p:spPr>
          <a:xfrm>
            <a:off x="7581900" y="4648200"/>
            <a:ext cx="34544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34300" y="4800600"/>
            <a:ext cx="3149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INFEASIBLE</a:t>
            </a:r>
          </a:p>
        </p:txBody>
      </p:sp>
      <p:sp>
        <p:nvSpPr>
          <p:cNvPr id="30" name="Rectangle 29"/>
          <p:cNvSpPr/>
          <p:nvPr/>
        </p:nvSpPr>
        <p:spPr>
          <a:xfrm>
            <a:off x="11036300" y="4648200"/>
            <a:ext cx="65786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88700" y="4800600"/>
            <a:ext cx="62738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Requested capacity fails</a:t>
            </a:r>
          </a:p>
        </p:txBody>
      </p:sp>
      <p:cxnSp>
        <p:nvCxnSpPr>
          <p:cNvPr id="32" name="Connector 31"/>
          <p:cNvCxnSpPr/>
          <p:nvPr/>
        </p:nvCxnSpPr>
        <p:spPr>
          <a:xfrm>
            <a:off x="685800" y="5410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85800" y="5410200"/>
            <a:ext cx="21717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200" y="5562600"/>
            <a:ext cx="18669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$31,300</a:t>
            </a:r>
          </a:p>
        </p:txBody>
      </p:sp>
      <p:sp>
        <p:nvSpPr>
          <p:cNvPr id="35" name="Rectangle 34"/>
          <p:cNvSpPr/>
          <p:nvPr/>
        </p:nvSpPr>
        <p:spPr>
          <a:xfrm>
            <a:off x="2857500" y="5410200"/>
            <a:ext cx="2286000" cy="762000"/>
          </a:xfrm>
          <a:prstGeom prst="rect">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09900" y="5562600"/>
            <a:ext cx="19812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B44F3C"/>
                </a:solidFill>
                <a:latin typeface="Lato"/>
              </a:defRPr>
            </a:pPr>
            <a:r>
              <a:t>0.9991×</a:t>
            </a:r>
          </a:p>
        </p:txBody>
      </p:sp>
      <p:sp>
        <p:nvSpPr>
          <p:cNvPr id="37" name="Rectangle 36"/>
          <p:cNvSpPr/>
          <p:nvPr/>
        </p:nvSpPr>
        <p:spPr>
          <a:xfrm>
            <a:off x="5143500" y="5410200"/>
            <a:ext cx="24384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95900" y="5562600"/>
            <a:ext cx="2133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24.0227%</a:t>
            </a:r>
          </a:p>
        </p:txBody>
      </p:sp>
      <p:sp>
        <p:nvSpPr>
          <p:cNvPr id="39" name="Rectangle 38"/>
          <p:cNvSpPr/>
          <p:nvPr/>
        </p:nvSpPr>
        <p:spPr>
          <a:xfrm>
            <a:off x="7581900" y="5410200"/>
            <a:ext cx="34544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34300" y="5562600"/>
            <a:ext cx="3149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INFEASIBLE</a:t>
            </a:r>
          </a:p>
        </p:txBody>
      </p:sp>
      <p:sp>
        <p:nvSpPr>
          <p:cNvPr id="41" name="Rectangle 40"/>
          <p:cNvSpPr/>
          <p:nvPr/>
        </p:nvSpPr>
        <p:spPr>
          <a:xfrm>
            <a:off x="11036300" y="5410200"/>
            <a:ext cx="65786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188700" y="5562600"/>
            <a:ext cx="62738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Still below 1.00× review coverage</a:t>
            </a:r>
          </a:p>
        </p:txBody>
      </p:sp>
      <p:cxnSp>
        <p:nvCxnSpPr>
          <p:cNvPr id="43" name="Connector 42"/>
          <p:cNvCxnSpPr/>
          <p:nvPr/>
        </p:nvCxnSpPr>
        <p:spPr>
          <a:xfrm>
            <a:off x="685800" y="6172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85800" y="6172200"/>
            <a:ext cx="2171700" cy="7620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200" y="6324600"/>
            <a:ext cx="18669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$31,200</a:t>
            </a:r>
          </a:p>
        </p:txBody>
      </p:sp>
      <p:sp>
        <p:nvSpPr>
          <p:cNvPr id="46" name="Rectangle 45"/>
          <p:cNvSpPr/>
          <p:nvPr/>
        </p:nvSpPr>
        <p:spPr>
          <a:xfrm>
            <a:off x="2857500" y="6172200"/>
            <a:ext cx="2286000" cy="7620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09900" y="6324600"/>
            <a:ext cx="19812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1.0000×</a:t>
            </a:r>
          </a:p>
        </p:txBody>
      </p:sp>
      <p:sp>
        <p:nvSpPr>
          <p:cNvPr id="48" name="Rectangle 47"/>
          <p:cNvSpPr/>
          <p:nvPr/>
        </p:nvSpPr>
        <p:spPr>
          <a:xfrm>
            <a:off x="5143500" y="6172200"/>
            <a:ext cx="2438400" cy="7620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95900" y="6324600"/>
            <a:ext cx="2133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23.9999%</a:t>
            </a:r>
          </a:p>
        </p:txBody>
      </p:sp>
      <p:sp>
        <p:nvSpPr>
          <p:cNvPr id="50" name="Rectangle 49"/>
          <p:cNvSpPr/>
          <p:nvPr/>
        </p:nvSpPr>
        <p:spPr>
          <a:xfrm>
            <a:off x="7581900" y="6172200"/>
            <a:ext cx="3454400" cy="7620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34300" y="6324600"/>
            <a:ext cx="3149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REVIEW ELIGIBLE</a:t>
            </a:r>
          </a:p>
        </p:txBody>
      </p:sp>
      <p:sp>
        <p:nvSpPr>
          <p:cNvPr id="52" name="Rectangle 51"/>
          <p:cNvSpPr/>
          <p:nvPr/>
        </p:nvSpPr>
        <p:spPr>
          <a:xfrm>
            <a:off x="11036300" y="6172200"/>
            <a:ext cx="6578600" cy="7620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188700" y="6324600"/>
            <a:ext cx="62738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203B4C"/>
                </a:solidFill>
                <a:latin typeface="Lato"/>
              </a:defRPr>
            </a:pPr>
            <a:r>
              <a:t>Selected—but capacity + judgment review remain</a:t>
            </a:r>
          </a:p>
        </p:txBody>
      </p:sp>
      <p:cxnSp>
        <p:nvCxnSpPr>
          <p:cNvPr id="54" name="Connector 53"/>
          <p:cNvCxnSpPr/>
          <p:nvPr/>
        </p:nvCxnSpPr>
        <p:spPr>
          <a:xfrm>
            <a:off x="685800" y="6934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85800" y="6934200"/>
            <a:ext cx="21717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8200" y="7086600"/>
            <a:ext cx="18669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$31,100</a:t>
            </a:r>
          </a:p>
        </p:txBody>
      </p:sp>
      <p:sp>
        <p:nvSpPr>
          <p:cNvPr id="57" name="Rectangle 56"/>
          <p:cNvSpPr/>
          <p:nvPr/>
        </p:nvSpPr>
        <p:spPr>
          <a:xfrm>
            <a:off x="2857500" y="6934200"/>
            <a:ext cx="22860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09900" y="7086600"/>
            <a:ext cx="19812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1.0000×</a:t>
            </a:r>
          </a:p>
        </p:txBody>
      </p:sp>
      <p:sp>
        <p:nvSpPr>
          <p:cNvPr id="59" name="Rectangle 58"/>
          <p:cNvSpPr/>
          <p:nvPr/>
        </p:nvSpPr>
        <p:spPr>
          <a:xfrm>
            <a:off x="5143500" y="6934200"/>
            <a:ext cx="24384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95900" y="7086600"/>
            <a:ext cx="2133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23.9999%</a:t>
            </a:r>
          </a:p>
        </p:txBody>
      </p:sp>
      <p:sp>
        <p:nvSpPr>
          <p:cNvPr id="61" name="Rectangle 60"/>
          <p:cNvSpPr/>
          <p:nvPr/>
        </p:nvSpPr>
        <p:spPr>
          <a:xfrm>
            <a:off x="7581900" y="6934200"/>
            <a:ext cx="34544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34300" y="7086600"/>
            <a:ext cx="3149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REVIEW ELIGIBLE</a:t>
            </a:r>
          </a:p>
        </p:txBody>
      </p:sp>
      <p:sp>
        <p:nvSpPr>
          <p:cNvPr id="63" name="Rectangle 62"/>
          <p:cNvSpPr/>
          <p:nvPr/>
        </p:nvSpPr>
        <p:spPr>
          <a:xfrm>
            <a:off x="11036300" y="6934200"/>
            <a:ext cx="6578600" cy="7620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188700" y="7086600"/>
            <a:ext cx="62738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Not selected; same burden plateau</a:t>
            </a:r>
          </a:p>
        </p:txBody>
      </p:sp>
      <p:cxnSp>
        <p:nvCxnSpPr>
          <p:cNvPr id="65" name="Connector 64"/>
          <p:cNvCxnSpPr/>
          <p:nvPr/>
        </p:nvCxnSpPr>
        <p:spPr>
          <a:xfrm>
            <a:off x="685800" y="7696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85800" y="7696200"/>
            <a:ext cx="2171700" cy="762000"/>
          </a:xfrm>
          <a:prstGeom prst="rect">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8200" y="7848600"/>
            <a:ext cx="18669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B44F3C"/>
                </a:solidFill>
                <a:latin typeface="Lato"/>
              </a:defRPr>
            </a:pPr>
            <a:r>
              <a:t>$2,500</a:t>
            </a:r>
          </a:p>
        </p:txBody>
      </p:sp>
      <p:sp>
        <p:nvSpPr>
          <p:cNvPr id="68" name="Rectangle 67"/>
          <p:cNvSpPr/>
          <p:nvPr/>
        </p:nvSpPr>
        <p:spPr>
          <a:xfrm>
            <a:off x="2857500" y="7696200"/>
            <a:ext cx="22860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09900" y="7848600"/>
            <a:ext cx="19812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1.0000×</a:t>
            </a:r>
          </a:p>
        </p:txBody>
      </p:sp>
      <p:sp>
        <p:nvSpPr>
          <p:cNvPr id="70" name="Rectangle 69"/>
          <p:cNvSpPr/>
          <p:nvPr/>
        </p:nvSpPr>
        <p:spPr>
          <a:xfrm>
            <a:off x="5143500" y="7696200"/>
            <a:ext cx="24384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295900" y="7848600"/>
            <a:ext cx="2133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23.9999%</a:t>
            </a:r>
          </a:p>
        </p:txBody>
      </p:sp>
      <p:sp>
        <p:nvSpPr>
          <p:cNvPr id="72" name="Rectangle 71"/>
          <p:cNvSpPr/>
          <p:nvPr/>
        </p:nvSpPr>
        <p:spPr>
          <a:xfrm>
            <a:off x="7581900" y="7696200"/>
            <a:ext cx="34544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34300" y="7848600"/>
            <a:ext cx="31496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INFEASIBLE</a:t>
            </a:r>
          </a:p>
        </p:txBody>
      </p:sp>
      <p:sp>
        <p:nvSpPr>
          <p:cNvPr id="74" name="Rectangle 73"/>
          <p:cNvSpPr/>
          <p:nvPr/>
        </p:nvSpPr>
        <p:spPr>
          <a:xfrm>
            <a:off x="11036300" y="7696200"/>
            <a:ext cx="6578600" cy="76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188700" y="7848600"/>
            <a:ext cx="6273800" cy="596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Below the $21,520 minimum amount</a:t>
            </a:r>
          </a:p>
        </p:txBody>
      </p:sp>
      <p:cxnSp>
        <p:nvCxnSpPr>
          <p:cNvPr id="76" name="Connector 75"/>
          <p:cNvCxnSpPr/>
          <p:nvPr/>
        </p:nvCxnSpPr>
        <p:spPr>
          <a:xfrm>
            <a:off x="685800" y="84582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685800" y="8801100"/>
            <a:ext cx="9398000" cy="9525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7100" y="9017000"/>
            <a:ext cx="8890000" cy="6477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$31,300 → $31,200 crosses review feasibility.</a:t>
            </a:r>
          </a:p>
          <a:p>
            <a:pPr algn="l">
              <a:lnSpc>
                <a:spcPts val="2436"/>
              </a:lnSpc>
              <a:spcBef>
                <a:spcPts val="0"/>
              </a:spcBef>
              <a:spcAft>
                <a:spcPts val="0"/>
              </a:spcAft>
              <a:defRPr sz="2100" b="1">
                <a:solidFill>
                  <a:srgbClr val="203B4C"/>
                </a:solidFill>
                <a:latin typeface="Lato"/>
              </a:defRPr>
            </a:pPr>
            <a:r>
              <a:t>It does not cross into automatic authority.</a:t>
            </a:r>
          </a:p>
        </p:txBody>
      </p:sp>
      <p:sp>
        <p:nvSpPr>
          <p:cNvPr id="79" name="TextBox 78"/>
          <p:cNvSpPr txBox="1"/>
          <p:nvPr/>
        </p:nvSpPr>
        <p:spPr>
          <a:xfrm>
            <a:off x="10477500" y="8877300"/>
            <a:ext cx="7124700" cy="8509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At lower amounts, the sales-share leg binds. Further principal</a:t>
            </a:r>
          </a:p>
          <a:p>
            <a:pPr algn="l">
              <a:lnSpc>
                <a:spcPts val="2320"/>
              </a:lnSpc>
              <a:spcBef>
                <a:spcPts val="0"/>
              </a:spcBef>
              <a:spcAft>
                <a:spcPts val="0"/>
              </a:spcAft>
              <a:defRPr sz="2000" b="1">
                <a:solidFill>
                  <a:srgbClr val="147D77"/>
                </a:solidFill>
                <a:latin typeface="Lato"/>
              </a:defRPr>
            </a:pPr>
            <a:r>
              <a:t>reduction need not reduce burden.</a:t>
            </a:r>
          </a:p>
        </p:txBody>
      </p:sp>
      <p:sp>
        <p:nvSpPr>
          <p:cNvPr id="80" name="TextBox 79"/>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Do not round 0.9991× up to 1.00×. The actual boundary, selected flags and final authority govern.</a:t>
            </a:r>
          </a:p>
        </p:txBody>
      </p:sp>
      <p:sp>
        <p:nvSpPr>
          <p:cNvPr id="81" name="Rounded Rectangle 80"/>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83" name="TextBox 82"/>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does the $2,500 candidate fail despite 1.00× coverage?</a:t>
            </a:r>
          </a:p>
        </p:txBody>
      </p:sp>
      <p:sp>
        <p:nvSpPr>
          <p:cNvPr id="84" name="Rounded Rectangle 83"/>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86" name="TextBox 85"/>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It is 4.65% of the $53,800 request—below the 40% floor</a:t>
            </a:r>
          </a:p>
          <a:p>
            <a:pPr algn="l">
              <a:lnSpc>
                <a:spcPts val="1913"/>
              </a:lnSpc>
              <a:spcBef>
                <a:spcPts val="0"/>
              </a:spcBef>
              <a:spcAft>
                <a:spcPts val="0"/>
              </a:spcAft>
              <a:defRPr sz="1650" b="0">
                <a:solidFill>
                  <a:srgbClr val="FFFFFF"/>
                </a:solidFill>
                <a:latin typeface="Lato"/>
              </a:defRPr>
            </a:pPr>
            <a:r>
              <a:t>($21,520). Passing capacity cannot override it.</a:t>
            </a:r>
          </a:p>
        </p:txBody>
      </p:sp>
      <p:sp>
        <p:nvSpPr>
          <p:cNvPr id="87" name="TextBox 86"/>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88" name="TextBox 87"/>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S12, S13 | 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F7F2"/>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III SEARCH &amp; DECIDE</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A supportable structure still needs authority</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13</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082 / Baseline. Two distinct reasons keep the selected alternative on a review path.</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4927600" cy="65532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3300" y="3403600"/>
            <a:ext cx="863600" cy="8636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3300" y="3594100"/>
            <a:ext cx="863600" cy="457200"/>
          </a:xfrm>
          <a:prstGeom prst="rect">
            <a:avLst/>
          </a:prstGeom>
          <a:noFill/>
          <a:effectLst/>
        </p:spPr>
        <p:txBody>
          <a:bodyPr wrap="none" lIns="0" rIns="0" tIns="0" bIns="0" anchor="t">
            <a:spAutoFit/>
          </a:bodyPr>
          <a:lstStyle/>
          <a:p>
            <a:pPr algn="ctr">
              <a:lnSpc>
                <a:spcPts val="3015"/>
              </a:lnSpc>
              <a:spcBef>
                <a:spcPts val="0"/>
              </a:spcBef>
              <a:spcAft>
                <a:spcPts val="0"/>
              </a:spcAft>
              <a:defRPr sz="2600" b="1">
                <a:solidFill>
                  <a:srgbClr val="FFFFFF"/>
                </a:solidFill>
                <a:latin typeface="Lato"/>
              </a:defRPr>
            </a:pPr>
            <a:r>
              <a:t>082</a:t>
            </a:r>
          </a:p>
        </p:txBody>
      </p:sp>
      <p:sp>
        <p:nvSpPr>
          <p:cNvPr id="12" name="TextBox 11"/>
          <p:cNvSpPr txBox="1"/>
          <p:nvPr/>
        </p:nvSpPr>
        <p:spPr>
          <a:xfrm>
            <a:off x="2095500" y="3568700"/>
            <a:ext cx="3175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8DD4C5"/>
                </a:solidFill>
                <a:latin typeface="Lato"/>
              </a:defRPr>
            </a:pPr>
            <a:r>
              <a:t>BASELINE CASE</a:t>
            </a:r>
          </a:p>
        </p:txBody>
      </p:sp>
      <p:sp>
        <p:nvSpPr>
          <p:cNvPr id="13" name="TextBox 12"/>
          <p:cNvSpPr txBox="1"/>
          <p:nvPr/>
        </p:nvSpPr>
        <p:spPr>
          <a:xfrm>
            <a:off x="990600" y="4699000"/>
            <a:ext cx="4318000" cy="723900"/>
          </a:xfrm>
          <a:prstGeom prst="rect">
            <a:avLst/>
          </a:prstGeom>
          <a:noFill/>
          <a:effectLst/>
        </p:spPr>
        <p:txBody>
          <a:bodyPr wrap="none" lIns="0" rIns="0" tIns="0" bIns="0" anchor="t">
            <a:spAutoFit/>
          </a:bodyPr>
          <a:lstStyle/>
          <a:p>
            <a:pPr algn="l">
              <a:lnSpc>
                <a:spcPts val="5220"/>
              </a:lnSpc>
              <a:spcBef>
                <a:spcPts val="0"/>
              </a:spcBef>
              <a:spcAft>
                <a:spcPts val="0"/>
              </a:spcAft>
              <a:defRPr sz="4500" b="0">
                <a:solidFill>
                  <a:srgbClr val="FFFFFF"/>
                </a:solidFill>
                <a:latin typeface="Noto Serif"/>
              </a:defRPr>
            </a:pPr>
            <a:r>
              <a:t>$31,200</a:t>
            </a:r>
          </a:p>
        </p:txBody>
      </p:sp>
      <p:sp>
        <p:nvSpPr>
          <p:cNvPr id="14" name="TextBox 13"/>
          <p:cNvSpPr txBox="1"/>
          <p:nvPr/>
        </p:nvSpPr>
        <p:spPr>
          <a:xfrm>
            <a:off x="990600" y="5524500"/>
            <a:ext cx="4318000" cy="990600"/>
          </a:xfrm>
          <a:prstGeom prst="rect">
            <a:avLst/>
          </a:prstGeom>
          <a:noFill/>
          <a:effectLst/>
        </p:spPr>
        <p:txBody>
          <a:bodyPr wrap="none" lIns="0" rIns="0" tIns="0" bIns="0" anchor="t">
            <a:spAutoFit/>
          </a:bodyPr>
          <a:lstStyle/>
          <a:p>
            <a:pPr algn="l">
              <a:lnSpc>
                <a:spcPts val="2552"/>
              </a:lnSpc>
              <a:spcBef>
                <a:spcPts val="0"/>
              </a:spcBef>
              <a:spcAft>
                <a:spcPts val="0"/>
              </a:spcAft>
              <a:defRPr sz="2200" b="0">
                <a:solidFill>
                  <a:srgbClr val="D7E4EA"/>
                </a:solidFill>
                <a:latin typeface="Lato"/>
              </a:defRPr>
            </a:pPr>
            <a:r>
              <a:t>selected alternative</a:t>
            </a:r>
          </a:p>
          <a:p>
            <a:pPr algn="l">
              <a:lnSpc>
                <a:spcPts val="2552"/>
              </a:lnSpc>
              <a:spcBef>
                <a:spcPts val="0"/>
              </a:spcBef>
              <a:spcAft>
                <a:spcPts val="0"/>
              </a:spcAft>
              <a:defRPr sz="2200" b="0">
                <a:solidFill>
                  <a:srgbClr val="D7E4EA"/>
                </a:solidFill>
                <a:latin typeface="Lato"/>
              </a:defRPr>
            </a:pPr>
            <a:r>
              <a:t>from a $53,800 request</a:t>
            </a:r>
          </a:p>
        </p:txBody>
      </p:sp>
      <p:sp>
        <p:nvSpPr>
          <p:cNvPr id="15" name="TextBox 14"/>
          <p:cNvSpPr txBox="1"/>
          <p:nvPr/>
        </p:nvSpPr>
        <p:spPr>
          <a:xfrm>
            <a:off x="990600" y="6985000"/>
            <a:ext cx="4318000" cy="12192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13.0606% remittance</a:t>
            </a:r>
          </a:p>
          <a:p>
            <a:pPr algn="l">
              <a:lnSpc>
                <a:spcPts val="2436"/>
              </a:lnSpc>
              <a:spcBef>
                <a:spcPts val="0"/>
              </a:spcBef>
              <a:spcAft>
                <a:spcPts val="0"/>
              </a:spcAft>
              <a:defRPr sz="2100" b="0">
                <a:solidFill>
                  <a:srgbClr val="FFFFFF"/>
                </a:solidFill>
                <a:latin typeface="Lato"/>
              </a:defRPr>
            </a:pPr>
            <a:r>
              <a:t>60 days</a:t>
            </a:r>
          </a:p>
          <a:p>
            <a:pPr algn="l">
              <a:lnSpc>
                <a:spcPts val="2436"/>
              </a:lnSpc>
              <a:spcBef>
                <a:spcPts val="0"/>
              </a:spcBef>
              <a:spcAft>
                <a:spcPts val="0"/>
              </a:spcAft>
              <a:defRPr sz="2100" b="0">
                <a:solidFill>
                  <a:srgbClr val="FFFFFF"/>
                </a:solidFill>
                <a:latin typeface="Lato"/>
              </a:defRPr>
            </a:pPr>
            <a:r>
              <a:t>$39,164.30 target</a:t>
            </a:r>
          </a:p>
        </p:txBody>
      </p:sp>
      <p:sp>
        <p:nvSpPr>
          <p:cNvPr id="16" name="Rounded Rectangle 15"/>
          <p:cNvSpPr/>
          <p:nvPr/>
        </p:nvSpPr>
        <p:spPr>
          <a:xfrm>
            <a:off x="990600" y="8636000"/>
            <a:ext cx="4318000" cy="5969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2200" y="8712200"/>
            <a:ext cx="4114800" cy="4953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COUNTEROFFER REVIEW REQUIRED</a:t>
            </a:r>
          </a:p>
        </p:txBody>
      </p:sp>
      <p:sp>
        <p:nvSpPr>
          <p:cNvPr id="18" name="TextBox 17"/>
          <p:cNvSpPr txBox="1"/>
          <p:nvPr/>
        </p:nvSpPr>
        <p:spPr>
          <a:xfrm>
            <a:off x="6184900" y="3124200"/>
            <a:ext cx="108204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DIAGNOSE BOTH GATES — NOT ONLY THE FAVORABLE BUFFER</a:t>
            </a:r>
          </a:p>
        </p:txBody>
      </p:sp>
      <p:sp>
        <p:nvSpPr>
          <p:cNvPr id="19" name="Rounded Rectangle 18"/>
          <p:cNvSpPr/>
          <p:nvPr/>
        </p:nvSpPr>
        <p:spPr>
          <a:xfrm>
            <a:off x="6172200" y="3670300"/>
            <a:ext cx="5448300" cy="3327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8900" y="3937000"/>
            <a:ext cx="4889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GATE 1 / CAPACITY</a:t>
            </a:r>
          </a:p>
        </p:txBody>
      </p:sp>
      <p:sp>
        <p:nvSpPr>
          <p:cNvPr id="21" name="TextBox 20"/>
          <p:cNvSpPr txBox="1"/>
          <p:nvPr/>
        </p:nvSpPr>
        <p:spPr>
          <a:xfrm>
            <a:off x="6438900" y="4483100"/>
            <a:ext cx="4889500" cy="685800"/>
          </a:xfrm>
          <a:prstGeom prst="rect">
            <a:avLst/>
          </a:prstGeom>
          <a:noFill/>
          <a:effectLst/>
        </p:spPr>
        <p:txBody>
          <a:bodyPr wrap="none" lIns="0" rIns="0" tIns="0" bIns="0" anchor="t">
            <a:spAutoFit/>
          </a:bodyPr>
          <a:lstStyle/>
          <a:p>
            <a:pPr algn="l">
              <a:lnSpc>
                <a:spcPts val="3247"/>
              </a:lnSpc>
              <a:spcBef>
                <a:spcPts val="0"/>
              </a:spcBef>
              <a:spcAft>
                <a:spcPts val="0"/>
              </a:spcAft>
              <a:defRPr sz="2800" b="0">
                <a:solidFill>
                  <a:srgbClr val="203B4C"/>
                </a:solidFill>
                <a:latin typeface="Noto Serif"/>
              </a:defRPr>
            </a:pPr>
            <a:r>
              <a:t>Review—not strict</a:t>
            </a:r>
          </a:p>
        </p:txBody>
      </p:sp>
      <p:sp>
        <p:nvSpPr>
          <p:cNvPr id="22" name="TextBox 21"/>
          <p:cNvSpPr txBox="1"/>
          <p:nvPr/>
        </p:nvSpPr>
        <p:spPr>
          <a:xfrm>
            <a:off x="6438900" y="5257800"/>
            <a:ext cx="4889500" cy="15875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Coverage 1.0000× &lt; 1.25×</a:t>
            </a:r>
          </a:p>
          <a:p>
            <a:pPr algn="l">
              <a:lnSpc>
                <a:spcPts val="2204"/>
              </a:lnSpc>
              <a:spcBef>
                <a:spcPts val="0"/>
              </a:spcBef>
              <a:spcAft>
                <a:spcPts val="0"/>
              </a:spcAft>
              <a:defRPr sz="1900" b="0">
                <a:solidFill>
                  <a:srgbClr val="203B4C"/>
                </a:solidFill>
                <a:latin typeface="Lato"/>
              </a:defRPr>
            </a:pPr>
            <a:r>
              <a:t>Burden 23.9999% &gt; 22%</a:t>
            </a:r>
          </a:p>
          <a:p>
            <a:pPr algn="l">
              <a:lnSpc>
                <a:spcPts val="2204"/>
              </a:lnSpc>
              <a:spcBef>
                <a:spcPts val="0"/>
              </a:spcBef>
              <a:spcAft>
                <a:spcPts val="0"/>
              </a:spcAft>
              <a:defRPr sz="1900" b="0">
                <a:solidFill>
                  <a:srgbClr val="203B4C"/>
                </a:solidFill>
                <a:latin typeface="Lato"/>
              </a:defRPr>
            </a:pPr>
            <a:r>
              <a:t>Capacity tier 3 &gt; 2</a:t>
            </a:r>
          </a:p>
          <a:p>
            <a:pPr algn="l">
              <a:lnSpc>
                <a:spcPts val="2204"/>
              </a:lnSpc>
              <a:spcBef>
                <a:spcPts val="0"/>
              </a:spcBef>
              <a:spcAft>
                <a:spcPts val="0"/>
              </a:spcAft>
              <a:defRPr sz="1900" b="0">
                <a:solidFill>
                  <a:srgbClr val="203B4C"/>
                </a:solidFill>
                <a:latin typeface="Lato"/>
              </a:defRPr>
            </a:pPr>
            <a:r>
              <a:t>Buffer 189.8346 days is strong</a:t>
            </a:r>
          </a:p>
        </p:txBody>
      </p:sp>
      <p:sp>
        <p:nvSpPr>
          <p:cNvPr id="23" name="Rounded Rectangle 22"/>
          <p:cNvSpPr/>
          <p:nvPr/>
        </p:nvSpPr>
        <p:spPr>
          <a:xfrm>
            <a:off x="11925300" y="3670300"/>
            <a:ext cx="5689600" cy="3327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192000" y="3937000"/>
            <a:ext cx="50927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GATE 2 / HUMAN JUDGMENT</a:t>
            </a:r>
          </a:p>
        </p:txBody>
      </p:sp>
      <p:sp>
        <p:nvSpPr>
          <p:cNvPr id="25" name="TextBox 24"/>
          <p:cNvSpPr txBox="1"/>
          <p:nvPr/>
        </p:nvSpPr>
        <p:spPr>
          <a:xfrm>
            <a:off x="12192000" y="4483100"/>
            <a:ext cx="5092700" cy="685800"/>
          </a:xfrm>
          <a:prstGeom prst="rect">
            <a:avLst/>
          </a:prstGeom>
          <a:noFill/>
          <a:effectLst/>
        </p:spPr>
        <p:txBody>
          <a:bodyPr wrap="none" lIns="0" rIns="0" tIns="0" bIns="0" anchor="t">
            <a:spAutoFit/>
          </a:bodyPr>
          <a:lstStyle/>
          <a:p>
            <a:pPr algn="l">
              <a:lnSpc>
                <a:spcPts val="3247"/>
              </a:lnSpc>
              <a:spcBef>
                <a:spcPts val="0"/>
              </a:spcBef>
              <a:spcAft>
                <a:spcPts val="0"/>
              </a:spcAft>
              <a:defRPr sz="2800" b="0">
                <a:solidFill>
                  <a:srgbClr val="203B4C"/>
                </a:solidFill>
                <a:latin typeface="Noto Serif"/>
              </a:defRPr>
            </a:pPr>
            <a:r>
              <a:t>MEDIUM confidence</a:t>
            </a:r>
          </a:p>
        </p:txBody>
      </p:sp>
      <p:sp>
        <p:nvSpPr>
          <p:cNvPr id="26" name="TextBox 25"/>
          <p:cNvSpPr txBox="1"/>
          <p:nvPr/>
        </p:nvSpPr>
        <p:spPr>
          <a:xfrm>
            <a:off x="12192000" y="5257800"/>
            <a:ext cx="5067300" cy="13843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The source explicitly requires review.</a:t>
            </a:r>
          </a:p>
          <a:p>
            <a:pPr algn="l">
              <a:lnSpc>
                <a:spcPts val="2436"/>
              </a:lnSpc>
              <a:spcBef>
                <a:spcPts val="0"/>
              </a:spcBef>
              <a:spcAft>
                <a:spcPts val="0"/>
              </a:spcAft>
              <a:defRPr sz="2100" b="0">
                <a:solidFill>
                  <a:srgbClr val="203B4C"/>
                </a:solidFill>
                <a:latin typeface="Lato"/>
              </a:defRPr>
            </a:pPr>
            <a:r>
              <a:t>Raising coverage alone does not remove</a:t>
            </a:r>
          </a:p>
          <a:p>
            <a:pPr algn="l">
              <a:lnSpc>
                <a:spcPts val="2436"/>
              </a:lnSpc>
              <a:spcBef>
                <a:spcPts val="0"/>
              </a:spcBef>
              <a:spcAft>
                <a:spcPts val="0"/>
              </a:spcAft>
              <a:defRPr sz="2100" b="0">
                <a:solidFill>
                  <a:srgbClr val="203B4C"/>
                </a:solidFill>
                <a:latin typeface="Lato"/>
              </a:defRPr>
            </a:pPr>
            <a:r>
              <a:t>this condition.</a:t>
            </a:r>
          </a:p>
        </p:txBody>
      </p:sp>
      <p:sp>
        <p:nvSpPr>
          <p:cNvPr id="27" name="TextBox 26"/>
          <p:cNvSpPr txBox="1"/>
          <p:nvPr/>
        </p:nvSpPr>
        <p:spPr>
          <a:xfrm>
            <a:off x="6172200" y="7454900"/>
            <a:ext cx="11366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BASELINE SUPPORTABILITY IS NOT THE AUTHORIZATION RATE</a:t>
            </a:r>
          </a:p>
        </p:txBody>
      </p:sp>
      <p:sp>
        <p:nvSpPr>
          <p:cNvPr id="28" name="Rectangle 27"/>
          <p:cNvSpPr/>
          <p:nvPr/>
        </p:nvSpPr>
        <p:spPr>
          <a:xfrm>
            <a:off x="6172200" y="7975600"/>
            <a:ext cx="3919939" cy="7239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92139" y="7975600"/>
            <a:ext cx="7497360" cy="7239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7300" y="8166100"/>
            <a:ext cx="34925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FFFFFF"/>
                </a:solidFill>
                <a:latin typeface="Lato"/>
              </a:defRPr>
            </a:pPr>
            <a:r>
              <a:t>103 authorized</a:t>
            </a:r>
          </a:p>
        </p:txBody>
      </p:sp>
      <p:sp>
        <p:nvSpPr>
          <p:cNvPr id="31" name="TextBox 30"/>
          <p:cNvSpPr txBox="1"/>
          <p:nvPr/>
        </p:nvSpPr>
        <p:spPr>
          <a:xfrm>
            <a:off x="10299700" y="8166100"/>
            <a:ext cx="70104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FFFFFF"/>
                </a:solidFill>
                <a:latin typeface="Lato"/>
              </a:defRPr>
            </a:pPr>
            <a:r>
              <a:t>197 reviewable</a:t>
            </a:r>
          </a:p>
        </p:txBody>
      </p:sp>
      <p:sp>
        <p:nvSpPr>
          <p:cNvPr id="32" name="TextBox 31"/>
          <p:cNvSpPr txBox="1"/>
          <p:nvPr/>
        </p:nvSpPr>
        <p:spPr>
          <a:xfrm>
            <a:off x="6197600" y="9004300"/>
            <a:ext cx="11226800" cy="5207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203B4C"/>
                </a:solidFill>
                <a:latin typeface="Lato"/>
              </a:defRPr>
            </a:pPr>
            <a:r>
              <a:t>300 supportable paths = 103 authorized + 197 reviewable</a:t>
            </a:r>
          </a:p>
        </p:txBody>
      </p:sp>
      <p:sp>
        <p:nvSpPr>
          <p:cNvPr id="33" name="TextBox 32"/>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Supportable does not mean funded, accepted by the merchant, or automatically authorized.</a:t>
            </a:r>
          </a:p>
        </p:txBody>
      </p:sp>
      <p:sp>
        <p:nvSpPr>
          <p:cNvPr id="34" name="Rounded Rectangle 33"/>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36" name="TextBox 35"/>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Would raising coverage to 1.25× remove every reason for review?</a:t>
            </a:r>
          </a:p>
        </p:txBody>
      </p:sp>
      <p:sp>
        <p:nvSpPr>
          <p:cNvPr id="37" name="Rounded Rectangle 36"/>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39" name="TextBox 38"/>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Not necessarily. MEDIUM_DATA_CONFIDENCE remains,</a:t>
            </a:r>
          </a:p>
          <a:p>
            <a:pPr algn="l">
              <a:lnSpc>
                <a:spcPts val="1913"/>
              </a:lnSpc>
              <a:spcBef>
                <a:spcPts val="0"/>
              </a:spcBef>
              <a:spcAft>
                <a:spcPts val="0"/>
              </a:spcAft>
              <a:defRPr sz="1650" b="0">
                <a:solidFill>
                  <a:srgbClr val="FFFFFF"/>
                </a:solidFill>
                <a:latin typeface="Lato"/>
              </a:defRPr>
            </a:pPr>
            <a:r>
              <a:t>and every other strict condition must still pass.</a:t>
            </a:r>
          </a:p>
        </p:txBody>
      </p:sp>
      <p:sp>
        <p:nvSpPr>
          <p:cNvPr id="40" name="TextBox 39"/>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41" name="TextBox 40"/>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S09, S10, S11, S12, S13 | 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III SEARCH &amp; DECIDE</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Seven outcomes—and the reason behind each</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14</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Read the driver pattern as well as the label. The source final record resolves combined conditions.</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5422900" cy="10795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02000"/>
            <a:ext cx="4953000" cy="3810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FFFFFF"/>
                </a:solidFill>
                <a:latin typeface="Lato"/>
              </a:defRPr>
            </a:pPr>
            <a:r>
              <a:t>AUTHORIZED</a:t>
            </a:r>
          </a:p>
        </p:txBody>
      </p:sp>
      <p:sp>
        <p:nvSpPr>
          <p:cNvPr id="11" name="TextBox 10"/>
          <p:cNvSpPr txBox="1"/>
          <p:nvPr/>
        </p:nvSpPr>
        <p:spPr>
          <a:xfrm>
            <a:off x="914400" y="3746500"/>
            <a:ext cx="4953000" cy="3683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FFFFFF"/>
                </a:solidFill>
                <a:latin typeface="Lato"/>
              </a:defRPr>
            </a:pPr>
            <a:r>
              <a:t>130 paths</a:t>
            </a:r>
          </a:p>
        </p:txBody>
      </p:sp>
      <p:sp>
        <p:nvSpPr>
          <p:cNvPr id="12" name="Rounded Rectangle 11"/>
          <p:cNvSpPr/>
          <p:nvPr/>
        </p:nvSpPr>
        <p:spPr>
          <a:xfrm>
            <a:off x="685800" y="4432300"/>
            <a:ext cx="5422900" cy="24257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1700" y="45974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115</a:t>
            </a:r>
          </a:p>
        </p:txBody>
      </p:sp>
      <p:sp>
        <p:nvSpPr>
          <p:cNvPr id="14" name="TextBox 13"/>
          <p:cNvSpPr txBox="1"/>
          <p:nvPr/>
        </p:nvSpPr>
        <p:spPr>
          <a:xfrm>
            <a:off x="1917700" y="46482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As requested</a:t>
            </a:r>
          </a:p>
        </p:txBody>
      </p:sp>
      <p:sp>
        <p:nvSpPr>
          <p:cNvPr id="15" name="TextBox 14"/>
          <p:cNvSpPr txBox="1"/>
          <p:nvPr/>
        </p:nvSpPr>
        <p:spPr>
          <a:xfrm>
            <a:off x="901700" y="5435600"/>
            <a:ext cx="4991100" cy="1358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Requested structure satisfies governing tests</a:t>
            </a:r>
          </a:p>
          <a:p>
            <a:pPr algn="l">
              <a:lnSpc>
                <a:spcPts val="2204"/>
              </a:lnSpc>
              <a:spcBef>
                <a:spcPts val="0"/>
              </a:spcBef>
              <a:spcAft>
                <a:spcPts val="0"/>
              </a:spcAft>
              <a:defRPr sz="1900" b="0">
                <a:solidFill>
                  <a:srgbClr val="203B4C"/>
                </a:solidFill>
                <a:latin typeface="Lato"/>
              </a:defRPr>
            </a:pPr>
            <a:r>
              <a:t>and authority.</a:t>
            </a:r>
          </a:p>
        </p:txBody>
      </p:sp>
      <p:sp>
        <p:nvSpPr>
          <p:cNvPr id="16" name="Rounded Rectangle 15"/>
          <p:cNvSpPr/>
          <p:nvPr/>
        </p:nvSpPr>
        <p:spPr>
          <a:xfrm>
            <a:off x="685800" y="7010400"/>
            <a:ext cx="5422900" cy="24257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700" y="71755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147D77"/>
                </a:solidFill>
                <a:latin typeface="Noto Serif"/>
              </a:defRPr>
            </a:pPr>
            <a:r>
              <a:t>15</a:t>
            </a:r>
          </a:p>
        </p:txBody>
      </p:sp>
      <p:sp>
        <p:nvSpPr>
          <p:cNvPr id="18" name="TextBox 17"/>
          <p:cNvSpPr txBox="1"/>
          <p:nvPr/>
        </p:nvSpPr>
        <p:spPr>
          <a:xfrm>
            <a:off x="1917700" y="72263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Counteroffer</a:t>
            </a:r>
          </a:p>
        </p:txBody>
      </p:sp>
      <p:sp>
        <p:nvSpPr>
          <p:cNvPr id="19" name="TextBox 18"/>
          <p:cNvSpPr txBox="1"/>
          <p:nvPr/>
        </p:nvSpPr>
        <p:spPr>
          <a:xfrm>
            <a:off x="901700" y="8013700"/>
            <a:ext cx="4991100" cy="1358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A permissible alternative satisfies tests and</a:t>
            </a:r>
          </a:p>
          <a:p>
            <a:pPr algn="l">
              <a:lnSpc>
                <a:spcPts val="2204"/>
              </a:lnSpc>
              <a:spcBef>
                <a:spcPts val="0"/>
              </a:spcBef>
              <a:spcAft>
                <a:spcPts val="0"/>
              </a:spcAft>
              <a:defRPr sz="1900" b="0">
                <a:solidFill>
                  <a:srgbClr val="203B4C"/>
                </a:solidFill>
                <a:latin typeface="Lato"/>
              </a:defRPr>
            </a:pPr>
            <a:r>
              <a:t>final authority.</a:t>
            </a:r>
          </a:p>
        </p:txBody>
      </p:sp>
      <p:sp>
        <p:nvSpPr>
          <p:cNvPr id="20" name="Rounded Rectangle 19"/>
          <p:cNvSpPr/>
          <p:nvPr/>
        </p:nvSpPr>
        <p:spPr>
          <a:xfrm>
            <a:off x="6438900" y="3111500"/>
            <a:ext cx="5422900" cy="10795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7500" y="3302000"/>
            <a:ext cx="4953000" cy="3810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FFFFFF"/>
                </a:solidFill>
                <a:latin typeface="Lato"/>
              </a:defRPr>
            </a:pPr>
            <a:r>
              <a:t>REVIEW</a:t>
            </a:r>
          </a:p>
        </p:txBody>
      </p:sp>
      <p:sp>
        <p:nvSpPr>
          <p:cNvPr id="22" name="TextBox 21"/>
          <p:cNvSpPr txBox="1"/>
          <p:nvPr/>
        </p:nvSpPr>
        <p:spPr>
          <a:xfrm>
            <a:off x="6667500" y="3746500"/>
            <a:ext cx="4953000" cy="3683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FFFFFF"/>
                </a:solidFill>
                <a:latin typeface="Lato"/>
              </a:defRPr>
            </a:pPr>
            <a:r>
              <a:t>250 paths</a:t>
            </a:r>
          </a:p>
        </p:txBody>
      </p:sp>
      <p:sp>
        <p:nvSpPr>
          <p:cNvPr id="23" name="Rounded Rectangle 22"/>
          <p:cNvSpPr/>
          <p:nvPr/>
        </p:nvSpPr>
        <p:spPr>
          <a:xfrm>
            <a:off x="6438900" y="4432300"/>
            <a:ext cx="5422900" cy="24257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54800" y="45974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BC8623"/>
                </a:solidFill>
                <a:latin typeface="Noto Serif"/>
              </a:defRPr>
            </a:pPr>
            <a:r>
              <a:t>212</a:t>
            </a:r>
          </a:p>
        </p:txBody>
      </p:sp>
      <p:sp>
        <p:nvSpPr>
          <p:cNvPr id="25" name="TextBox 24"/>
          <p:cNvSpPr txBox="1"/>
          <p:nvPr/>
        </p:nvSpPr>
        <p:spPr>
          <a:xfrm>
            <a:off x="7670800" y="46482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Counteroffer review</a:t>
            </a:r>
          </a:p>
        </p:txBody>
      </p:sp>
      <p:sp>
        <p:nvSpPr>
          <p:cNvPr id="26" name="TextBox 25"/>
          <p:cNvSpPr txBox="1"/>
          <p:nvPr/>
        </p:nvSpPr>
        <p:spPr>
          <a:xfrm>
            <a:off x="6654800" y="5435600"/>
            <a:ext cx="4991100" cy="1358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A selected alternative exists; a binding review</a:t>
            </a:r>
          </a:p>
          <a:p>
            <a:pPr algn="l">
              <a:lnSpc>
                <a:spcPts val="2204"/>
              </a:lnSpc>
              <a:spcBef>
                <a:spcPts val="0"/>
              </a:spcBef>
              <a:spcAft>
                <a:spcPts val="0"/>
              </a:spcAft>
              <a:defRPr sz="1900" b="0">
                <a:solidFill>
                  <a:srgbClr val="203B4C"/>
                </a:solidFill>
                <a:latin typeface="Lato"/>
              </a:defRPr>
            </a:pPr>
            <a:r>
              <a:t>gate remains.</a:t>
            </a:r>
          </a:p>
        </p:txBody>
      </p:sp>
      <p:sp>
        <p:nvSpPr>
          <p:cNvPr id="27" name="Rounded Rectangle 26"/>
          <p:cNvSpPr/>
          <p:nvPr/>
        </p:nvSpPr>
        <p:spPr>
          <a:xfrm>
            <a:off x="6438900" y="7010400"/>
            <a:ext cx="5422900" cy="24257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4800" y="71755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BC8623"/>
                </a:solidFill>
                <a:latin typeface="Noto Serif"/>
              </a:defRPr>
            </a:pPr>
            <a:r>
              <a:t>38</a:t>
            </a:r>
          </a:p>
        </p:txBody>
      </p:sp>
      <p:sp>
        <p:nvSpPr>
          <p:cNvPr id="29" name="TextBox 28"/>
          <p:cNvSpPr txBox="1"/>
          <p:nvPr/>
        </p:nvSpPr>
        <p:spPr>
          <a:xfrm>
            <a:off x="7670800" y="72263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Manual underwriting</a:t>
            </a:r>
          </a:p>
        </p:txBody>
      </p:sp>
      <p:sp>
        <p:nvSpPr>
          <p:cNvPr id="30" name="TextBox 29"/>
          <p:cNvSpPr txBox="1"/>
          <p:nvPr/>
        </p:nvSpPr>
        <p:spPr>
          <a:xfrm>
            <a:off x="6654800" y="8013700"/>
            <a:ext cx="4991100" cy="1358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The source classification still requires</a:t>
            </a:r>
          </a:p>
          <a:p>
            <a:pPr algn="l">
              <a:lnSpc>
                <a:spcPts val="2204"/>
              </a:lnSpc>
              <a:spcBef>
                <a:spcPts val="0"/>
              </a:spcBef>
              <a:spcAft>
                <a:spcPts val="0"/>
              </a:spcAft>
              <a:defRPr sz="1900" b="0">
                <a:solidFill>
                  <a:srgbClr val="203B4C"/>
                </a:solidFill>
                <a:latin typeface="Lato"/>
              </a:defRPr>
            </a:pPr>
            <a:r>
              <a:t>underwriting judgment.</a:t>
            </a:r>
          </a:p>
        </p:txBody>
      </p:sp>
      <p:sp>
        <p:nvSpPr>
          <p:cNvPr id="31" name="Rounded Rectangle 30"/>
          <p:cNvSpPr/>
          <p:nvPr/>
        </p:nvSpPr>
        <p:spPr>
          <a:xfrm>
            <a:off x="12192000" y="3111500"/>
            <a:ext cx="5422900" cy="10795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420600" y="3302000"/>
            <a:ext cx="4953000" cy="3810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FFFFFF"/>
                </a:solidFill>
                <a:latin typeface="Lato"/>
              </a:defRPr>
            </a:pPr>
            <a:r>
              <a:t>DECLINE</a:t>
            </a:r>
          </a:p>
        </p:txBody>
      </p:sp>
      <p:sp>
        <p:nvSpPr>
          <p:cNvPr id="33" name="TextBox 32"/>
          <p:cNvSpPr txBox="1"/>
          <p:nvPr/>
        </p:nvSpPr>
        <p:spPr>
          <a:xfrm>
            <a:off x="12420600" y="3746500"/>
            <a:ext cx="4953000" cy="3683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FFFFFF"/>
                </a:solidFill>
                <a:latin typeface="Lato"/>
              </a:defRPr>
            </a:pPr>
            <a:r>
              <a:t>1,120 paths</a:t>
            </a:r>
          </a:p>
        </p:txBody>
      </p:sp>
      <p:sp>
        <p:nvSpPr>
          <p:cNvPr id="34" name="Rounded Rectangle 33"/>
          <p:cNvSpPr/>
          <p:nvPr/>
        </p:nvSpPr>
        <p:spPr>
          <a:xfrm>
            <a:off x="12192000" y="4432300"/>
            <a:ext cx="5422900" cy="1612900"/>
          </a:xfrm>
          <a:prstGeom prst="roundRect">
            <a:avLst>
              <a:gd name="adj" fmla="val 7000"/>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07900" y="45974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B44F3C"/>
                </a:solidFill>
                <a:latin typeface="Noto Serif"/>
              </a:defRPr>
            </a:pPr>
            <a:r>
              <a:t>234</a:t>
            </a:r>
          </a:p>
        </p:txBody>
      </p:sp>
      <p:sp>
        <p:nvSpPr>
          <p:cNvPr id="36" name="TextBox 35"/>
          <p:cNvSpPr txBox="1"/>
          <p:nvPr/>
        </p:nvSpPr>
        <p:spPr>
          <a:xfrm>
            <a:off x="13423900" y="46482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Insufficient evidence</a:t>
            </a:r>
          </a:p>
        </p:txBody>
      </p:sp>
      <p:sp>
        <p:nvSpPr>
          <p:cNvPr id="37" name="TextBox 36"/>
          <p:cNvSpPr txBox="1"/>
          <p:nvPr/>
        </p:nvSpPr>
        <p:spPr>
          <a:xfrm>
            <a:off x="12407900" y="5257800"/>
            <a:ext cx="4991100" cy="7493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Required inputs cannot support the</a:t>
            </a:r>
          </a:p>
          <a:p>
            <a:pPr algn="l">
              <a:lnSpc>
                <a:spcPts val="2204"/>
              </a:lnSpc>
              <a:spcBef>
                <a:spcPts val="0"/>
              </a:spcBef>
              <a:spcAft>
                <a:spcPts val="0"/>
              </a:spcAft>
              <a:defRPr sz="1900" b="0">
                <a:solidFill>
                  <a:srgbClr val="203B4C"/>
                </a:solidFill>
                <a:latin typeface="Lato"/>
              </a:defRPr>
            </a:pPr>
            <a:r>
              <a:t>dependent assessment.</a:t>
            </a:r>
          </a:p>
        </p:txBody>
      </p:sp>
      <p:sp>
        <p:nvSpPr>
          <p:cNvPr id="38" name="Rounded Rectangle 37"/>
          <p:cNvSpPr/>
          <p:nvPr/>
        </p:nvSpPr>
        <p:spPr>
          <a:xfrm>
            <a:off x="12192000" y="6197600"/>
            <a:ext cx="5422900" cy="1612900"/>
          </a:xfrm>
          <a:prstGeom prst="roundRect">
            <a:avLst>
              <a:gd name="adj" fmla="val 7000"/>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407900" y="63627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B44F3C"/>
                </a:solidFill>
                <a:latin typeface="Noto Serif"/>
              </a:defRPr>
            </a:pPr>
            <a:r>
              <a:t>652</a:t>
            </a:r>
          </a:p>
        </p:txBody>
      </p:sp>
      <p:sp>
        <p:nvSpPr>
          <p:cNvPr id="40" name="TextBox 39"/>
          <p:cNvSpPr txBox="1"/>
          <p:nvPr/>
        </p:nvSpPr>
        <p:spPr>
          <a:xfrm>
            <a:off x="13423900" y="64135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No feasible structure</a:t>
            </a:r>
          </a:p>
        </p:txBody>
      </p:sp>
      <p:sp>
        <p:nvSpPr>
          <p:cNvPr id="41" name="TextBox 40"/>
          <p:cNvSpPr txBox="1"/>
          <p:nvPr/>
        </p:nvSpPr>
        <p:spPr>
          <a:xfrm>
            <a:off x="12407900" y="7023100"/>
            <a:ext cx="4991100" cy="7493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No eligible final structure remains after search</a:t>
            </a:r>
          </a:p>
          <a:p>
            <a:pPr algn="l">
              <a:lnSpc>
                <a:spcPts val="2204"/>
              </a:lnSpc>
              <a:spcBef>
                <a:spcPts val="0"/>
              </a:spcBef>
              <a:spcAft>
                <a:spcPts val="0"/>
              </a:spcAft>
              <a:defRPr sz="1900" b="0">
                <a:solidFill>
                  <a:srgbClr val="203B4C"/>
                </a:solidFill>
                <a:latin typeface="Lato"/>
              </a:defRPr>
            </a:pPr>
            <a:r>
              <a:t>and governance.</a:t>
            </a:r>
          </a:p>
        </p:txBody>
      </p:sp>
      <p:sp>
        <p:nvSpPr>
          <p:cNvPr id="42" name="Rounded Rectangle 41"/>
          <p:cNvSpPr/>
          <p:nvPr/>
        </p:nvSpPr>
        <p:spPr>
          <a:xfrm>
            <a:off x="12192000" y="7962900"/>
            <a:ext cx="5422900" cy="1612900"/>
          </a:xfrm>
          <a:prstGeom prst="roundRect">
            <a:avLst>
              <a:gd name="adj" fmla="val 7000"/>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407900" y="8128000"/>
            <a:ext cx="863600" cy="5334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B44F3C"/>
                </a:solidFill>
                <a:latin typeface="Noto Serif"/>
              </a:defRPr>
            </a:pPr>
            <a:r>
              <a:t>234</a:t>
            </a:r>
          </a:p>
        </p:txBody>
      </p:sp>
      <p:sp>
        <p:nvSpPr>
          <p:cNvPr id="44" name="TextBox 43"/>
          <p:cNvSpPr txBox="1"/>
          <p:nvPr/>
        </p:nvSpPr>
        <p:spPr>
          <a:xfrm>
            <a:off x="13423900" y="8178800"/>
            <a:ext cx="3949700" cy="7112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203B4C"/>
                </a:solidFill>
                <a:latin typeface="Lato"/>
              </a:defRPr>
            </a:pPr>
            <a:r>
              <a:t>Policy hard stop</a:t>
            </a:r>
          </a:p>
        </p:txBody>
      </p:sp>
      <p:sp>
        <p:nvSpPr>
          <p:cNvPr id="45" name="TextBox 44"/>
          <p:cNvSpPr txBox="1"/>
          <p:nvPr/>
        </p:nvSpPr>
        <p:spPr>
          <a:xfrm>
            <a:off x="12407900" y="8788400"/>
            <a:ext cx="4991100" cy="7493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A non-remediable condition controls despite</a:t>
            </a:r>
          </a:p>
          <a:p>
            <a:pPr algn="l">
              <a:lnSpc>
                <a:spcPts val="2204"/>
              </a:lnSpc>
              <a:spcBef>
                <a:spcPts val="0"/>
              </a:spcBef>
              <a:spcAft>
                <a:spcPts val="0"/>
              </a:spcAft>
              <a:defRPr sz="1900" b="0">
                <a:solidFill>
                  <a:srgbClr val="203B4C"/>
                </a:solidFill>
                <a:latin typeface="Lato"/>
              </a:defRPr>
            </a:pPr>
            <a:r>
              <a:t>revised terms.</a:t>
            </a:r>
          </a:p>
        </p:txBody>
      </p:sp>
      <p:sp>
        <p:nvSpPr>
          <p:cNvPr id="46" name="TextBox 45"/>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130 + 250 + 1,120 = 1,500 application-scenario paths. Pooled taxonomy counts are not 1,500 merchants.</a:t>
            </a:r>
          </a:p>
        </p:txBody>
      </p:sp>
      <p:sp>
        <p:nvSpPr>
          <p:cNvPr id="47" name="Rounded Rectangle 46"/>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9" name="TextBox 48"/>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Can “no feasible structure” follow an independent review candidate?</a:t>
            </a:r>
          </a:p>
        </p:txBody>
      </p:sp>
      <p:sp>
        <p:nvSpPr>
          <p:cNvPr id="50" name="Rounded Rectangle 49"/>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2" name="TextBox 51"/>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Yes. For 082 stress, the matched-stress floor leaves no</a:t>
            </a:r>
          </a:p>
          <a:p>
            <a:pPr algn="l">
              <a:lnSpc>
                <a:spcPts val="1913"/>
              </a:lnSpc>
              <a:spcBef>
                <a:spcPts val="0"/>
              </a:spcBef>
              <a:spcAft>
                <a:spcPts val="0"/>
              </a:spcAft>
              <a:defRPr sz="1650" b="0">
                <a:solidFill>
                  <a:srgbClr val="FFFFFF"/>
                </a:solidFill>
                <a:latin typeface="Lato"/>
              </a:defRPr>
            </a:pPr>
            <a:r>
              <a:t>eligible final candidate. Independent support is not final</a:t>
            </a:r>
          </a:p>
          <a:p>
            <a:pPr algn="l">
              <a:lnSpc>
                <a:spcPts val="1913"/>
              </a:lnSpc>
              <a:spcBef>
                <a:spcPts val="0"/>
              </a:spcBef>
              <a:spcAft>
                <a:spcPts val="0"/>
              </a:spcAft>
              <a:defRPr sz="1650" b="0">
                <a:solidFill>
                  <a:srgbClr val="FFFFFF"/>
                </a:solidFill>
                <a:latin typeface="Lato"/>
              </a:defRPr>
            </a:pPr>
            <a:r>
              <a:t>authority.</a:t>
            </a:r>
          </a:p>
        </p:txBody>
      </p:sp>
      <p:sp>
        <p:nvSpPr>
          <p:cNvPr id="53" name="TextBox 52"/>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4" name="TextBox 53"/>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S09, S10, S13, S18 | 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DF7F2"/>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III SEARCH &amp; DECIDE</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The preferred candidate is not always the final one</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15</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098 / Recession Energy. Governance can select a lower modeled return within the same amount.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3073400" cy="3810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187700"/>
            <a:ext cx="28702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CASE 098 / MATCHED SCENARIOS</a:t>
            </a:r>
          </a:p>
        </p:txBody>
      </p:sp>
      <p:sp>
        <p:nvSpPr>
          <p:cNvPr id="11" name="Rectangle 10"/>
          <p:cNvSpPr/>
          <p:nvPr/>
        </p:nvSpPr>
        <p:spPr>
          <a:xfrm>
            <a:off x="685800" y="3721100"/>
            <a:ext cx="32004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3835400"/>
            <a:ext cx="28956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SOURCE MEASURE</a:t>
            </a:r>
          </a:p>
        </p:txBody>
      </p:sp>
      <p:sp>
        <p:nvSpPr>
          <p:cNvPr id="13" name="Rectangle 12"/>
          <p:cNvSpPr/>
          <p:nvPr/>
        </p:nvSpPr>
        <p:spPr>
          <a:xfrm>
            <a:off x="3886200" y="3721100"/>
            <a:ext cx="24384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38600" y="3835400"/>
            <a:ext cx="21336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BASELINE</a:t>
            </a:r>
          </a:p>
        </p:txBody>
      </p:sp>
      <p:sp>
        <p:nvSpPr>
          <p:cNvPr id="15" name="Rectangle 14"/>
          <p:cNvSpPr/>
          <p:nvPr/>
        </p:nvSpPr>
        <p:spPr>
          <a:xfrm>
            <a:off x="6324600" y="3721100"/>
            <a:ext cx="26797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7000" y="3835400"/>
            <a:ext cx="23749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STRESS</a:t>
            </a:r>
          </a:p>
        </p:txBody>
      </p:sp>
      <p:sp>
        <p:nvSpPr>
          <p:cNvPr id="17" name="Rectangle 16"/>
          <p:cNvSpPr/>
          <p:nvPr/>
        </p:nvSpPr>
        <p:spPr>
          <a:xfrm>
            <a:off x="685800" y="4203700"/>
            <a:ext cx="3200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 y="4356100"/>
            <a:ext cx="2895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Sales / day</a:t>
            </a:r>
          </a:p>
        </p:txBody>
      </p:sp>
      <p:sp>
        <p:nvSpPr>
          <p:cNvPr id="19" name="Rectangle 18"/>
          <p:cNvSpPr/>
          <p:nvPr/>
        </p:nvSpPr>
        <p:spPr>
          <a:xfrm>
            <a:off x="3886200" y="4203700"/>
            <a:ext cx="2438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38600" y="4356100"/>
            <a:ext cx="2133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$423.27</a:t>
            </a:r>
          </a:p>
        </p:txBody>
      </p:sp>
      <p:sp>
        <p:nvSpPr>
          <p:cNvPr id="21" name="Rectangle 20"/>
          <p:cNvSpPr/>
          <p:nvPr/>
        </p:nvSpPr>
        <p:spPr>
          <a:xfrm>
            <a:off x="6324600" y="4203700"/>
            <a:ext cx="26797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0" y="4356100"/>
            <a:ext cx="23749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$386.18</a:t>
            </a:r>
          </a:p>
        </p:txBody>
      </p:sp>
      <p:cxnSp>
        <p:nvCxnSpPr>
          <p:cNvPr id="23" name="Connector 22"/>
          <p:cNvCxnSpPr/>
          <p:nvPr/>
        </p:nvCxnSpPr>
        <p:spPr>
          <a:xfrm>
            <a:off x="685800" y="4876800"/>
            <a:ext cx="83185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85800" y="4876800"/>
            <a:ext cx="32004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 y="5029200"/>
            <a:ext cx="2895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Observed balance</a:t>
            </a:r>
          </a:p>
        </p:txBody>
      </p:sp>
      <p:sp>
        <p:nvSpPr>
          <p:cNvPr id="26" name="Rectangle 25"/>
          <p:cNvSpPr/>
          <p:nvPr/>
        </p:nvSpPr>
        <p:spPr>
          <a:xfrm>
            <a:off x="3886200" y="4876800"/>
            <a:ext cx="24384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38600" y="5029200"/>
            <a:ext cx="2133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$1,717.45</a:t>
            </a:r>
          </a:p>
        </p:txBody>
      </p:sp>
      <p:sp>
        <p:nvSpPr>
          <p:cNvPr id="28" name="Rectangle 27"/>
          <p:cNvSpPr/>
          <p:nvPr/>
        </p:nvSpPr>
        <p:spPr>
          <a:xfrm>
            <a:off x="6324600" y="4876800"/>
            <a:ext cx="26797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7000" y="5029200"/>
            <a:ext cx="23749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B44F3C"/>
                </a:solidFill>
                <a:latin typeface="Lato"/>
              </a:defRPr>
            </a:pPr>
            <a:r>
              <a:t>−$664.17</a:t>
            </a:r>
          </a:p>
        </p:txBody>
      </p:sp>
      <p:cxnSp>
        <p:nvCxnSpPr>
          <p:cNvPr id="30" name="Connector 29"/>
          <p:cNvCxnSpPr/>
          <p:nvPr/>
        </p:nvCxnSpPr>
        <p:spPr>
          <a:xfrm>
            <a:off x="685800" y="5549900"/>
            <a:ext cx="83185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85800" y="5549900"/>
            <a:ext cx="3200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5702300"/>
            <a:ext cx="2895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Coverage</a:t>
            </a:r>
          </a:p>
        </p:txBody>
      </p:sp>
      <p:sp>
        <p:nvSpPr>
          <p:cNvPr id="33" name="Rectangle 32"/>
          <p:cNvSpPr/>
          <p:nvPr/>
        </p:nvSpPr>
        <p:spPr>
          <a:xfrm>
            <a:off x="3886200" y="5549900"/>
            <a:ext cx="2438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38600" y="5702300"/>
            <a:ext cx="2133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1.6504×</a:t>
            </a:r>
          </a:p>
        </p:txBody>
      </p:sp>
      <p:sp>
        <p:nvSpPr>
          <p:cNvPr id="35" name="Rectangle 34"/>
          <p:cNvSpPr/>
          <p:nvPr/>
        </p:nvSpPr>
        <p:spPr>
          <a:xfrm>
            <a:off x="6324600" y="5549900"/>
            <a:ext cx="26797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77000" y="5702300"/>
            <a:ext cx="23749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1.5057×</a:t>
            </a:r>
          </a:p>
        </p:txBody>
      </p:sp>
      <p:cxnSp>
        <p:nvCxnSpPr>
          <p:cNvPr id="37" name="Connector 36"/>
          <p:cNvCxnSpPr/>
          <p:nvPr/>
        </p:nvCxnSpPr>
        <p:spPr>
          <a:xfrm>
            <a:off x="685800" y="6223000"/>
            <a:ext cx="83185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85800" y="6223000"/>
            <a:ext cx="32004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8200" y="6375400"/>
            <a:ext cx="2895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Buffer days</a:t>
            </a:r>
          </a:p>
        </p:txBody>
      </p:sp>
      <p:sp>
        <p:nvSpPr>
          <p:cNvPr id="40" name="Rectangle 39"/>
          <p:cNvSpPr/>
          <p:nvPr/>
        </p:nvSpPr>
        <p:spPr>
          <a:xfrm>
            <a:off x="3886200" y="6223000"/>
            <a:ext cx="24384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38600" y="6375400"/>
            <a:ext cx="2133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41.8332</a:t>
            </a:r>
          </a:p>
        </p:txBody>
      </p:sp>
      <p:sp>
        <p:nvSpPr>
          <p:cNvPr id="42" name="Rectangle 41"/>
          <p:cNvSpPr/>
          <p:nvPr/>
        </p:nvSpPr>
        <p:spPr>
          <a:xfrm>
            <a:off x="6324600" y="6223000"/>
            <a:ext cx="2679700" cy="6731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77000" y="6375400"/>
            <a:ext cx="23749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B44F3C"/>
                </a:solidFill>
                <a:latin typeface="Lato"/>
              </a:defRPr>
            </a:pPr>
            <a:r>
              <a:t>6.5393</a:t>
            </a:r>
          </a:p>
        </p:txBody>
      </p:sp>
      <p:cxnSp>
        <p:nvCxnSpPr>
          <p:cNvPr id="44" name="Connector 43"/>
          <p:cNvCxnSpPr/>
          <p:nvPr/>
        </p:nvCxnSpPr>
        <p:spPr>
          <a:xfrm>
            <a:off x="685800" y="6896100"/>
            <a:ext cx="83185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85800" y="6896100"/>
            <a:ext cx="3200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200" y="7048500"/>
            <a:ext cx="2895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Final amount</a:t>
            </a:r>
          </a:p>
        </p:txBody>
      </p:sp>
      <p:sp>
        <p:nvSpPr>
          <p:cNvPr id="47" name="Rectangle 46"/>
          <p:cNvSpPr/>
          <p:nvPr/>
        </p:nvSpPr>
        <p:spPr>
          <a:xfrm>
            <a:off x="3886200" y="6896100"/>
            <a:ext cx="2438400" cy="673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38600" y="7048500"/>
            <a:ext cx="21336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$5,200</a:t>
            </a:r>
          </a:p>
        </p:txBody>
      </p:sp>
      <p:sp>
        <p:nvSpPr>
          <p:cNvPr id="49" name="Rectangle 48"/>
          <p:cNvSpPr/>
          <p:nvPr/>
        </p:nvSpPr>
        <p:spPr>
          <a:xfrm>
            <a:off x="6324600" y="6896100"/>
            <a:ext cx="2679700" cy="6731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77000" y="7048500"/>
            <a:ext cx="2374900" cy="5080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$2,500</a:t>
            </a:r>
          </a:p>
        </p:txBody>
      </p:sp>
      <p:cxnSp>
        <p:nvCxnSpPr>
          <p:cNvPr id="51" name="Connector 50"/>
          <p:cNvCxnSpPr/>
          <p:nvPr/>
        </p:nvCxnSpPr>
        <p:spPr>
          <a:xfrm>
            <a:off x="685800" y="7569200"/>
            <a:ext cx="83185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36600" y="7899400"/>
            <a:ext cx="8102600" cy="9271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The stress request misses the strict 15-day buffer boundary. The</a:t>
            </a:r>
          </a:p>
          <a:p>
            <a:pPr algn="l">
              <a:lnSpc>
                <a:spcPts val="2436"/>
              </a:lnSpc>
              <a:spcBef>
                <a:spcPts val="0"/>
              </a:spcBef>
              <a:spcAft>
                <a:spcPts val="0"/>
              </a:spcAft>
              <a:defRPr sz="2100" b="0">
                <a:solidFill>
                  <a:srgbClr val="203B4C"/>
                </a:solidFill>
                <a:latin typeface="Lato"/>
              </a:defRPr>
            </a:pPr>
            <a:r>
              <a:t>selected smaller structure is recalculated.</a:t>
            </a:r>
          </a:p>
        </p:txBody>
      </p:sp>
      <p:sp>
        <p:nvSpPr>
          <p:cNvPr id="53" name="TextBox 52"/>
          <p:cNvSpPr txBox="1"/>
          <p:nvPr/>
        </p:nvSpPr>
        <p:spPr>
          <a:xfrm>
            <a:off x="9512300" y="3124200"/>
            <a:ext cx="80391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TWO ACTUAL $2,500 STRESS CANDIDATES / 90 DAYS</a:t>
            </a:r>
          </a:p>
        </p:txBody>
      </p:sp>
      <p:sp>
        <p:nvSpPr>
          <p:cNvPr id="54" name="Rectangle 53"/>
          <p:cNvSpPr/>
          <p:nvPr/>
        </p:nvSpPr>
        <p:spPr>
          <a:xfrm>
            <a:off x="9499600" y="3721100"/>
            <a:ext cx="27940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52000" y="3835400"/>
            <a:ext cx="24892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TERM / RESULT</a:t>
            </a:r>
          </a:p>
        </p:txBody>
      </p:sp>
      <p:sp>
        <p:nvSpPr>
          <p:cNvPr id="56" name="Rectangle 55"/>
          <p:cNvSpPr/>
          <p:nvPr/>
        </p:nvSpPr>
        <p:spPr>
          <a:xfrm>
            <a:off x="12293600" y="3721100"/>
            <a:ext cx="26162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446000" y="3835400"/>
            <a:ext cx="23114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INDEPENDENT</a:t>
            </a:r>
          </a:p>
        </p:txBody>
      </p:sp>
      <p:sp>
        <p:nvSpPr>
          <p:cNvPr id="58" name="Rectangle 57"/>
          <p:cNvSpPr/>
          <p:nvPr/>
        </p:nvSpPr>
        <p:spPr>
          <a:xfrm>
            <a:off x="14909800" y="3721100"/>
            <a:ext cx="27051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5062200" y="3835400"/>
            <a:ext cx="24003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GOVERNED</a:t>
            </a:r>
          </a:p>
        </p:txBody>
      </p:sp>
      <p:sp>
        <p:nvSpPr>
          <p:cNvPr id="60" name="Rectangle 59"/>
          <p:cNvSpPr/>
          <p:nvPr/>
        </p:nvSpPr>
        <p:spPr>
          <a:xfrm>
            <a:off x="9499600" y="4203700"/>
            <a:ext cx="27940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52000" y="4356100"/>
            <a:ext cx="24892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Remittance</a:t>
            </a:r>
          </a:p>
        </p:txBody>
      </p:sp>
      <p:sp>
        <p:nvSpPr>
          <p:cNvPr id="62" name="Rectangle 61"/>
          <p:cNvSpPr/>
          <p:nvPr/>
        </p:nvSpPr>
        <p:spPr>
          <a:xfrm>
            <a:off x="12293600" y="4203700"/>
            <a:ext cx="26162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2446000" y="4356100"/>
            <a:ext cx="2311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10.6851%</a:t>
            </a:r>
          </a:p>
        </p:txBody>
      </p:sp>
      <p:sp>
        <p:nvSpPr>
          <p:cNvPr id="64" name="Rectangle 63"/>
          <p:cNvSpPr/>
          <p:nvPr/>
        </p:nvSpPr>
        <p:spPr>
          <a:xfrm>
            <a:off x="14909800" y="4203700"/>
            <a:ext cx="2705100" cy="8255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062200" y="4356100"/>
            <a:ext cx="24003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10.9032%</a:t>
            </a:r>
          </a:p>
        </p:txBody>
      </p:sp>
      <p:cxnSp>
        <p:nvCxnSpPr>
          <p:cNvPr id="66" name="Connector 65"/>
          <p:cNvCxnSpPr/>
          <p:nvPr/>
        </p:nvCxnSpPr>
        <p:spPr>
          <a:xfrm>
            <a:off x="9499600" y="5029200"/>
            <a:ext cx="81153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499600" y="5029200"/>
            <a:ext cx="27940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52000" y="5181600"/>
            <a:ext cx="24892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Payback</a:t>
            </a:r>
          </a:p>
        </p:txBody>
      </p:sp>
      <p:sp>
        <p:nvSpPr>
          <p:cNvPr id="69" name="Rectangle 68"/>
          <p:cNvSpPr/>
          <p:nvPr/>
        </p:nvSpPr>
        <p:spPr>
          <a:xfrm>
            <a:off x="12293600" y="5029200"/>
            <a:ext cx="26162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446000" y="5181600"/>
            <a:ext cx="2311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1.284382×</a:t>
            </a:r>
          </a:p>
        </p:txBody>
      </p:sp>
      <p:sp>
        <p:nvSpPr>
          <p:cNvPr id="71" name="Rectangle 70"/>
          <p:cNvSpPr/>
          <p:nvPr/>
        </p:nvSpPr>
        <p:spPr>
          <a:xfrm>
            <a:off x="14909800" y="5029200"/>
            <a:ext cx="2705100" cy="8255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5062200" y="5181600"/>
            <a:ext cx="24003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1.259198×</a:t>
            </a:r>
          </a:p>
        </p:txBody>
      </p:sp>
      <p:cxnSp>
        <p:nvCxnSpPr>
          <p:cNvPr id="73" name="Connector 72"/>
          <p:cNvCxnSpPr/>
          <p:nvPr/>
        </p:nvCxnSpPr>
        <p:spPr>
          <a:xfrm>
            <a:off x="9499600" y="5854700"/>
            <a:ext cx="81153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9499600" y="5854700"/>
            <a:ext cx="27940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652000" y="6007100"/>
            <a:ext cx="24892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Modeled annual return</a:t>
            </a:r>
          </a:p>
        </p:txBody>
      </p:sp>
      <p:sp>
        <p:nvSpPr>
          <p:cNvPr id="76" name="Rectangle 75"/>
          <p:cNvSpPr/>
          <p:nvPr/>
        </p:nvSpPr>
        <p:spPr>
          <a:xfrm>
            <a:off x="12293600" y="5854700"/>
            <a:ext cx="2616200" cy="8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2446000" y="6007100"/>
            <a:ext cx="2311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32.3130%</a:t>
            </a:r>
          </a:p>
        </p:txBody>
      </p:sp>
      <p:sp>
        <p:nvSpPr>
          <p:cNvPr id="78" name="Rectangle 77"/>
          <p:cNvSpPr/>
          <p:nvPr/>
        </p:nvSpPr>
        <p:spPr>
          <a:xfrm>
            <a:off x="14909800" y="5854700"/>
            <a:ext cx="2705100" cy="8255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5062200" y="6007100"/>
            <a:ext cx="24003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23.8175%</a:t>
            </a:r>
          </a:p>
        </p:txBody>
      </p:sp>
      <p:cxnSp>
        <p:nvCxnSpPr>
          <p:cNvPr id="80" name="Connector 79"/>
          <p:cNvCxnSpPr/>
          <p:nvPr/>
        </p:nvCxnSpPr>
        <p:spPr>
          <a:xfrm>
            <a:off x="9499600" y="6680200"/>
            <a:ext cx="81153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9499600" y="6680200"/>
            <a:ext cx="27940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652000" y="6832600"/>
            <a:ext cx="24892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Role</a:t>
            </a:r>
          </a:p>
        </p:txBody>
      </p:sp>
      <p:sp>
        <p:nvSpPr>
          <p:cNvPr id="83" name="Rectangle 82"/>
          <p:cNvSpPr/>
          <p:nvPr/>
        </p:nvSpPr>
        <p:spPr>
          <a:xfrm>
            <a:off x="12293600" y="6680200"/>
            <a:ext cx="2616200" cy="8255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2446000" y="6832600"/>
            <a:ext cx="23114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Preferred locally</a:t>
            </a:r>
          </a:p>
        </p:txBody>
      </p:sp>
      <p:sp>
        <p:nvSpPr>
          <p:cNvPr id="85" name="Rectangle 84"/>
          <p:cNvSpPr/>
          <p:nvPr/>
        </p:nvSpPr>
        <p:spPr>
          <a:xfrm>
            <a:off x="14909800" y="6680200"/>
            <a:ext cx="2705100" cy="825500"/>
          </a:xfrm>
          <a:prstGeom prst="rect">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062200" y="6832600"/>
            <a:ext cx="2400300" cy="660400"/>
          </a:xfrm>
          <a:prstGeom prst="rect">
            <a:avLst/>
          </a:prstGeom>
          <a:noFill/>
          <a:effectLst/>
        </p:spPr>
        <p:txBody>
          <a:bodyPr wrap="none" lIns="0" rIns="0" tIns="0" bIns="0" anchor="t">
            <a:spAutoFit/>
          </a:bodyPr>
          <a:lstStyle/>
          <a:p>
            <a:pPr algn="l">
              <a:lnSpc>
                <a:spcPts val="2088"/>
              </a:lnSpc>
              <a:spcBef>
                <a:spcPts val="0"/>
              </a:spcBef>
              <a:spcAft>
                <a:spcPts val="0"/>
              </a:spcAft>
              <a:defRPr sz="1800" b="1">
                <a:solidFill>
                  <a:srgbClr val="147D77"/>
                </a:solidFill>
                <a:latin typeface="Lato"/>
              </a:defRPr>
            </a:pPr>
            <a:r>
              <a:t>Final selected</a:t>
            </a:r>
          </a:p>
        </p:txBody>
      </p:sp>
      <p:cxnSp>
        <p:nvCxnSpPr>
          <p:cNvPr id="87" name="Connector 86"/>
          <p:cNvCxnSpPr/>
          <p:nvPr/>
        </p:nvCxnSpPr>
        <p:spPr>
          <a:xfrm>
            <a:off x="9499600" y="7505700"/>
            <a:ext cx="81153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537700" y="7772400"/>
            <a:ext cx="8001000" cy="12065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The final preserves Baseline remittance and payback terms.</a:t>
            </a:r>
          </a:p>
          <a:p>
            <a:pPr algn="l">
              <a:lnSpc>
                <a:spcPts val="2320"/>
              </a:lnSpc>
              <a:spcBef>
                <a:spcPts val="0"/>
              </a:spcBef>
              <a:spcAft>
                <a:spcPts val="0"/>
              </a:spcAft>
              <a:defRPr sz="2000" b="0">
                <a:solidFill>
                  <a:srgbClr val="203B4C"/>
                </a:solidFill>
                <a:latin typeface="Lato"/>
              </a:defRPr>
            </a:pPr>
            <a:r>
              <a:t>Recomputed: coverage 2.5022×, burden 11.9892%, buffer 30.7199</a:t>
            </a:r>
          </a:p>
          <a:p>
            <a:pPr algn="l">
              <a:lnSpc>
                <a:spcPts val="2320"/>
              </a:lnSpc>
              <a:spcBef>
                <a:spcPts val="0"/>
              </a:spcBef>
              <a:spcAft>
                <a:spcPts val="0"/>
              </a:spcAft>
              <a:defRPr sz="2000" b="0">
                <a:solidFill>
                  <a:srgbClr val="203B4C"/>
                </a:solidFill>
                <a:latin typeface="Lato"/>
              </a:defRPr>
            </a:pPr>
            <a:r>
              <a:t>days.</a:t>
            </a:r>
          </a:p>
        </p:txBody>
      </p:sp>
      <p:sp>
        <p:nvSpPr>
          <p:cNvPr id="89" name="Rounded Rectangle 88"/>
          <p:cNvSpPr/>
          <p:nvPr/>
        </p:nvSpPr>
        <p:spPr>
          <a:xfrm>
            <a:off x="685800" y="9118600"/>
            <a:ext cx="16929100" cy="660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01700" y="9283700"/>
            <a:ext cx="16446500" cy="419100"/>
          </a:xfrm>
          <a:prstGeom prst="rect">
            <a:avLst/>
          </a:prstGeom>
          <a:noFill/>
          <a:effectLst/>
        </p:spPr>
        <p:txBody>
          <a:bodyPr wrap="none" lIns="0" rIns="0" tIns="0" bIns="0" anchor="t">
            <a:spAutoFit/>
          </a:bodyPr>
          <a:lstStyle/>
          <a:p>
            <a:pPr algn="l">
              <a:lnSpc>
                <a:spcPts val="2261"/>
              </a:lnSpc>
              <a:spcBef>
                <a:spcPts val="0"/>
              </a:spcBef>
              <a:spcAft>
                <a:spcPts val="0"/>
              </a:spcAft>
              <a:defRPr sz="1950" b="1">
                <a:solidFill>
                  <a:srgbClr val="203B4C"/>
                </a:solidFill>
                <a:latin typeface="Lato"/>
              </a:defRPr>
            </a:pPr>
            <a:r>
              <a:t>Same rules, different constraints: 098 reselection | 082 no floor-eligible candidate | 738 missing evidence</a:t>
            </a:r>
          </a:p>
        </p:txBody>
      </p:sp>
      <p:sp>
        <p:nvSpPr>
          <p:cNvPr id="91" name="TextBox 90"/>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147D77"/>
                </a:solidFill>
                <a:latin typeface="Lato"/>
              </a:defRPr>
            </a:pPr>
            <a:r>
              <a:t>Matched scenarios are alternatives—not time events or M2.11 profile changes. Modeled return is not APR or profit.</a:t>
            </a:r>
          </a:p>
        </p:txBody>
      </p:sp>
      <p:sp>
        <p:nvSpPr>
          <p:cNvPr id="92" name="Rounded Rectangle 91"/>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94" name="TextBox 93"/>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can’t 082 stress or 738 stress simply copy 098’s lower amount?</a:t>
            </a:r>
          </a:p>
        </p:txBody>
      </p:sp>
      <p:sp>
        <p:nvSpPr>
          <p:cNvPr id="95" name="Rounded Rectangle 94"/>
          <p:cNvSpPr/>
          <p:nvPr/>
        </p:nvSpPr>
        <p:spPr>
          <a:xfrm>
            <a:off x="10845800" y="10604500"/>
            <a:ext cx="6769100" cy="10414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97" name="TextBox 96"/>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082 loses eligible candidates under the stress floor. 738</a:t>
            </a:r>
          </a:p>
          <a:p>
            <a:pPr algn="l">
              <a:lnSpc>
                <a:spcPts val="1913"/>
              </a:lnSpc>
              <a:spcBef>
                <a:spcPts val="0"/>
              </a:spcBef>
              <a:spcAft>
                <a:spcPts val="0"/>
              </a:spcAft>
              <a:defRPr sz="1650" b="0">
                <a:solidFill>
                  <a:srgbClr val="FFFFFF"/>
                </a:solidFill>
                <a:latin typeface="Lato"/>
              </a:defRPr>
            </a:pPr>
            <a:r>
              <a:t>lacks required evidence. Neither is repaired by copying a</a:t>
            </a:r>
          </a:p>
          <a:p>
            <a:pPr algn="l">
              <a:lnSpc>
                <a:spcPts val="1913"/>
              </a:lnSpc>
              <a:spcBef>
                <a:spcPts val="0"/>
              </a:spcBef>
              <a:spcAft>
                <a:spcPts val="0"/>
              </a:spcAft>
              <a:defRPr sz="1650" b="0">
                <a:solidFill>
                  <a:srgbClr val="FFFFFF"/>
                </a:solidFill>
                <a:latin typeface="Lato"/>
              </a:defRPr>
            </a:pPr>
            <a:r>
              <a:t>term.</a:t>
            </a:r>
          </a:p>
        </p:txBody>
      </p:sp>
      <p:sp>
        <p:nvSpPr>
          <p:cNvPr id="98" name="TextBox 97"/>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99" name="TextBox 98"/>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S01, S12, S13, S15 | 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3E59"/>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72CFC3"/>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D7E4EA"/>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FFFFFF"/>
                </a:solidFill>
                <a:latin typeface="Noto Serif"/>
              </a:defRPr>
            </a:pPr>
            <a:r>
              <a:t>Follow the exact path into the account</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16</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D7E4EA"/>
                </a:solidFill>
                <a:latin typeface="Lato"/>
              </a:defRPr>
            </a:pPr>
            <a:r>
              <a:t>A merchant identifier is not enough. Funding membership belongs to an application and a scenario.</a:t>
            </a:r>
          </a:p>
        </p:txBody>
      </p:sp>
      <p:cxnSp>
        <p:nvCxnSpPr>
          <p:cNvPr id="8" name="Connector 7"/>
          <p:cNvCxnSpPr/>
          <p:nvPr/>
        </p:nvCxnSpPr>
        <p:spPr>
          <a:xfrm>
            <a:off x="685800" y="2781300"/>
            <a:ext cx="16916400" cy="0"/>
          </a:xfrm>
          <a:prstGeom prst="line">
            <a:avLst/>
          </a:prstGeom>
          <a:ln w="12700">
            <a:solidFill>
              <a:srgbClr val="41617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3149600"/>
            <a:ext cx="16129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1C7EA"/>
                </a:solidFill>
                <a:latin typeface="Lato"/>
              </a:defRPr>
            </a:pPr>
            <a:r>
              <a:t>DECISION RECORD → FUNDED MEMBERSHIP → ACCOUNT-DAY EVIDENCE</a:t>
            </a:r>
          </a:p>
        </p:txBody>
      </p:sp>
      <p:sp>
        <p:nvSpPr>
          <p:cNvPr id="10" name="Rounded Rectangle 9"/>
          <p:cNvSpPr/>
          <p:nvPr/>
        </p:nvSpPr>
        <p:spPr>
          <a:xfrm>
            <a:off x="685800" y="3759200"/>
            <a:ext cx="5422900" cy="2108200"/>
          </a:xfrm>
          <a:prstGeom prst="roundRect">
            <a:avLst>
              <a:gd name="adj" fmla="val 7000"/>
            </a:avLst>
          </a:prstGeom>
          <a:solidFill>
            <a:srgbClr val="254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3975100"/>
            <a:ext cx="4851400" cy="838200"/>
          </a:xfrm>
          <a:prstGeom prst="rect">
            <a:avLst/>
          </a:prstGeom>
          <a:noFill/>
          <a:effectLst/>
        </p:spPr>
        <p:txBody>
          <a:bodyPr wrap="none" lIns="0" rIns="0" tIns="0" bIns="0" anchor="t">
            <a:spAutoFit/>
          </a:bodyPr>
          <a:lstStyle/>
          <a:p>
            <a:pPr algn="l">
              <a:lnSpc>
                <a:spcPts val="5220"/>
              </a:lnSpc>
              <a:spcBef>
                <a:spcPts val="0"/>
              </a:spcBef>
              <a:spcAft>
                <a:spcPts val="0"/>
              </a:spcAft>
              <a:defRPr sz="4500" b="0">
                <a:solidFill>
                  <a:srgbClr val="FFFFFF"/>
                </a:solidFill>
                <a:latin typeface="Noto Serif"/>
              </a:defRPr>
            </a:pPr>
            <a:r>
              <a:t>1,500</a:t>
            </a:r>
          </a:p>
        </p:txBody>
      </p:sp>
      <p:sp>
        <p:nvSpPr>
          <p:cNvPr id="12" name="TextBox 11"/>
          <p:cNvSpPr txBox="1"/>
          <p:nvPr/>
        </p:nvSpPr>
        <p:spPr>
          <a:xfrm>
            <a:off x="952500" y="4864100"/>
            <a:ext cx="4851400" cy="4445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FFFFFF"/>
                </a:solidFill>
                <a:latin typeface="Lato"/>
              </a:defRPr>
            </a:pPr>
            <a:r>
              <a:t>Decision paths</a:t>
            </a:r>
          </a:p>
        </p:txBody>
      </p:sp>
      <p:sp>
        <p:nvSpPr>
          <p:cNvPr id="13" name="TextBox 12"/>
          <p:cNvSpPr txBox="1"/>
          <p:nvPr/>
        </p:nvSpPr>
        <p:spPr>
          <a:xfrm>
            <a:off x="952500" y="5422900"/>
            <a:ext cx="4851400" cy="3429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D7E4EA"/>
                </a:solidFill>
                <a:latin typeface="Lato"/>
              </a:defRPr>
            </a:pPr>
            <a:r>
              <a:t>Application × scenario</a:t>
            </a:r>
          </a:p>
        </p:txBody>
      </p:sp>
      <p:sp>
        <p:nvSpPr>
          <p:cNvPr id="14" name="Rounded Rectangle 13"/>
          <p:cNvSpPr/>
          <p:nvPr/>
        </p:nvSpPr>
        <p:spPr>
          <a:xfrm>
            <a:off x="6438900" y="3759200"/>
            <a:ext cx="5422900" cy="2108200"/>
          </a:xfrm>
          <a:prstGeom prst="roundRect">
            <a:avLst>
              <a:gd name="adj" fmla="val 7000"/>
            </a:avLst>
          </a:prstGeom>
          <a:solidFill>
            <a:srgbClr val="254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5600" y="3975100"/>
            <a:ext cx="4851400" cy="838200"/>
          </a:xfrm>
          <a:prstGeom prst="rect">
            <a:avLst/>
          </a:prstGeom>
          <a:noFill/>
          <a:effectLst/>
        </p:spPr>
        <p:txBody>
          <a:bodyPr wrap="none" lIns="0" rIns="0" tIns="0" bIns="0" anchor="t">
            <a:spAutoFit/>
          </a:bodyPr>
          <a:lstStyle/>
          <a:p>
            <a:pPr algn="l">
              <a:lnSpc>
                <a:spcPts val="5220"/>
              </a:lnSpc>
              <a:spcBef>
                <a:spcPts val="0"/>
              </a:spcBef>
              <a:spcAft>
                <a:spcPts val="0"/>
              </a:spcAft>
              <a:defRPr sz="4500" b="0">
                <a:solidFill>
                  <a:srgbClr val="FFFFFF"/>
                </a:solidFill>
                <a:latin typeface="Noto Serif"/>
              </a:defRPr>
            </a:pPr>
            <a:r>
              <a:t>130</a:t>
            </a:r>
          </a:p>
        </p:txBody>
      </p:sp>
      <p:sp>
        <p:nvSpPr>
          <p:cNvPr id="16" name="TextBox 15"/>
          <p:cNvSpPr txBox="1"/>
          <p:nvPr/>
        </p:nvSpPr>
        <p:spPr>
          <a:xfrm>
            <a:off x="6705600" y="4864100"/>
            <a:ext cx="4851400" cy="4445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FFFFFF"/>
                </a:solidFill>
                <a:latin typeface="Lato"/>
              </a:defRPr>
            </a:pPr>
            <a:r>
              <a:t>Funded paths</a:t>
            </a:r>
          </a:p>
        </p:txBody>
      </p:sp>
      <p:sp>
        <p:nvSpPr>
          <p:cNvPr id="17" name="TextBox 16"/>
          <p:cNvSpPr txBox="1"/>
          <p:nvPr/>
        </p:nvSpPr>
        <p:spPr>
          <a:xfrm>
            <a:off x="6705600" y="5422900"/>
            <a:ext cx="4851400" cy="3429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D7E4EA"/>
                </a:solidFill>
                <a:latin typeface="Lato"/>
              </a:defRPr>
            </a:pPr>
            <a:r>
              <a:t>103 Baseline + 27 Recession Energy</a:t>
            </a:r>
          </a:p>
        </p:txBody>
      </p:sp>
      <p:sp>
        <p:nvSpPr>
          <p:cNvPr id="18" name="Rounded Rectangle 17"/>
          <p:cNvSpPr/>
          <p:nvPr/>
        </p:nvSpPr>
        <p:spPr>
          <a:xfrm>
            <a:off x="12192000" y="3759200"/>
            <a:ext cx="5422900" cy="2108200"/>
          </a:xfrm>
          <a:prstGeom prst="roundRect">
            <a:avLst>
              <a:gd name="adj" fmla="val 7000"/>
            </a:avLst>
          </a:prstGeom>
          <a:solidFill>
            <a:srgbClr val="254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58700" y="3975100"/>
            <a:ext cx="4851400" cy="838200"/>
          </a:xfrm>
          <a:prstGeom prst="rect">
            <a:avLst/>
          </a:prstGeom>
          <a:noFill/>
          <a:effectLst/>
        </p:spPr>
        <p:txBody>
          <a:bodyPr wrap="none" lIns="0" rIns="0" tIns="0" bIns="0" anchor="t">
            <a:spAutoFit/>
          </a:bodyPr>
          <a:lstStyle/>
          <a:p>
            <a:pPr algn="l">
              <a:lnSpc>
                <a:spcPts val="5220"/>
              </a:lnSpc>
              <a:spcBef>
                <a:spcPts val="0"/>
              </a:spcBef>
              <a:spcAft>
                <a:spcPts val="0"/>
              </a:spcAft>
              <a:defRPr sz="4500" b="0">
                <a:solidFill>
                  <a:srgbClr val="FFFFFF"/>
                </a:solidFill>
                <a:latin typeface="Noto Serif"/>
              </a:defRPr>
            </a:pPr>
            <a:r>
              <a:t>15,600</a:t>
            </a:r>
          </a:p>
        </p:txBody>
      </p:sp>
      <p:sp>
        <p:nvSpPr>
          <p:cNvPr id="20" name="TextBox 19"/>
          <p:cNvSpPr txBox="1"/>
          <p:nvPr/>
        </p:nvSpPr>
        <p:spPr>
          <a:xfrm>
            <a:off x="12458700" y="4864100"/>
            <a:ext cx="4851400" cy="444500"/>
          </a:xfrm>
          <a:prstGeom prst="rect">
            <a:avLst/>
          </a:prstGeom>
          <a:noFill/>
          <a:effectLst/>
        </p:spPr>
        <p:txBody>
          <a:bodyPr wrap="none" lIns="0" rIns="0" tIns="0" bIns="0" anchor="t">
            <a:spAutoFit/>
          </a:bodyPr>
          <a:lstStyle/>
          <a:p>
            <a:pPr algn="l">
              <a:lnSpc>
                <a:spcPts val="2552"/>
              </a:lnSpc>
              <a:spcBef>
                <a:spcPts val="0"/>
              </a:spcBef>
              <a:spcAft>
                <a:spcPts val="0"/>
              </a:spcAft>
              <a:defRPr sz="2200" b="1">
                <a:solidFill>
                  <a:srgbClr val="FFFFFF"/>
                </a:solidFill>
                <a:latin typeface="Lato"/>
              </a:defRPr>
            </a:pPr>
            <a:r>
              <a:t>Monitoring account-days</a:t>
            </a:r>
          </a:p>
        </p:txBody>
      </p:sp>
      <p:sp>
        <p:nvSpPr>
          <p:cNvPr id="21" name="TextBox 20"/>
          <p:cNvSpPr txBox="1"/>
          <p:nvPr/>
        </p:nvSpPr>
        <p:spPr>
          <a:xfrm>
            <a:off x="12458700" y="5422900"/>
            <a:ext cx="4851400" cy="3429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D7E4EA"/>
                </a:solidFill>
                <a:latin typeface="Lato"/>
              </a:defRPr>
            </a:pPr>
            <a:r>
              <a:t>130 funded paths × 120 days</a:t>
            </a:r>
          </a:p>
        </p:txBody>
      </p:sp>
      <p:sp>
        <p:nvSpPr>
          <p:cNvPr id="22" name="Rounded Rectangle 21"/>
          <p:cNvSpPr/>
          <p:nvPr/>
        </p:nvSpPr>
        <p:spPr>
          <a:xfrm>
            <a:off x="685800" y="6248400"/>
            <a:ext cx="2654300" cy="3810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7400" y="6324600"/>
            <a:ext cx="2451100" cy="279400"/>
          </a:xfrm>
          <a:prstGeom prst="rect">
            <a:avLst/>
          </a:prstGeom>
          <a:noFill/>
          <a:effectLst/>
        </p:spPr>
        <p:txBody>
          <a:bodyPr wrap="none" lIns="0" rIns="0" tIns="0" bIns="0" anchor="t">
            <a:spAutoFit/>
          </a:bodyPr>
          <a:lstStyle/>
          <a:p>
            <a:pPr algn="ctr">
              <a:lnSpc>
                <a:spcPts val="1507"/>
              </a:lnSpc>
              <a:spcBef>
                <a:spcPts val="0"/>
              </a:spcBef>
              <a:spcAft>
                <a:spcPts val="0"/>
              </a:spcAft>
              <a:defRPr sz="1300" b="1">
                <a:solidFill>
                  <a:srgbClr val="FFFFFF"/>
                </a:solidFill>
                <a:latin typeface="Lato"/>
              </a:defRPr>
            </a:pPr>
            <a:r>
              <a:t>CASE 738 / KEY LAB</a:t>
            </a:r>
          </a:p>
        </p:txBody>
      </p:sp>
      <p:sp>
        <p:nvSpPr>
          <p:cNvPr id="24" name="Rectangle 23"/>
          <p:cNvSpPr/>
          <p:nvPr/>
        </p:nvSpPr>
        <p:spPr>
          <a:xfrm>
            <a:off x="685800" y="6845300"/>
            <a:ext cx="71501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 y="6959600"/>
            <a:ext cx="68453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RUN | SCENARIO | APPLICATION</a:t>
            </a:r>
          </a:p>
        </p:txBody>
      </p:sp>
      <p:sp>
        <p:nvSpPr>
          <p:cNvPr id="26" name="Rectangle 25"/>
          <p:cNvSpPr/>
          <p:nvPr/>
        </p:nvSpPr>
        <p:spPr>
          <a:xfrm>
            <a:off x="7835900" y="6845300"/>
            <a:ext cx="46609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88300" y="6959600"/>
            <a:ext cx="43561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FINAL DECISION</a:t>
            </a:r>
          </a:p>
        </p:txBody>
      </p:sp>
      <p:sp>
        <p:nvSpPr>
          <p:cNvPr id="28" name="Rectangle 27"/>
          <p:cNvSpPr/>
          <p:nvPr/>
        </p:nvSpPr>
        <p:spPr>
          <a:xfrm>
            <a:off x="12496800" y="6845300"/>
            <a:ext cx="5118100" cy="482600"/>
          </a:xfrm>
          <a:prstGeom prst="rect">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649200" y="6959600"/>
            <a:ext cx="4813300" cy="3556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FFFFFF"/>
                </a:solidFill>
                <a:latin typeface="Lato"/>
              </a:defRPr>
            </a:pPr>
            <a:r>
              <a:t>FUNDED MEMBERSHIP</a:t>
            </a:r>
          </a:p>
        </p:txBody>
      </p:sp>
      <p:sp>
        <p:nvSpPr>
          <p:cNvPr id="30" name="Rectangle 29"/>
          <p:cNvSpPr/>
          <p:nvPr/>
        </p:nvSpPr>
        <p:spPr>
          <a:xfrm>
            <a:off x="685800" y="7327900"/>
            <a:ext cx="7150100" cy="102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7480300"/>
            <a:ext cx="68453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1 | 5 | …M000738_A01</a:t>
            </a:r>
          </a:p>
        </p:txBody>
      </p:sp>
      <p:sp>
        <p:nvSpPr>
          <p:cNvPr id="32" name="Rectangle 31"/>
          <p:cNvSpPr/>
          <p:nvPr/>
        </p:nvSpPr>
        <p:spPr>
          <a:xfrm>
            <a:off x="7835900" y="7327900"/>
            <a:ext cx="4660900" cy="102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88300" y="7480300"/>
            <a:ext cx="43561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Baseline: $25,000 authorized</a:t>
            </a:r>
          </a:p>
        </p:txBody>
      </p:sp>
      <p:sp>
        <p:nvSpPr>
          <p:cNvPr id="34" name="Rectangle 33"/>
          <p:cNvSpPr/>
          <p:nvPr/>
        </p:nvSpPr>
        <p:spPr>
          <a:xfrm>
            <a:off x="12496800" y="7327900"/>
            <a:ext cx="5118100" cy="1028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649200" y="7480300"/>
            <a:ext cx="48133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AccountKey + AdvanceKey exist</a:t>
            </a:r>
          </a:p>
        </p:txBody>
      </p:sp>
      <p:cxnSp>
        <p:nvCxnSpPr>
          <p:cNvPr id="36" name="Connector 35"/>
          <p:cNvCxnSpPr/>
          <p:nvPr/>
        </p:nvCxnSpPr>
        <p:spPr>
          <a:xfrm>
            <a:off x="685800" y="83566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5800" y="8356600"/>
            <a:ext cx="7150100" cy="10287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8200" y="8509000"/>
            <a:ext cx="68453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1 | 6 | …M000738_A01</a:t>
            </a:r>
          </a:p>
        </p:txBody>
      </p:sp>
      <p:sp>
        <p:nvSpPr>
          <p:cNvPr id="39" name="Rectangle 38"/>
          <p:cNvSpPr/>
          <p:nvPr/>
        </p:nvSpPr>
        <p:spPr>
          <a:xfrm>
            <a:off x="7835900" y="8356600"/>
            <a:ext cx="4660900" cy="1028700"/>
          </a:xfrm>
          <a:prstGeom prst="rect">
            <a:avLst/>
          </a:prstGeom>
          <a:solidFill>
            <a:srgbClr val="F0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88300" y="8509000"/>
            <a:ext cx="43561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203B4C"/>
                </a:solidFill>
                <a:latin typeface="Lato"/>
              </a:defRPr>
            </a:pPr>
            <a:r>
              <a:t>Stress: evidence decline</a:t>
            </a:r>
          </a:p>
        </p:txBody>
      </p:sp>
      <p:sp>
        <p:nvSpPr>
          <p:cNvPr id="41" name="Rectangle 40"/>
          <p:cNvSpPr/>
          <p:nvPr/>
        </p:nvSpPr>
        <p:spPr>
          <a:xfrm>
            <a:off x="12496800" y="8356600"/>
            <a:ext cx="5118100" cy="1028700"/>
          </a:xfrm>
          <a:prstGeom prst="rect">
            <a:avLst/>
          </a:prstGeom>
          <a:solidFill>
            <a:srgbClr val="FA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649200" y="8509000"/>
            <a:ext cx="4813300" cy="8636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B44F3C"/>
                </a:solidFill>
                <a:latin typeface="Lato"/>
              </a:defRPr>
            </a:pPr>
            <a:r>
              <a:t>No account / no funded match</a:t>
            </a:r>
          </a:p>
        </p:txBody>
      </p:sp>
      <p:cxnSp>
        <p:nvCxnSpPr>
          <p:cNvPr id="43" name="Connector 42"/>
          <p:cNvCxnSpPr/>
          <p:nvPr/>
        </p:nvCxnSpPr>
        <p:spPr>
          <a:xfrm>
            <a:off x="685800" y="9385300"/>
            <a:ext cx="169291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23900" y="9512300"/>
            <a:ext cx="16802100" cy="3048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D7E4EA"/>
                </a:solidFill>
                <a:latin typeface="Lato"/>
              </a:defRPr>
            </a:pPr>
            <a:r>
              <a:t>Keys are abbreviated here. The full run / scenario / application identities are retained in the source-reading guide.</a:t>
            </a:r>
          </a:p>
        </p:txBody>
      </p:sp>
      <p:sp>
        <p:nvSpPr>
          <p:cNvPr id="45" name="TextBox 44"/>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91D5C9"/>
                </a:solidFill>
                <a:latin typeface="Lato"/>
              </a:defRPr>
            </a:pPr>
            <a:r>
              <a:t>Authorization is not a universal guarantee of booking. This synthetic population has 130 of each; funded membership is the proof.</a:t>
            </a:r>
          </a:p>
        </p:txBody>
      </p:sp>
      <p:sp>
        <p:nvSpPr>
          <p:cNvPr id="46" name="Rounded Rectangle 45"/>
          <p:cNvSpPr/>
          <p:nvPr/>
        </p:nvSpPr>
        <p:spPr>
          <a:xfrm>
            <a:off x="685800" y="10604500"/>
            <a:ext cx="9994900" cy="1041400"/>
          </a:xfrm>
          <a:prstGeom prst="roundRect">
            <a:avLst>
              <a:gd name="adj" fmla="val 7000"/>
            </a:avLst>
          </a:prstGeom>
          <a:solidFill>
            <a:srgbClr val="2E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F1C56C"/>
                </a:solidFill>
                <a:latin typeface="Lato"/>
              </a:defRPr>
            </a:pPr>
            <a:r>
              <a:t>TRY IT</a:t>
            </a:r>
          </a:p>
        </p:txBody>
      </p:sp>
      <p:sp>
        <p:nvSpPr>
          <p:cNvPr id="48" name="TextBox 47"/>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FFFFFF"/>
                </a:solidFill>
                <a:latin typeface="Lato"/>
              </a:defRPr>
            </a:pPr>
            <a:r>
              <a:t>What happens when the stress-declined 738 path is joined only on merchant ID?</a:t>
            </a:r>
          </a:p>
        </p:txBody>
      </p:sp>
      <p:sp>
        <p:nvSpPr>
          <p:cNvPr id="49" name="Rounded Rectangle 48"/>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1" name="TextBox 50"/>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The Baseline account could leak into the stress path. Use</a:t>
            </a:r>
          </a:p>
          <a:p>
            <a:pPr algn="l">
              <a:lnSpc>
                <a:spcPts val="1913"/>
              </a:lnSpc>
              <a:spcBef>
                <a:spcPts val="0"/>
              </a:spcBef>
              <a:spcAft>
                <a:spcPts val="0"/>
              </a:spcAft>
              <a:defRPr sz="1650" b="0">
                <a:solidFill>
                  <a:srgbClr val="FFFFFF"/>
                </a:solidFill>
                <a:latin typeface="Lato"/>
              </a:defRPr>
            </a:pPr>
            <a:r>
              <a:t>the complete run / scenario / application key.</a:t>
            </a:r>
          </a:p>
        </p:txBody>
      </p:sp>
      <p:sp>
        <p:nvSpPr>
          <p:cNvPr id="52" name="TextBox 51"/>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D7E4EA"/>
                </a:solidFill>
                <a:latin typeface="Lato"/>
              </a:defRPr>
            </a:pPr>
            <a:r>
              <a:t>Andrew R. Goad · Synthetic MSBF · Non-production · No real funds</a:t>
            </a:r>
          </a:p>
        </p:txBody>
      </p:sp>
      <p:sp>
        <p:nvSpPr>
          <p:cNvPr id="53" name="TextBox 52"/>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D7E4EA"/>
                </a:solidFill>
                <a:latin typeface="Lato"/>
              </a:defRPr>
            </a:pPr>
            <a:r>
              <a:t>Evidence S13, S14, S18, S19 | 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5FB"/>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What does active monitoring actually watch?</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17</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All active families require an unpaid path. Families can overlap; a signal is not permission to act.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8500" y="3111500"/>
            <a:ext cx="16192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INPUT → SOURCE TEST → OPERATIONAL MEANING</a:t>
            </a:r>
          </a:p>
        </p:txBody>
      </p:sp>
      <p:sp>
        <p:nvSpPr>
          <p:cNvPr id="10" name="Rounded Rectangle 9"/>
          <p:cNvSpPr/>
          <p:nvPr/>
        </p:nvSpPr>
        <p:spPr>
          <a:xfrm>
            <a:off x="685800" y="3606800"/>
            <a:ext cx="2768600" cy="10287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3886200"/>
            <a:ext cx="2400300" cy="6858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PACE</a:t>
            </a:r>
          </a:p>
        </p:txBody>
      </p:sp>
      <p:sp>
        <p:nvSpPr>
          <p:cNvPr id="12" name="Rounded Rectangle 11"/>
          <p:cNvSpPr/>
          <p:nvPr/>
        </p:nvSpPr>
        <p:spPr>
          <a:xfrm>
            <a:off x="3695700" y="3606800"/>
            <a:ext cx="45466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98900" y="3797300"/>
            <a:ext cx="4140200" cy="812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Cumulative remittance / capped</a:t>
            </a:r>
          </a:p>
          <a:p>
            <a:pPr algn="l">
              <a:lnSpc>
                <a:spcPts val="2088"/>
              </a:lnSpc>
              <a:spcBef>
                <a:spcPts val="0"/>
              </a:spcBef>
              <a:spcAft>
                <a:spcPts val="0"/>
              </a:spcAft>
              <a:defRPr sz="1800" b="0">
                <a:solidFill>
                  <a:srgbClr val="203B4C"/>
                </a:solidFill>
                <a:latin typeface="Lato"/>
              </a:defRPr>
            </a:pPr>
            <a:r>
              <a:t>expectation</a:t>
            </a:r>
          </a:p>
        </p:txBody>
      </p:sp>
      <p:sp>
        <p:nvSpPr>
          <p:cNvPr id="14" name="Rounded Rectangle 13"/>
          <p:cNvSpPr/>
          <p:nvPr/>
        </p:nvSpPr>
        <p:spPr>
          <a:xfrm>
            <a:off x="8470900" y="3606800"/>
            <a:ext cx="91440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74100" y="3721100"/>
            <a:ext cx="8712200" cy="622300"/>
          </a:xfrm>
          <a:prstGeom prst="rect">
            <a:avLst/>
          </a:prstGeom>
          <a:noFill/>
          <a:effectLst/>
        </p:spPr>
        <p:txBody>
          <a:bodyPr wrap="none" lIns="0" rIns="0" tIns="0" bIns="0" anchor="t">
            <a:spAutoFit/>
          </a:bodyPr>
          <a:lstStyle/>
          <a:p>
            <a:pPr algn="l">
              <a:lnSpc>
                <a:spcPts val="2029"/>
              </a:lnSpc>
              <a:spcBef>
                <a:spcPts val="0"/>
              </a:spcBef>
              <a:spcAft>
                <a:spcPts val="0"/>
              </a:spcAft>
              <a:defRPr sz="1750" b="1">
                <a:solidFill>
                  <a:srgbClr val="203B4C"/>
                </a:solidFill>
                <a:latin typeface="Lato"/>
              </a:defRPr>
            </a:pPr>
            <a:r>
              <a:t>Watch &lt;90%: day ≥21. Adverse &lt;75% / &lt;50%: day ≥30.</a:t>
            </a:r>
          </a:p>
          <a:p>
            <a:pPr algn="l">
              <a:lnSpc>
                <a:spcPts val="2029"/>
              </a:lnSpc>
              <a:spcBef>
                <a:spcPts val="0"/>
              </a:spcBef>
              <a:spcAft>
                <a:spcPts val="0"/>
              </a:spcAft>
              <a:defRPr sz="1750" b="1">
                <a:solidFill>
                  <a:srgbClr val="203B4C"/>
                </a:solidFill>
                <a:latin typeface="Lato"/>
              </a:defRPr>
            </a:pPr>
            <a:r>
              <a:t>Three consecutive eligible breaches.</a:t>
            </a:r>
          </a:p>
        </p:txBody>
      </p:sp>
      <p:sp>
        <p:nvSpPr>
          <p:cNvPr id="16" name="TextBox 15"/>
          <p:cNvSpPr txBox="1"/>
          <p:nvPr/>
        </p:nvSpPr>
        <p:spPr>
          <a:xfrm>
            <a:off x="8674100" y="4330700"/>
            <a:ext cx="8712200" cy="2921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Behind the selected structure’s expected trajectory.</a:t>
            </a:r>
          </a:p>
        </p:txBody>
      </p:sp>
      <p:sp>
        <p:nvSpPr>
          <p:cNvPr id="17" name="Rounded Rectangle 16"/>
          <p:cNvSpPr/>
          <p:nvPr/>
        </p:nvSpPr>
        <p:spPr>
          <a:xfrm>
            <a:off x="685800" y="4787900"/>
            <a:ext cx="2768600" cy="10287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3600" y="5067300"/>
            <a:ext cx="2400300" cy="6858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NO REMITTANCE</a:t>
            </a:r>
          </a:p>
        </p:txBody>
      </p:sp>
      <p:sp>
        <p:nvSpPr>
          <p:cNvPr id="19" name="Rounded Rectangle 18"/>
          <p:cNvSpPr/>
          <p:nvPr/>
        </p:nvSpPr>
        <p:spPr>
          <a:xfrm>
            <a:off x="3695700" y="4787900"/>
            <a:ext cx="45466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98900" y="4978400"/>
            <a:ext cx="4140200" cy="812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Days since positive remittance</a:t>
            </a:r>
          </a:p>
        </p:txBody>
      </p:sp>
      <p:sp>
        <p:nvSpPr>
          <p:cNvPr id="21" name="Rounded Rectangle 20"/>
          <p:cNvSpPr/>
          <p:nvPr/>
        </p:nvSpPr>
        <p:spPr>
          <a:xfrm>
            <a:off x="8470900" y="4787900"/>
            <a:ext cx="91440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74100" y="4902200"/>
            <a:ext cx="8712200" cy="622300"/>
          </a:xfrm>
          <a:prstGeom prst="rect">
            <a:avLst/>
          </a:prstGeom>
          <a:noFill/>
          <a:effectLst/>
        </p:spPr>
        <p:txBody>
          <a:bodyPr wrap="none" lIns="0" rIns="0" tIns="0" bIns="0" anchor="t">
            <a:spAutoFit/>
          </a:bodyPr>
          <a:lstStyle/>
          <a:p>
            <a:pPr algn="l">
              <a:lnSpc>
                <a:spcPts val="2029"/>
              </a:lnSpc>
              <a:spcBef>
                <a:spcPts val="0"/>
              </a:spcBef>
              <a:spcAft>
                <a:spcPts val="0"/>
              </a:spcAft>
              <a:defRPr sz="1750" b="1">
                <a:solidFill>
                  <a:srgbClr val="203B4C"/>
                </a:solidFill>
                <a:latin typeface="Lato"/>
              </a:defRPr>
            </a:pPr>
            <a:r>
              <a:t>Day ≥14 and ≥7 days without positive remittance.</a:t>
            </a:r>
          </a:p>
          <a:p>
            <a:pPr algn="l">
              <a:lnSpc>
                <a:spcPts val="2029"/>
              </a:lnSpc>
              <a:spcBef>
                <a:spcPts val="0"/>
              </a:spcBef>
              <a:spcAft>
                <a:spcPts val="0"/>
              </a:spcAft>
              <a:defRPr sz="1750" b="1">
                <a:solidFill>
                  <a:srgbClr val="203B4C"/>
                </a:solidFill>
                <a:latin typeface="Lato"/>
              </a:defRPr>
            </a:pPr>
            <a:r>
              <a:t>At ≥14 such days, dormant status can govern.</a:t>
            </a:r>
          </a:p>
        </p:txBody>
      </p:sp>
      <p:sp>
        <p:nvSpPr>
          <p:cNvPr id="23" name="TextBox 22"/>
          <p:cNvSpPr txBox="1"/>
          <p:nvPr/>
        </p:nvSpPr>
        <p:spPr>
          <a:xfrm>
            <a:off x="8674100" y="5511800"/>
            <a:ext cx="8712200" cy="2921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Collections have stopped—not merely slowed.</a:t>
            </a:r>
          </a:p>
        </p:txBody>
      </p:sp>
      <p:sp>
        <p:nvSpPr>
          <p:cNvPr id="24" name="Rounded Rectangle 23"/>
          <p:cNvSpPr/>
          <p:nvPr/>
        </p:nvSpPr>
        <p:spPr>
          <a:xfrm>
            <a:off x="685800" y="5969000"/>
            <a:ext cx="2768600" cy="10287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3600" y="6248400"/>
            <a:ext cx="2400300" cy="6858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SALES DORMANCY</a:t>
            </a:r>
          </a:p>
        </p:txBody>
      </p:sp>
      <p:sp>
        <p:nvSpPr>
          <p:cNvPr id="26" name="Rounded Rectangle 25"/>
          <p:cNvSpPr/>
          <p:nvPr/>
        </p:nvSpPr>
        <p:spPr>
          <a:xfrm>
            <a:off x="3695700" y="5969000"/>
            <a:ext cx="45466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98900" y="6159500"/>
            <a:ext cx="4140200" cy="812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Consecutive zero-sales days</a:t>
            </a:r>
          </a:p>
        </p:txBody>
      </p:sp>
      <p:sp>
        <p:nvSpPr>
          <p:cNvPr id="28" name="Rounded Rectangle 27"/>
          <p:cNvSpPr/>
          <p:nvPr/>
        </p:nvSpPr>
        <p:spPr>
          <a:xfrm>
            <a:off x="8470900" y="5969000"/>
            <a:ext cx="91440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74100" y="6083300"/>
            <a:ext cx="8712200" cy="622300"/>
          </a:xfrm>
          <a:prstGeom prst="rect">
            <a:avLst/>
          </a:prstGeom>
          <a:noFill/>
          <a:effectLst/>
        </p:spPr>
        <p:txBody>
          <a:bodyPr wrap="none" lIns="0" rIns="0" tIns="0" bIns="0" anchor="t">
            <a:spAutoFit/>
          </a:bodyPr>
          <a:lstStyle/>
          <a:p>
            <a:pPr algn="l">
              <a:lnSpc>
                <a:spcPts val="2029"/>
              </a:lnSpc>
              <a:spcBef>
                <a:spcPts val="0"/>
              </a:spcBef>
              <a:spcAft>
                <a:spcPts val="0"/>
              </a:spcAft>
              <a:defRPr sz="1750" b="1">
                <a:solidFill>
                  <a:srgbClr val="203B4C"/>
                </a:solidFill>
                <a:latin typeface="Lato"/>
              </a:defRPr>
            </a:pPr>
            <a:r>
              <a:t>Day ≥14 and zero-sales streak ≥10.</a:t>
            </a:r>
          </a:p>
        </p:txBody>
      </p:sp>
      <p:sp>
        <p:nvSpPr>
          <p:cNvPr id="30" name="TextBox 29"/>
          <p:cNvSpPr txBox="1"/>
          <p:nvPr/>
        </p:nvSpPr>
        <p:spPr>
          <a:xfrm>
            <a:off x="8674100" y="6692900"/>
            <a:ext cx="8712200" cy="2921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Underlying sales activity has stopped.</a:t>
            </a:r>
          </a:p>
        </p:txBody>
      </p:sp>
      <p:sp>
        <p:nvSpPr>
          <p:cNvPr id="31" name="Rounded Rectangle 30"/>
          <p:cNvSpPr/>
          <p:nvPr/>
        </p:nvSpPr>
        <p:spPr>
          <a:xfrm>
            <a:off x="685800" y="7150100"/>
            <a:ext cx="2768600" cy="10287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600" y="7429500"/>
            <a:ext cx="2400300" cy="6858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LIQUIDITY</a:t>
            </a:r>
          </a:p>
        </p:txBody>
      </p:sp>
      <p:sp>
        <p:nvSpPr>
          <p:cNvPr id="33" name="Rounded Rectangle 32"/>
          <p:cNvSpPr/>
          <p:nvPr/>
        </p:nvSpPr>
        <p:spPr>
          <a:xfrm>
            <a:off x="3695700" y="7150100"/>
            <a:ext cx="45466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98900" y="7340600"/>
            <a:ext cx="4140200" cy="812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Balance · NSF events · negative flag</a:t>
            </a:r>
          </a:p>
        </p:txBody>
      </p:sp>
      <p:sp>
        <p:nvSpPr>
          <p:cNvPr id="35" name="Rounded Rectangle 34"/>
          <p:cNvSpPr/>
          <p:nvPr/>
        </p:nvSpPr>
        <p:spPr>
          <a:xfrm>
            <a:off x="8470900" y="7150100"/>
            <a:ext cx="91440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74100" y="7264400"/>
            <a:ext cx="8712200" cy="622300"/>
          </a:xfrm>
          <a:prstGeom prst="rect">
            <a:avLst/>
          </a:prstGeom>
          <a:noFill/>
          <a:effectLst/>
        </p:spPr>
        <p:txBody>
          <a:bodyPr wrap="none" lIns="0" rIns="0" tIns="0" bIns="0" anchor="t">
            <a:spAutoFit/>
          </a:bodyPr>
          <a:lstStyle/>
          <a:p>
            <a:pPr algn="l">
              <a:lnSpc>
                <a:spcPts val="2029"/>
              </a:lnSpc>
              <a:spcBef>
                <a:spcPts val="0"/>
              </a:spcBef>
              <a:spcAft>
                <a:spcPts val="0"/>
              </a:spcAft>
              <a:defRPr sz="1750" b="1">
                <a:solidFill>
                  <a:srgbClr val="203B4C"/>
                </a:solidFill>
                <a:latin typeface="Lato"/>
              </a:defRPr>
            </a:pPr>
            <a:r>
              <a:t>Day ≥7 AND any of: balance &lt;0; NSF &gt;0; negative flag.</a:t>
            </a:r>
          </a:p>
        </p:txBody>
      </p:sp>
      <p:sp>
        <p:nvSpPr>
          <p:cNvPr id="37" name="TextBox 36"/>
          <p:cNvSpPr txBox="1"/>
          <p:nvPr/>
        </p:nvSpPr>
        <p:spPr>
          <a:xfrm>
            <a:off x="8674100" y="7874000"/>
            <a:ext cx="8712200" cy="2921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Cash stress can arise before pace seasoning.</a:t>
            </a:r>
          </a:p>
        </p:txBody>
      </p:sp>
      <p:sp>
        <p:nvSpPr>
          <p:cNvPr id="38" name="Rounded Rectangle 37"/>
          <p:cNvSpPr/>
          <p:nvPr/>
        </p:nvSpPr>
        <p:spPr>
          <a:xfrm>
            <a:off x="685800" y="8331200"/>
            <a:ext cx="2768600" cy="10287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3600" y="8610600"/>
            <a:ext cx="2400300" cy="6858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HORIZON</a:t>
            </a:r>
          </a:p>
        </p:txBody>
      </p:sp>
      <p:sp>
        <p:nvSpPr>
          <p:cNvPr id="40" name="Rounded Rectangle 39"/>
          <p:cNvSpPr/>
          <p:nvPr/>
        </p:nvSpPr>
        <p:spPr>
          <a:xfrm>
            <a:off x="3695700" y="8331200"/>
            <a:ext cx="45466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98900" y="8521700"/>
            <a:ext cx="4140200" cy="8128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03B4C"/>
                </a:solidFill>
                <a:latin typeface="Lato"/>
              </a:defRPr>
            </a:pPr>
            <a:r>
              <a:t>Elapsed day · selected horizon · unpaid</a:t>
            </a:r>
          </a:p>
          <a:p>
            <a:pPr algn="l">
              <a:lnSpc>
                <a:spcPts val="2088"/>
              </a:lnSpc>
              <a:spcBef>
                <a:spcPts val="0"/>
              </a:spcBef>
              <a:spcAft>
                <a:spcPts val="0"/>
              </a:spcAft>
              <a:defRPr sz="1800" b="0">
                <a:solidFill>
                  <a:srgbClr val="203B4C"/>
                </a:solidFill>
                <a:latin typeface="Lato"/>
              </a:defRPr>
            </a:pPr>
            <a:r>
              <a:t>balance</a:t>
            </a:r>
          </a:p>
        </p:txBody>
      </p:sp>
      <p:sp>
        <p:nvSpPr>
          <p:cNvPr id="42" name="Rounded Rectangle 41"/>
          <p:cNvSpPr/>
          <p:nvPr/>
        </p:nvSpPr>
        <p:spPr>
          <a:xfrm>
            <a:off x="8470900" y="8331200"/>
            <a:ext cx="9144000" cy="1028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74100" y="8445500"/>
            <a:ext cx="8712200" cy="622300"/>
          </a:xfrm>
          <a:prstGeom prst="rect">
            <a:avLst/>
          </a:prstGeom>
          <a:noFill/>
          <a:effectLst/>
        </p:spPr>
        <p:txBody>
          <a:bodyPr wrap="none" lIns="0" rIns="0" tIns="0" bIns="0" anchor="t">
            <a:spAutoFit/>
          </a:bodyPr>
          <a:lstStyle/>
          <a:p>
            <a:pPr algn="l">
              <a:lnSpc>
                <a:spcPts val="2029"/>
              </a:lnSpc>
              <a:spcBef>
                <a:spcPts val="0"/>
              </a:spcBef>
              <a:spcAft>
                <a:spcPts val="0"/>
              </a:spcAft>
              <a:defRPr sz="1750" b="1">
                <a:solidFill>
                  <a:srgbClr val="203B4C"/>
                </a:solidFill>
                <a:latin typeface="Lato"/>
              </a:defRPr>
            </a:pPr>
            <a:r>
              <a:t>Day ≥14; day &gt; selected horizon; balance &gt;0.</a:t>
            </a:r>
          </a:p>
        </p:txBody>
      </p:sp>
      <p:sp>
        <p:nvSpPr>
          <p:cNvPr id="44" name="TextBox 43"/>
          <p:cNvSpPr txBox="1"/>
          <p:nvPr/>
        </p:nvSpPr>
        <p:spPr>
          <a:xfrm>
            <a:off x="8674100" y="9055100"/>
            <a:ext cx="8712200" cy="2921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Repayment timing has overrun. The balance remains.</a:t>
            </a:r>
          </a:p>
        </p:txBody>
      </p:sp>
      <p:sp>
        <p:nvSpPr>
          <p:cNvPr id="45" name="TextBox 44"/>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The selected structure sets the benchmark. Payments, sales, liquidity and elapsed time supply the changing observations.</a:t>
            </a:r>
          </a:p>
        </p:txBody>
      </p:sp>
      <p:sp>
        <p:nvSpPr>
          <p:cNvPr id="46" name="Rounded Rectangle 45"/>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8" name="TextBox 47"/>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Can day-8 liquidity create a watch signal before pace becomes eligible?</a:t>
            </a:r>
          </a:p>
        </p:txBody>
      </p:sp>
      <p:sp>
        <p:nvSpPr>
          <p:cNvPr id="49" name="Rounded Rectangle 48"/>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1" name="TextBox 50"/>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Yes. Liquidity starts at day 7 under its own conditions. The</a:t>
            </a:r>
          </a:p>
          <a:p>
            <a:pPr algn="l">
              <a:lnSpc>
                <a:spcPts val="1913"/>
              </a:lnSpc>
              <a:spcBef>
                <a:spcPts val="0"/>
              </a:spcBef>
              <a:spcAft>
                <a:spcPts val="0"/>
              </a:spcAft>
              <a:defRPr sz="1650" b="0">
                <a:solidFill>
                  <a:srgbClr val="FFFFFF"/>
                </a:solidFill>
                <a:latin typeface="Lato"/>
              </a:defRPr>
            </a:pPr>
            <a:r>
              <a:t>21/30/3 rule applies to pace—not all signals.</a:t>
            </a:r>
          </a:p>
        </p:txBody>
      </p:sp>
      <p:sp>
        <p:nvSpPr>
          <p:cNvPr id="52" name="TextBox 51"/>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3" name="TextBox 52"/>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S16, S17, S19 | 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Pace is a benchmark plus persistence</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18</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749 / Baseline. Separate actual cash collected from the expected repayment benchmark.</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4711700" cy="17399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327400"/>
            <a:ext cx="698500" cy="698500"/>
          </a:xfrm>
          <a:prstGeom prst="ellipse">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98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749</a:t>
            </a:r>
          </a:p>
        </p:txBody>
      </p:sp>
      <p:sp>
        <p:nvSpPr>
          <p:cNvPr id="12" name="TextBox 11"/>
          <p:cNvSpPr txBox="1"/>
          <p:nvPr/>
        </p:nvSpPr>
        <p:spPr>
          <a:xfrm>
            <a:off x="1828800" y="3340100"/>
            <a:ext cx="33401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749</a:t>
            </a:r>
          </a:p>
        </p:txBody>
      </p:sp>
      <p:sp>
        <p:nvSpPr>
          <p:cNvPr id="13" name="TextBox 12"/>
          <p:cNvSpPr txBox="1"/>
          <p:nvPr/>
        </p:nvSpPr>
        <p:spPr>
          <a:xfrm>
            <a:off x="1828800" y="3683000"/>
            <a:ext cx="33401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Actual vs expected pace</a:t>
            </a:r>
          </a:p>
        </p:txBody>
      </p:sp>
      <p:sp>
        <p:nvSpPr>
          <p:cNvPr id="14" name="TextBox 13"/>
          <p:cNvSpPr txBox="1"/>
          <p:nvPr/>
        </p:nvSpPr>
        <p:spPr>
          <a:xfrm>
            <a:off x="939800" y="4495800"/>
            <a:ext cx="42037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BASELINE</a:t>
            </a:r>
          </a:p>
        </p:txBody>
      </p:sp>
      <p:sp>
        <p:nvSpPr>
          <p:cNvPr id="15" name="Rounded Rectangle 14"/>
          <p:cNvSpPr/>
          <p:nvPr/>
        </p:nvSpPr>
        <p:spPr>
          <a:xfrm>
            <a:off x="685800" y="5156200"/>
            <a:ext cx="4711700" cy="45593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2500" y="5422900"/>
            <a:ext cx="4191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1C7EA"/>
                </a:solidFill>
                <a:latin typeface="Lato"/>
              </a:defRPr>
            </a:pPr>
            <a:r>
              <a:t>EXACT POLICY FRAGMENT</a:t>
            </a:r>
          </a:p>
        </p:txBody>
      </p:sp>
      <p:sp>
        <p:nvSpPr>
          <p:cNvPr id="17" name="TextBox 16"/>
          <p:cNvSpPr txBox="1"/>
          <p:nvPr/>
        </p:nvSpPr>
        <p:spPr>
          <a:xfrm>
            <a:off x="952500" y="5969000"/>
            <a:ext cx="4178300" cy="2006600"/>
          </a:xfrm>
          <a:prstGeom prst="rect">
            <a:avLst/>
          </a:prstGeom>
          <a:noFill/>
          <a:effectLst/>
        </p:spPr>
        <p:txBody>
          <a:bodyPr wrap="none" lIns="0" rIns="0" tIns="0" bIns="0" anchor="t">
            <a:spAutoFit/>
          </a:bodyPr>
          <a:lstStyle/>
          <a:p>
            <a:pPr algn="l">
              <a:lnSpc>
                <a:spcPts val="1623"/>
              </a:lnSpc>
              <a:spcBef>
                <a:spcPts val="0"/>
              </a:spcBef>
              <a:spcAft>
                <a:spcPts val="0"/>
              </a:spcAft>
              <a:defRPr sz="1400" b="0">
                <a:solidFill>
                  <a:srgbClr val="FFFFFF"/>
                </a:solidFill>
                <a:latin typeface="Liberation Mono"/>
              </a:defRPr>
            </a:pPr>
            <a:r>
              <a:t>'pace_watch_eligibility_day': 21,</a:t>
            </a:r>
          </a:p>
          <a:p>
            <a:pPr algn="l">
              <a:lnSpc>
                <a:spcPts val="1623"/>
              </a:lnSpc>
              <a:spcBef>
                <a:spcPts val="0"/>
              </a:spcBef>
              <a:spcAft>
                <a:spcPts val="0"/>
              </a:spcAft>
              <a:defRPr sz="1400" b="0">
                <a:solidFill>
                  <a:srgbClr val="FFFFFF"/>
                </a:solidFill>
                <a:latin typeface="Liberation Mono"/>
              </a:defRPr>
            </a:pPr>
            <a:r>
              <a:t>'pace_adverse_eligibility_day': 30,</a:t>
            </a:r>
          </a:p>
          <a:p>
            <a:pPr algn="l">
              <a:lnSpc>
                <a:spcPts val="1623"/>
              </a:lnSpc>
              <a:spcBef>
                <a:spcPts val="0"/>
              </a:spcBef>
              <a:spcAft>
                <a:spcPts val="0"/>
              </a:spcAft>
              <a:defRPr sz="1400" b="0">
                <a:solidFill>
                  <a:srgbClr val="FFFFFF"/>
                </a:solidFill>
                <a:latin typeface="Liberation Mono"/>
              </a:defRPr>
            </a:pPr>
            <a:r>
              <a:t>'pace_persistence_days': 3,</a:t>
            </a:r>
          </a:p>
        </p:txBody>
      </p:sp>
      <p:sp>
        <p:nvSpPr>
          <p:cNvPr id="18" name="TextBox 17"/>
          <p:cNvSpPr txBox="1"/>
          <p:nvPr/>
        </p:nvSpPr>
        <p:spPr>
          <a:xfrm>
            <a:off x="952500" y="8242300"/>
            <a:ext cx="4178300" cy="11811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D7E4EA"/>
                </a:solidFill>
                <a:latin typeface="Lato"/>
              </a:defRPr>
            </a:pPr>
            <a:r>
              <a:t>r26_policy.py · lines 9–11</a:t>
            </a:r>
          </a:p>
          <a:p>
            <a:pPr algn="l">
              <a:lnSpc>
                <a:spcPts val="1972"/>
              </a:lnSpc>
              <a:spcBef>
                <a:spcPts val="0"/>
              </a:spcBef>
              <a:spcAft>
                <a:spcPts val="0"/>
              </a:spcAft>
              <a:defRPr sz="1700" b="0">
                <a:solidFill>
                  <a:srgbClr val="D7E4EA"/>
                </a:solidFill>
                <a:latin typeface="Lato"/>
              </a:defRPr>
            </a:pPr>
            <a:r>
              <a:t>This fragment is not the complete status</a:t>
            </a:r>
          </a:p>
          <a:p>
            <a:pPr algn="l">
              <a:lnSpc>
                <a:spcPts val="1972"/>
              </a:lnSpc>
              <a:spcBef>
                <a:spcPts val="0"/>
              </a:spcBef>
              <a:spcAft>
                <a:spcPts val="0"/>
              </a:spcAft>
              <a:defRPr sz="1700" b="0">
                <a:solidFill>
                  <a:srgbClr val="D7E4EA"/>
                </a:solidFill>
                <a:latin typeface="Lato"/>
              </a:defRPr>
            </a:pPr>
            <a:r>
              <a:t>model.</a:t>
            </a:r>
          </a:p>
        </p:txBody>
      </p:sp>
      <p:sp>
        <p:nvSpPr>
          <p:cNvPr id="19" name="TextBox 18"/>
          <p:cNvSpPr txBox="1"/>
          <p:nvPr/>
        </p:nvSpPr>
        <p:spPr>
          <a:xfrm>
            <a:off x="5930900" y="3149600"/>
            <a:ext cx="115316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ACTUAL CASE / SELECTED TARGET $21,451.04 / HORIZON 90 DAYS</a:t>
            </a:r>
          </a:p>
        </p:txBody>
      </p:sp>
      <p:sp>
        <p:nvSpPr>
          <p:cNvPr id="20" name="TextBox 19"/>
          <p:cNvSpPr txBox="1"/>
          <p:nvPr/>
        </p:nvSpPr>
        <p:spPr>
          <a:xfrm>
            <a:off x="5956300" y="3695700"/>
            <a:ext cx="11658600" cy="952500"/>
          </a:xfrm>
          <a:prstGeom prst="rect">
            <a:avLst/>
          </a:prstGeom>
          <a:noFill/>
          <a:effectLst/>
        </p:spPr>
        <p:txBody>
          <a:bodyPr wrap="none" lIns="0" rIns="0" tIns="0" bIns="0" anchor="t">
            <a:spAutoFit/>
          </a:bodyPr>
          <a:lstStyle/>
          <a:p>
            <a:pPr algn="l">
              <a:lnSpc>
                <a:spcPts val="3131"/>
              </a:lnSpc>
              <a:spcBef>
                <a:spcPts val="0"/>
              </a:spcBef>
              <a:spcAft>
                <a:spcPts val="0"/>
              </a:spcAft>
              <a:defRPr sz="2700" b="0">
                <a:solidFill>
                  <a:srgbClr val="203B4C"/>
                </a:solidFill>
                <a:latin typeface="Noto Serif"/>
              </a:defRPr>
            </a:pPr>
            <a:r>
              <a:t>Expected(d) = min[round(T / H × d, 2), T]</a:t>
            </a:r>
          </a:p>
        </p:txBody>
      </p:sp>
      <p:sp>
        <p:nvSpPr>
          <p:cNvPr id="21" name="TextBox 20"/>
          <p:cNvSpPr txBox="1"/>
          <p:nvPr/>
        </p:nvSpPr>
        <p:spPr>
          <a:xfrm>
            <a:off x="5956300" y="4711700"/>
            <a:ext cx="11557000" cy="774700"/>
          </a:xfrm>
          <a:prstGeom prst="rect">
            <a:avLst/>
          </a:prstGeom>
          <a:noFill/>
          <a:effectLst/>
        </p:spPr>
        <p:txBody>
          <a:bodyPr wrap="none" lIns="0" rIns="0" tIns="0" bIns="0" anchor="t">
            <a:spAutoFit/>
          </a:bodyPr>
          <a:lstStyle/>
          <a:p>
            <a:pPr algn="l">
              <a:lnSpc>
                <a:spcPts val="2783"/>
              </a:lnSpc>
              <a:spcBef>
                <a:spcPts val="0"/>
              </a:spcBef>
              <a:spcAft>
                <a:spcPts val="0"/>
              </a:spcAft>
              <a:defRPr sz="2400" b="0">
                <a:solidFill>
                  <a:srgbClr val="203B4C"/>
                </a:solidFill>
                <a:latin typeface="Lato"/>
              </a:defRPr>
            </a:pPr>
            <a:r>
              <a:t>Day 32: expected = $7,627.04</a:t>
            </a:r>
          </a:p>
          <a:p>
            <a:pPr algn="l">
              <a:lnSpc>
                <a:spcPts val="2783"/>
              </a:lnSpc>
              <a:spcBef>
                <a:spcPts val="0"/>
              </a:spcBef>
              <a:spcAft>
                <a:spcPts val="0"/>
              </a:spcAft>
              <a:defRPr sz="2400" b="0">
                <a:solidFill>
                  <a:srgbClr val="203B4C"/>
                </a:solidFill>
                <a:latin typeface="Lato"/>
              </a:defRPr>
            </a:pPr>
            <a:r>
              <a:t>Actual cumulative remittance = $5,109.42</a:t>
            </a:r>
          </a:p>
        </p:txBody>
      </p:sp>
      <p:sp>
        <p:nvSpPr>
          <p:cNvPr id="22" name="Rounded Rectangle 21"/>
          <p:cNvSpPr/>
          <p:nvPr/>
        </p:nvSpPr>
        <p:spPr>
          <a:xfrm>
            <a:off x="5880100" y="5778500"/>
            <a:ext cx="11734800" cy="9525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6800" y="5994400"/>
            <a:ext cx="11176000" cy="622300"/>
          </a:xfrm>
          <a:prstGeom prst="rect">
            <a:avLst/>
          </a:prstGeom>
          <a:noFill/>
          <a:effectLst/>
        </p:spPr>
        <p:txBody>
          <a:bodyPr wrap="none" lIns="0" rIns="0" tIns="0" bIns="0" anchor="t">
            <a:spAutoFit/>
          </a:bodyPr>
          <a:lstStyle/>
          <a:p>
            <a:pPr algn="l">
              <a:lnSpc>
                <a:spcPts val="3596"/>
              </a:lnSpc>
              <a:spcBef>
                <a:spcPts val="0"/>
              </a:spcBef>
              <a:spcAft>
                <a:spcPts val="0"/>
              </a:spcAft>
              <a:defRPr sz="3100" b="0">
                <a:solidFill>
                  <a:srgbClr val="147D77"/>
                </a:solidFill>
                <a:latin typeface="Noto Serif"/>
              </a:defRPr>
            </a:pPr>
            <a:r>
              <a:t>Pace = $5,109.42 / $7,627.04 = 66.99%</a:t>
            </a:r>
          </a:p>
        </p:txBody>
      </p:sp>
      <p:sp>
        <p:nvSpPr>
          <p:cNvPr id="24" name="TextBox 23"/>
          <p:cNvSpPr txBox="1"/>
          <p:nvPr/>
        </p:nvSpPr>
        <p:spPr>
          <a:xfrm>
            <a:off x="5943600" y="7086600"/>
            <a:ext cx="113284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EARLIEST PACE-ONLY QUALIFICATION / NOT AUTOMATIC</a:t>
            </a:r>
          </a:p>
        </p:txBody>
      </p:sp>
      <p:sp>
        <p:nvSpPr>
          <p:cNvPr id="25" name="TextBox 24"/>
          <p:cNvSpPr txBox="1"/>
          <p:nvPr/>
        </p:nvSpPr>
        <p:spPr>
          <a:xfrm>
            <a:off x="5969000" y="7759700"/>
            <a:ext cx="1600200" cy="4445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BC8623"/>
                </a:solidFill>
                <a:latin typeface="Lato"/>
              </a:defRPr>
            </a:pPr>
            <a:r>
              <a:t>Watch</a:t>
            </a:r>
          </a:p>
        </p:txBody>
      </p:sp>
      <p:sp>
        <p:nvSpPr>
          <p:cNvPr id="26" name="Oval 25"/>
          <p:cNvSpPr/>
          <p:nvPr/>
        </p:nvSpPr>
        <p:spPr>
          <a:xfrm>
            <a:off x="7810500" y="7658100"/>
            <a:ext cx="647700" cy="647700"/>
          </a:xfrm>
          <a:prstGeom prst="ellipse">
            <a:avLst/>
          </a:prstGeom>
          <a:solidFill>
            <a:srgbClr val="EEF5FB"/>
          </a:solidFill>
          <a:ln w="12700">
            <a:solidFill>
              <a:srgbClr val="BC8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0500" y="78105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BC8623"/>
                </a:solidFill>
                <a:latin typeface="Lato"/>
              </a:defRPr>
            </a:pPr>
            <a:r>
              <a:t>21</a:t>
            </a:r>
          </a:p>
        </p:txBody>
      </p:sp>
      <p:cxnSp>
        <p:nvCxnSpPr>
          <p:cNvPr id="28" name="Connector 27"/>
          <p:cNvCxnSpPr/>
          <p:nvPr/>
        </p:nvCxnSpPr>
        <p:spPr>
          <a:xfrm>
            <a:off x="8496300" y="7975600"/>
            <a:ext cx="292100" cy="0"/>
          </a:xfrm>
          <a:prstGeom prst="line">
            <a:avLst/>
          </a:prstGeom>
          <a:ln w="2032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864600" y="7658100"/>
            <a:ext cx="647700" cy="647700"/>
          </a:xfrm>
          <a:prstGeom prst="ellipse">
            <a:avLst/>
          </a:prstGeom>
          <a:solidFill>
            <a:srgbClr val="EEF5FB"/>
          </a:solidFill>
          <a:ln w="12700">
            <a:solidFill>
              <a:srgbClr val="BC8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4600" y="78105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BC8623"/>
                </a:solidFill>
                <a:latin typeface="Lato"/>
              </a:defRPr>
            </a:pPr>
            <a:r>
              <a:t>22</a:t>
            </a:r>
          </a:p>
        </p:txBody>
      </p:sp>
      <p:cxnSp>
        <p:nvCxnSpPr>
          <p:cNvPr id="31" name="Connector 30"/>
          <p:cNvCxnSpPr/>
          <p:nvPr/>
        </p:nvCxnSpPr>
        <p:spPr>
          <a:xfrm>
            <a:off x="9550400" y="7975600"/>
            <a:ext cx="292100" cy="0"/>
          </a:xfrm>
          <a:prstGeom prst="line">
            <a:avLst/>
          </a:prstGeom>
          <a:ln w="2032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9918700" y="7658100"/>
            <a:ext cx="647700" cy="647700"/>
          </a:xfrm>
          <a:prstGeom prst="ellipse">
            <a:avLst/>
          </a:prstGeom>
          <a:solidFill>
            <a:srgbClr val="BC8623"/>
          </a:solidFill>
          <a:ln w="12700">
            <a:solidFill>
              <a:srgbClr val="BC8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18700" y="78105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23</a:t>
            </a:r>
          </a:p>
        </p:txBody>
      </p:sp>
      <p:sp>
        <p:nvSpPr>
          <p:cNvPr id="34" name="TextBox 33"/>
          <p:cNvSpPr txBox="1"/>
          <p:nvPr/>
        </p:nvSpPr>
        <p:spPr>
          <a:xfrm>
            <a:off x="11137900" y="7734300"/>
            <a:ext cx="6350000" cy="7493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&lt;90% on each eligible day</a:t>
            </a:r>
          </a:p>
        </p:txBody>
      </p:sp>
      <p:sp>
        <p:nvSpPr>
          <p:cNvPr id="35" name="TextBox 34"/>
          <p:cNvSpPr txBox="1"/>
          <p:nvPr/>
        </p:nvSpPr>
        <p:spPr>
          <a:xfrm>
            <a:off x="5969000" y="8712200"/>
            <a:ext cx="1600200" cy="444500"/>
          </a:xfrm>
          <a:prstGeom prst="rect">
            <a:avLst/>
          </a:prstGeom>
          <a:noFill/>
          <a:effectLst/>
        </p:spPr>
        <p:txBody>
          <a:bodyPr wrap="none" lIns="0" rIns="0" tIns="0" bIns="0" anchor="t">
            <a:spAutoFit/>
          </a:bodyPr>
          <a:lstStyle/>
          <a:p>
            <a:pPr algn="l">
              <a:lnSpc>
                <a:spcPts val="2668"/>
              </a:lnSpc>
              <a:spcBef>
                <a:spcPts val="0"/>
              </a:spcBef>
              <a:spcAft>
                <a:spcPts val="0"/>
              </a:spcAft>
              <a:defRPr sz="2300" b="1">
                <a:solidFill>
                  <a:srgbClr val="B44F3C"/>
                </a:solidFill>
                <a:latin typeface="Lato"/>
              </a:defRPr>
            </a:pPr>
            <a:r>
              <a:t>Adverse</a:t>
            </a:r>
          </a:p>
        </p:txBody>
      </p:sp>
      <p:sp>
        <p:nvSpPr>
          <p:cNvPr id="36" name="Oval 35"/>
          <p:cNvSpPr/>
          <p:nvPr/>
        </p:nvSpPr>
        <p:spPr>
          <a:xfrm>
            <a:off x="7810500" y="8610600"/>
            <a:ext cx="647700" cy="647700"/>
          </a:xfrm>
          <a:prstGeom prst="ellipse">
            <a:avLst/>
          </a:prstGeom>
          <a:solidFill>
            <a:srgbClr val="EEF5FB"/>
          </a:solidFill>
          <a:ln w="12700">
            <a:solidFill>
              <a:srgbClr val="B44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10500" y="87630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B44F3C"/>
                </a:solidFill>
                <a:latin typeface="Lato"/>
              </a:defRPr>
            </a:pPr>
            <a:r>
              <a:t>30</a:t>
            </a:r>
          </a:p>
        </p:txBody>
      </p:sp>
      <p:cxnSp>
        <p:nvCxnSpPr>
          <p:cNvPr id="38" name="Connector 37"/>
          <p:cNvCxnSpPr/>
          <p:nvPr/>
        </p:nvCxnSpPr>
        <p:spPr>
          <a:xfrm>
            <a:off x="8496300" y="8928100"/>
            <a:ext cx="292100" cy="0"/>
          </a:xfrm>
          <a:prstGeom prst="line">
            <a:avLst/>
          </a:prstGeom>
          <a:ln w="20320">
            <a:solidFill>
              <a:srgbClr val="B44F3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864600" y="8610600"/>
            <a:ext cx="647700" cy="647700"/>
          </a:xfrm>
          <a:prstGeom prst="ellipse">
            <a:avLst/>
          </a:prstGeom>
          <a:solidFill>
            <a:srgbClr val="EEF5FB"/>
          </a:solidFill>
          <a:ln w="12700">
            <a:solidFill>
              <a:srgbClr val="B44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4600" y="87630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B44F3C"/>
                </a:solidFill>
                <a:latin typeface="Lato"/>
              </a:defRPr>
            </a:pPr>
            <a:r>
              <a:t>31</a:t>
            </a:r>
          </a:p>
        </p:txBody>
      </p:sp>
      <p:cxnSp>
        <p:nvCxnSpPr>
          <p:cNvPr id="41" name="Connector 40"/>
          <p:cNvCxnSpPr/>
          <p:nvPr/>
        </p:nvCxnSpPr>
        <p:spPr>
          <a:xfrm>
            <a:off x="9550400" y="8928100"/>
            <a:ext cx="292100" cy="0"/>
          </a:xfrm>
          <a:prstGeom prst="line">
            <a:avLst/>
          </a:prstGeom>
          <a:ln w="20320">
            <a:solidFill>
              <a:srgbClr val="B44F3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9918700" y="8610600"/>
            <a:ext cx="647700" cy="647700"/>
          </a:xfrm>
          <a:prstGeom prst="ellipse">
            <a:avLst/>
          </a:prstGeom>
          <a:solidFill>
            <a:srgbClr val="B44F3C"/>
          </a:solidFill>
          <a:ln w="12700">
            <a:solidFill>
              <a:srgbClr val="B44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18700" y="8763000"/>
            <a:ext cx="647700" cy="393700"/>
          </a:xfrm>
          <a:prstGeom prst="rect">
            <a:avLst/>
          </a:prstGeom>
          <a:noFill/>
          <a:effectLst/>
        </p:spPr>
        <p:txBody>
          <a:bodyPr wrap="none" lIns="0" rIns="0" tIns="0" bIns="0" anchor="t">
            <a:spAutoFit/>
          </a:bodyPr>
          <a:lstStyle/>
          <a:p>
            <a:pPr algn="ctr">
              <a:lnSpc>
                <a:spcPts val="2552"/>
              </a:lnSpc>
              <a:spcBef>
                <a:spcPts val="0"/>
              </a:spcBef>
              <a:spcAft>
                <a:spcPts val="0"/>
              </a:spcAft>
              <a:defRPr sz="2200" b="1">
                <a:solidFill>
                  <a:srgbClr val="FFFFFF"/>
                </a:solidFill>
                <a:latin typeface="Lato"/>
              </a:defRPr>
            </a:pPr>
            <a:r>
              <a:t>32</a:t>
            </a:r>
          </a:p>
        </p:txBody>
      </p:sp>
      <p:sp>
        <p:nvSpPr>
          <p:cNvPr id="44" name="TextBox 43"/>
          <p:cNvSpPr txBox="1"/>
          <p:nvPr/>
        </p:nvSpPr>
        <p:spPr>
          <a:xfrm>
            <a:off x="11137900" y="8686800"/>
            <a:ext cx="6350000" cy="7493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&lt;75% / &lt;50% on each eligible day</a:t>
            </a:r>
          </a:p>
        </p:txBody>
      </p:sp>
      <p:sp>
        <p:nvSpPr>
          <p:cNvPr id="45" name="TextBox 44"/>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Expected cumulative repayment caps at T. R26 changes interpretation—not the retained physical remittance amounts.</a:t>
            </a:r>
          </a:p>
        </p:txBody>
      </p:sp>
      <p:sp>
        <p:nvSpPr>
          <p:cNvPr id="46" name="Rounded Rectangle 45"/>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48" name="TextBox 47"/>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Why can 66.99% qualify on day 32 while a poor earlier ratio did not?</a:t>
            </a:r>
          </a:p>
        </p:txBody>
      </p:sp>
      <p:sp>
        <p:nvSpPr>
          <p:cNvPr id="49" name="Rounded Rectangle 48"/>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1" name="TextBox 50"/>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Adverse pace needs three eligible breaches from day 30.</a:t>
            </a:r>
          </a:p>
          <a:p>
            <a:pPr algn="l">
              <a:lnSpc>
                <a:spcPts val="1913"/>
              </a:lnSpc>
              <a:spcBef>
                <a:spcPts val="0"/>
              </a:spcBef>
              <a:spcAft>
                <a:spcPts val="0"/>
              </a:spcAft>
              <a:defRPr sz="1650" b="0">
                <a:solidFill>
                  <a:srgbClr val="FFFFFF"/>
                </a:solidFill>
                <a:latin typeface="Lato"/>
              </a:defRPr>
            </a:pPr>
            <a:r>
              <a:t>Earlier ratios earn no persistence credit; other rules still</a:t>
            </a:r>
          </a:p>
          <a:p>
            <a:pPr algn="l">
              <a:lnSpc>
                <a:spcPts val="1913"/>
              </a:lnSpc>
              <a:spcBef>
                <a:spcPts val="0"/>
              </a:spcBef>
              <a:spcAft>
                <a:spcPts val="0"/>
              </a:spcAft>
              <a:defRPr sz="1650" b="0">
                <a:solidFill>
                  <a:srgbClr val="FFFFFF"/>
                </a:solidFill>
                <a:latin typeface="Lato"/>
              </a:defRPr>
            </a:pPr>
            <a:r>
              <a:t>apply.</a:t>
            </a:r>
          </a:p>
        </p:txBody>
      </p:sp>
      <p:sp>
        <p:nvSpPr>
          <p:cNvPr id="52" name="TextBox 51"/>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3" name="TextBox 52"/>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S16, S17, S19 | 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5FB"/>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One account. Several signals. One governed status.</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19</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749 / Baseline. Improving pace does not erase an unpaid horizon overrun.</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111500"/>
            <a:ext cx="1638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ACTUAL SELECTED OBSERVATIONS — NOT A MANDATORY STATUS STAIRCASE</a:t>
            </a:r>
          </a:p>
        </p:txBody>
      </p:sp>
      <p:sp>
        <p:nvSpPr>
          <p:cNvPr id="10" name="Rounded Rectangle 9"/>
          <p:cNvSpPr/>
          <p:nvPr/>
        </p:nvSpPr>
        <p:spPr>
          <a:xfrm>
            <a:off x="6858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63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7</a:t>
            </a:r>
          </a:p>
        </p:txBody>
      </p:sp>
      <p:sp>
        <p:nvSpPr>
          <p:cNvPr id="12" name="TextBox 11"/>
          <p:cNvSpPr txBox="1"/>
          <p:nvPr/>
        </p:nvSpPr>
        <p:spPr>
          <a:xfrm>
            <a:off x="8763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53.81%</a:t>
            </a:r>
          </a:p>
        </p:txBody>
      </p:sp>
      <p:sp>
        <p:nvSpPr>
          <p:cNvPr id="13" name="TextBox 12"/>
          <p:cNvSpPr txBox="1"/>
          <p:nvPr/>
        </p:nvSpPr>
        <p:spPr>
          <a:xfrm>
            <a:off x="8763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14" name="Rounded Rectangle 13"/>
          <p:cNvSpPr/>
          <p:nvPr/>
        </p:nvSpPr>
        <p:spPr>
          <a:xfrm>
            <a:off x="850900" y="5613400"/>
            <a:ext cx="2349500" cy="5969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79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CURRENT</a:t>
            </a:r>
          </a:p>
        </p:txBody>
      </p:sp>
      <p:sp>
        <p:nvSpPr>
          <p:cNvPr id="16" name="TextBox 15"/>
          <p:cNvSpPr txBox="1"/>
          <p:nvPr/>
        </p:nvSpPr>
        <p:spPr>
          <a:xfrm>
            <a:off x="8636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1 raw / 0 families</a:t>
            </a:r>
          </a:p>
        </p:txBody>
      </p:sp>
      <p:sp>
        <p:nvSpPr>
          <p:cNvPr id="17" name="Rounded Rectangle 16"/>
          <p:cNvSpPr/>
          <p:nvPr/>
        </p:nvSpPr>
        <p:spPr>
          <a:xfrm>
            <a:off x="35306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1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23</a:t>
            </a:r>
          </a:p>
        </p:txBody>
      </p:sp>
      <p:sp>
        <p:nvSpPr>
          <p:cNvPr id="19" name="TextBox 18"/>
          <p:cNvSpPr txBox="1"/>
          <p:nvPr/>
        </p:nvSpPr>
        <p:spPr>
          <a:xfrm>
            <a:off x="37211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64.12%</a:t>
            </a:r>
          </a:p>
        </p:txBody>
      </p:sp>
      <p:sp>
        <p:nvSpPr>
          <p:cNvPr id="20" name="TextBox 19"/>
          <p:cNvSpPr txBox="1"/>
          <p:nvPr/>
        </p:nvSpPr>
        <p:spPr>
          <a:xfrm>
            <a:off x="37211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21" name="Rounded Rectangle 20"/>
          <p:cNvSpPr/>
          <p:nvPr/>
        </p:nvSpPr>
        <p:spPr>
          <a:xfrm>
            <a:off x="3695700" y="5613400"/>
            <a:ext cx="2349500" cy="5969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227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WATCH</a:t>
            </a:r>
          </a:p>
        </p:txBody>
      </p:sp>
      <p:sp>
        <p:nvSpPr>
          <p:cNvPr id="23" name="TextBox 22"/>
          <p:cNvSpPr txBox="1"/>
          <p:nvPr/>
        </p:nvSpPr>
        <p:spPr>
          <a:xfrm>
            <a:off x="37084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2 raw / 1 family</a:t>
            </a:r>
          </a:p>
        </p:txBody>
      </p:sp>
      <p:sp>
        <p:nvSpPr>
          <p:cNvPr id="24" name="Rounded Rectangle 23"/>
          <p:cNvSpPr/>
          <p:nvPr/>
        </p:nvSpPr>
        <p:spPr>
          <a:xfrm>
            <a:off x="63754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9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32</a:t>
            </a:r>
          </a:p>
        </p:txBody>
      </p:sp>
      <p:sp>
        <p:nvSpPr>
          <p:cNvPr id="26" name="TextBox 25"/>
          <p:cNvSpPr txBox="1"/>
          <p:nvPr/>
        </p:nvSpPr>
        <p:spPr>
          <a:xfrm>
            <a:off x="65659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66.99%</a:t>
            </a:r>
          </a:p>
        </p:txBody>
      </p:sp>
      <p:sp>
        <p:nvSpPr>
          <p:cNvPr id="27" name="TextBox 26"/>
          <p:cNvSpPr txBox="1"/>
          <p:nvPr/>
        </p:nvSpPr>
        <p:spPr>
          <a:xfrm>
            <a:off x="65659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28" name="Rounded Rectangle 27"/>
          <p:cNvSpPr/>
          <p:nvPr/>
        </p:nvSpPr>
        <p:spPr>
          <a:xfrm>
            <a:off x="6540500" y="5613400"/>
            <a:ext cx="2349500" cy="5969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675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UNDERPERFORMING</a:t>
            </a:r>
          </a:p>
        </p:txBody>
      </p:sp>
      <p:sp>
        <p:nvSpPr>
          <p:cNvPr id="30" name="TextBox 29"/>
          <p:cNvSpPr txBox="1"/>
          <p:nvPr/>
        </p:nvSpPr>
        <p:spPr>
          <a:xfrm>
            <a:off x="65532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3 raw / 1 family</a:t>
            </a:r>
          </a:p>
        </p:txBody>
      </p:sp>
      <p:sp>
        <p:nvSpPr>
          <p:cNvPr id="31" name="Rounded Rectangle 30"/>
          <p:cNvSpPr/>
          <p:nvPr/>
        </p:nvSpPr>
        <p:spPr>
          <a:xfrm>
            <a:off x="92202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07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90</a:t>
            </a:r>
          </a:p>
        </p:txBody>
      </p:sp>
      <p:sp>
        <p:nvSpPr>
          <p:cNvPr id="33" name="TextBox 32"/>
          <p:cNvSpPr txBox="1"/>
          <p:nvPr/>
        </p:nvSpPr>
        <p:spPr>
          <a:xfrm>
            <a:off x="94107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59.96%</a:t>
            </a:r>
          </a:p>
        </p:txBody>
      </p:sp>
      <p:sp>
        <p:nvSpPr>
          <p:cNvPr id="34" name="TextBox 33"/>
          <p:cNvSpPr txBox="1"/>
          <p:nvPr/>
        </p:nvSpPr>
        <p:spPr>
          <a:xfrm>
            <a:off x="94107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35" name="Rounded Rectangle 34"/>
          <p:cNvSpPr/>
          <p:nvPr/>
        </p:nvSpPr>
        <p:spPr>
          <a:xfrm>
            <a:off x="9385300" y="5613400"/>
            <a:ext cx="2349500" cy="5969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123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UNDERPERFORMING</a:t>
            </a:r>
          </a:p>
        </p:txBody>
      </p:sp>
      <p:sp>
        <p:nvSpPr>
          <p:cNvPr id="37" name="TextBox 36"/>
          <p:cNvSpPr txBox="1"/>
          <p:nvPr/>
        </p:nvSpPr>
        <p:spPr>
          <a:xfrm>
            <a:off x="93980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3 raw / 1 family</a:t>
            </a:r>
          </a:p>
        </p:txBody>
      </p:sp>
      <p:sp>
        <p:nvSpPr>
          <p:cNvPr id="38" name="Rounded Rectangle 37"/>
          <p:cNvSpPr/>
          <p:nvPr/>
        </p:nvSpPr>
        <p:spPr>
          <a:xfrm>
            <a:off x="120650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2555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91</a:t>
            </a:r>
          </a:p>
        </p:txBody>
      </p:sp>
      <p:sp>
        <p:nvSpPr>
          <p:cNvPr id="40" name="TextBox 39"/>
          <p:cNvSpPr txBox="1"/>
          <p:nvPr/>
        </p:nvSpPr>
        <p:spPr>
          <a:xfrm>
            <a:off x="122555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61.07%</a:t>
            </a:r>
          </a:p>
        </p:txBody>
      </p:sp>
      <p:sp>
        <p:nvSpPr>
          <p:cNvPr id="41" name="TextBox 40"/>
          <p:cNvSpPr txBox="1"/>
          <p:nvPr/>
        </p:nvSpPr>
        <p:spPr>
          <a:xfrm>
            <a:off x="122555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42" name="Rounded Rectangle 41"/>
          <p:cNvSpPr/>
          <p:nvPr/>
        </p:nvSpPr>
        <p:spPr>
          <a:xfrm>
            <a:off x="12230100" y="5613400"/>
            <a:ext cx="2349500" cy="5969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3571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SEVERE SHORTFALL</a:t>
            </a:r>
          </a:p>
        </p:txBody>
      </p:sp>
      <p:sp>
        <p:nvSpPr>
          <p:cNvPr id="44" name="TextBox 43"/>
          <p:cNvSpPr txBox="1"/>
          <p:nvPr/>
        </p:nvSpPr>
        <p:spPr>
          <a:xfrm>
            <a:off x="122428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3 raw / 2 families</a:t>
            </a:r>
          </a:p>
        </p:txBody>
      </p:sp>
      <p:sp>
        <p:nvSpPr>
          <p:cNvPr id="45" name="Rounded Rectangle 44"/>
          <p:cNvSpPr/>
          <p:nvPr/>
        </p:nvSpPr>
        <p:spPr>
          <a:xfrm>
            <a:off x="14909800" y="3632200"/>
            <a:ext cx="2679700" cy="31623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100300" y="3822700"/>
            <a:ext cx="22733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DAY 120</a:t>
            </a:r>
          </a:p>
        </p:txBody>
      </p:sp>
      <p:sp>
        <p:nvSpPr>
          <p:cNvPr id="47" name="TextBox 46"/>
          <p:cNvSpPr txBox="1"/>
          <p:nvPr/>
        </p:nvSpPr>
        <p:spPr>
          <a:xfrm>
            <a:off x="15100300" y="4368800"/>
            <a:ext cx="2286000" cy="6350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78.09%</a:t>
            </a:r>
          </a:p>
        </p:txBody>
      </p:sp>
      <p:sp>
        <p:nvSpPr>
          <p:cNvPr id="48" name="TextBox 47"/>
          <p:cNvSpPr txBox="1"/>
          <p:nvPr/>
        </p:nvSpPr>
        <p:spPr>
          <a:xfrm>
            <a:off x="15100300" y="5105400"/>
            <a:ext cx="2286000" cy="304800"/>
          </a:xfrm>
          <a:prstGeom prst="rect">
            <a:avLst/>
          </a:prstGeom>
          <a:noFill/>
          <a:effectLst/>
        </p:spPr>
        <p:txBody>
          <a:bodyPr wrap="none" lIns="0" rIns="0" tIns="0" bIns="0" anchor="t">
            <a:spAutoFit/>
          </a:bodyPr>
          <a:lstStyle/>
          <a:p>
            <a:pPr algn="l">
              <a:lnSpc>
                <a:spcPts val="1798"/>
              </a:lnSpc>
              <a:spcBef>
                <a:spcPts val="0"/>
              </a:spcBef>
              <a:spcAft>
                <a:spcPts val="0"/>
              </a:spcAft>
              <a:defRPr sz="1550" b="0">
                <a:solidFill>
                  <a:srgbClr val="58707B"/>
                </a:solidFill>
                <a:latin typeface="Lato"/>
              </a:defRPr>
            </a:pPr>
            <a:r>
              <a:t>Cumulative pace</a:t>
            </a:r>
          </a:p>
        </p:txBody>
      </p:sp>
      <p:sp>
        <p:nvSpPr>
          <p:cNvPr id="49" name="Rounded Rectangle 48"/>
          <p:cNvSpPr/>
          <p:nvPr/>
        </p:nvSpPr>
        <p:spPr>
          <a:xfrm>
            <a:off x="15074900" y="5613400"/>
            <a:ext cx="2349500" cy="596900"/>
          </a:xfrm>
          <a:prstGeom prst="roundRect">
            <a:avLst>
              <a:gd name="adj" fmla="val 7000"/>
            </a:avLst>
          </a:prstGeom>
          <a:solidFill>
            <a:srgbClr val="B44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01900" y="5727700"/>
            <a:ext cx="2095500" cy="457200"/>
          </a:xfrm>
          <a:prstGeom prst="rect">
            <a:avLst/>
          </a:prstGeom>
          <a:noFill/>
          <a:effectLst/>
        </p:spPr>
        <p:txBody>
          <a:bodyPr wrap="none" lIns="0" rIns="0" tIns="0" bIns="0" anchor="t">
            <a:spAutoFit/>
          </a:bodyPr>
          <a:lstStyle/>
          <a:p>
            <a:pPr algn="ctr">
              <a:lnSpc>
                <a:spcPts val="1449"/>
              </a:lnSpc>
              <a:spcBef>
                <a:spcPts val="0"/>
              </a:spcBef>
              <a:spcAft>
                <a:spcPts val="0"/>
              </a:spcAft>
              <a:defRPr sz="1250" b="1">
                <a:solidFill>
                  <a:srgbClr val="FFFFFF"/>
                </a:solidFill>
                <a:latin typeface="Lato"/>
              </a:defRPr>
            </a:pPr>
            <a:r>
              <a:t>SEVERE SHORTFALL</a:t>
            </a:r>
          </a:p>
        </p:txBody>
      </p:sp>
      <p:sp>
        <p:nvSpPr>
          <p:cNvPr id="51" name="TextBox 50"/>
          <p:cNvSpPr txBox="1"/>
          <p:nvPr/>
        </p:nvSpPr>
        <p:spPr>
          <a:xfrm>
            <a:off x="15087600" y="6438900"/>
            <a:ext cx="2311400" cy="266700"/>
          </a:xfrm>
          <a:prstGeom prst="rect">
            <a:avLst/>
          </a:prstGeom>
          <a:noFill/>
          <a:effectLst/>
        </p:spPr>
        <p:txBody>
          <a:bodyPr wrap="none" lIns="0" rIns="0" tIns="0" bIns="0" anchor="t">
            <a:spAutoFit/>
          </a:bodyPr>
          <a:lstStyle/>
          <a:p>
            <a:pPr algn="l">
              <a:lnSpc>
                <a:spcPts val="1565"/>
              </a:lnSpc>
              <a:spcBef>
                <a:spcPts val="0"/>
              </a:spcBef>
              <a:spcAft>
                <a:spcPts val="0"/>
              </a:spcAft>
              <a:defRPr sz="1350" b="0">
                <a:solidFill>
                  <a:srgbClr val="58707B"/>
                </a:solidFill>
                <a:latin typeface="Lato"/>
              </a:defRPr>
            </a:pPr>
            <a:r>
              <a:t>4 raw / 3 families</a:t>
            </a:r>
          </a:p>
        </p:txBody>
      </p:sp>
      <p:sp>
        <p:nvSpPr>
          <p:cNvPr id="52" name="Rounded Rectangle 51"/>
          <p:cNvSpPr/>
          <p:nvPr/>
        </p:nvSpPr>
        <p:spPr>
          <a:xfrm>
            <a:off x="685800" y="7200900"/>
            <a:ext cx="7886700" cy="24765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7454900"/>
            <a:ext cx="72898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1C7EA"/>
                </a:solidFill>
                <a:latin typeface="Lato"/>
              </a:defRPr>
            </a:pPr>
            <a:r>
              <a:t>DAY 120 / WHY THE STATUS STAYS SEVERE</a:t>
            </a:r>
          </a:p>
        </p:txBody>
      </p:sp>
      <p:sp>
        <p:nvSpPr>
          <p:cNvPr id="54" name="TextBox 53"/>
          <p:cNvSpPr txBox="1"/>
          <p:nvPr/>
        </p:nvSpPr>
        <p:spPr>
          <a:xfrm>
            <a:off x="977900" y="8001000"/>
            <a:ext cx="7239000" cy="1422400"/>
          </a:xfrm>
          <a:prstGeom prst="rect">
            <a:avLst/>
          </a:prstGeom>
          <a:noFill/>
          <a:effectLst/>
        </p:spPr>
        <p:txBody>
          <a:bodyPr wrap="none" lIns="0" rIns="0" tIns="0" bIns="0" anchor="t">
            <a:spAutoFit/>
          </a:bodyPr>
          <a:lstStyle/>
          <a:p>
            <a:pPr algn="l">
              <a:lnSpc>
                <a:spcPts val="2436"/>
              </a:lnSpc>
              <a:spcBef>
                <a:spcPts val="0"/>
              </a:spcBef>
              <a:spcAft>
                <a:spcPts val="0"/>
              </a:spcAft>
              <a:defRPr sz="2100" b="0">
                <a:solidFill>
                  <a:srgbClr val="FFFFFF"/>
                </a:solidFill>
                <a:latin typeface="Lato"/>
              </a:defRPr>
            </a:pPr>
            <a:r>
              <a:t>PACE: Watch-level family</a:t>
            </a:r>
          </a:p>
          <a:p>
            <a:pPr algn="l">
              <a:lnSpc>
                <a:spcPts val="2436"/>
              </a:lnSpc>
              <a:spcBef>
                <a:spcPts val="0"/>
              </a:spcBef>
              <a:spcAft>
                <a:spcPts val="0"/>
              </a:spcAft>
              <a:defRPr sz="2100" b="0">
                <a:solidFill>
                  <a:srgbClr val="FFFFFF"/>
                </a:solidFill>
                <a:latin typeface="Lato"/>
              </a:defRPr>
            </a:pPr>
            <a:r>
              <a:t>LIQUIDITY: also active</a:t>
            </a:r>
          </a:p>
          <a:p>
            <a:pPr algn="l">
              <a:lnSpc>
                <a:spcPts val="2436"/>
              </a:lnSpc>
              <a:spcBef>
                <a:spcPts val="0"/>
              </a:spcBef>
              <a:spcAft>
                <a:spcPts val="0"/>
              </a:spcAft>
              <a:defRPr sz="2100" b="0">
                <a:solidFill>
                  <a:srgbClr val="FFFFFF"/>
                </a:solidFill>
                <a:latin typeface="Lato"/>
              </a:defRPr>
            </a:pPr>
            <a:r>
              <a:t>HORIZON: 90 days exceeded; $4,699.37 unpaid</a:t>
            </a:r>
          </a:p>
        </p:txBody>
      </p:sp>
      <p:sp>
        <p:nvSpPr>
          <p:cNvPr id="55" name="TextBox 54"/>
          <p:cNvSpPr txBox="1"/>
          <p:nvPr/>
        </p:nvSpPr>
        <p:spPr>
          <a:xfrm>
            <a:off x="9080500" y="7239000"/>
            <a:ext cx="85217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TWO DIFFERENT PRECEDENCE RULES</a:t>
            </a:r>
          </a:p>
        </p:txBody>
      </p:sp>
      <p:sp>
        <p:nvSpPr>
          <p:cNvPr id="56" name="TextBox 55"/>
          <p:cNvSpPr txBox="1"/>
          <p:nvPr/>
        </p:nvSpPr>
        <p:spPr>
          <a:xfrm>
            <a:off x="9080500" y="7759700"/>
            <a:ext cx="8509000" cy="8890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Status: paid off → dormant → severe → underperforming → watch →</a:t>
            </a:r>
          </a:p>
          <a:p>
            <a:pPr algn="l">
              <a:lnSpc>
                <a:spcPts val="2320"/>
              </a:lnSpc>
              <a:spcBef>
                <a:spcPts val="0"/>
              </a:spcBef>
              <a:spcAft>
                <a:spcPts val="0"/>
              </a:spcAft>
              <a:defRPr sz="2000" b="0">
                <a:solidFill>
                  <a:srgbClr val="203B4C"/>
                </a:solidFill>
                <a:latin typeface="Lato"/>
              </a:defRPr>
            </a:pPr>
            <a:r>
              <a:t>current</a:t>
            </a:r>
          </a:p>
        </p:txBody>
      </p:sp>
      <p:sp>
        <p:nvSpPr>
          <p:cNvPr id="57" name="TextBox 56"/>
          <p:cNvSpPr txBox="1"/>
          <p:nvPr/>
        </p:nvSpPr>
        <p:spPr>
          <a:xfrm>
            <a:off x="9080500" y="8851900"/>
            <a:ext cx="8509000" cy="8128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Primary family: horizon → liquidity → sales dormancy → no remittance →</a:t>
            </a:r>
          </a:p>
          <a:p>
            <a:pPr algn="l">
              <a:lnSpc>
                <a:spcPts val="2320"/>
              </a:lnSpc>
              <a:spcBef>
                <a:spcPts val="0"/>
              </a:spcBef>
              <a:spcAft>
                <a:spcPts val="0"/>
              </a:spcAft>
              <a:defRPr sz="2000" b="1">
                <a:solidFill>
                  <a:srgbClr val="296FA2"/>
                </a:solidFill>
                <a:latin typeface="Lato"/>
              </a:defRPr>
            </a:pPr>
            <a:r>
              <a:t>pace</a:t>
            </a:r>
          </a:p>
        </p:txBody>
      </p:sp>
      <p:sp>
        <p:nvSpPr>
          <p:cNvPr id="58" name="TextBox 57"/>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Primary family is a label of precedence—not proof that every other active family disappeared.</a:t>
            </a:r>
          </a:p>
        </p:txBody>
      </p:sp>
      <p:sp>
        <p:nvSpPr>
          <p:cNvPr id="59" name="Rounded Rectangle 58"/>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61" name="TextBox 60"/>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At day 120, why does 78.09% pace not make the account merely Watch?</a:t>
            </a:r>
          </a:p>
        </p:txBody>
      </p:sp>
      <p:sp>
        <p:nvSpPr>
          <p:cNvPr id="62" name="Rounded Rectangle 61"/>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64" name="TextBox 63"/>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The unpaid 90-day horizon has been exceeded. Horizon</a:t>
            </a:r>
          </a:p>
          <a:p>
            <a:pPr algn="l">
              <a:lnSpc>
                <a:spcPts val="1913"/>
              </a:lnSpc>
              <a:spcBef>
                <a:spcPts val="0"/>
              </a:spcBef>
              <a:spcAft>
                <a:spcPts val="0"/>
              </a:spcAft>
              <a:defRPr sz="1650" b="0">
                <a:solidFill>
                  <a:srgbClr val="FFFFFF"/>
                </a:solidFill>
                <a:latin typeface="Lato"/>
              </a:defRPr>
            </a:pPr>
            <a:r>
              <a:t>severity governs; pace and liquidity signals still remain.</a:t>
            </a:r>
          </a:p>
        </p:txBody>
      </p:sp>
      <p:sp>
        <p:nvSpPr>
          <p:cNvPr id="65" name="TextBox 64"/>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66" name="TextBox 65"/>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S16, S19 | 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A recommendation is not permission to execute</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20</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The retained M2.6 branch is narrower than its captured context. Only the stated conditions select the route.</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111500"/>
            <a:ext cx="80264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ACTUAL RETAINED ROUTING BRANCH</a:t>
            </a:r>
          </a:p>
        </p:txBody>
      </p:sp>
      <p:sp>
        <p:nvSpPr>
          <p:cNvPr id="10" name="Oval 9"/>
          <p:cNvSpPr/>
          <p:nvPr/>
        </p:nvSpPr>
        <p:spPr>
          <a:xfrm>
            <a:off x="685800" y="3733800"/>
            <a:ext cx="533400" cy="533400"/>
          </a:xfrm>
          <a:prstGeom prst="ellipse">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822700"/>
            <a:ext cx="533400" cy="355600"/>
          </a:xfrm>
          <a:prstGeom prst="rect">
            <a:avLst/>
          </a:prstGeom>
          <a:noFill/>
          <a:effectLst/>
        </p:spPr>
        <p:txBody>
          <a:bodyPr wrap="none" lIns="0" rIns="0" tIns="0" bIns="0" anchor="t">
            <a:spAutoFit/>
          </a:bodyPr>
          <a:lstStyle/>
          <a:p>
            <a:pPr algn="ctr">
              <a:lnSpc>
                <a:spcPts val="2320"/>
              </a:lnSpc>
              <a:spcBef>
                <a:spcPts val="0"/>
              </a:spcBef>
              <a:spcAft>
                <a:spcPts val="0"/>
              </a:spcAft>
              <a:defRPr sz="2000" b="1">
                <a:solidFill>
                  <a:srgbClr val="FFFFFF"/>
                </a:solidFill>
                <a:latin typeface="Lato"/>
              </a:defRPr>
            </a:pPr>
            <a:r>
              <a:t>1</a:t>
            </a:r>
          </a:p>
        </p:txBody>
      </p:sp>
      <p:sp>
        <p:nvSpPr>
          <p:cNvPr id="12" name="Rounded Rectangle 11"/>
          <p:cNvSpPr/>
          <p:nvPr/>
        </p:nvSpPr>
        <p:spPr>
          <a:xfrm>
            <a:off x="1447800" y="3619500"/>
            <a:ext cx="7023100" cy="11049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76400" y="3771900"/>
            <a:ext cx="65659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Paid off?</a:t>
            </a:r>
          </a:p>
        </p:txBody>
      </p:sp>
      <p:sp>
        <p:nvSpPr>
          <p:cNvPr id="14" name="TextBox 13"/>
          <p:cNvSpPr txBox="1"/>
          <p:nvPr/>
        </p:nvSpPr>
        <p:spPr>
          <a:xfrm>
            <a:off x="1676400" y="4254500"/>
            <a:ext cx="6565900" cy="3556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147D77"/>
                </a:solidFill>
                <a:latin typeface="Lato"/>
              </a:defRPr>
            </a:pPr>
            <a:r>
              <a:t>→ Closed / no further action</a:t>
            </a:r>
          </a:p>
        </p:txBody>
      </p:sp>
      <p:cxnSp>
        <p:nvCxnSpPr>
          <p:cNvPr id="15" name="Connector 14"/>
          <p:cNvCxnSpPr/>
          <p:nvPr/>
        </p:nvCxnSpPr>
        <p:spPr>
          <a:xfrm>
            <a:off x="952500" y="4305300"/>
            <a:ext cx="0" cy="558800"/>
          </a:xfrm>
          <a:prstGeom prst="line">
            <a:avLst/>
          </a:prstGeom>
          <a:ln w="25400">
            <a:solidFill>
              <a:srgbClr val="DCE7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85800" y="5054600"/>
            <a:ext cx="533400" cy="533400"/>
          </a:xfrm>
          <a:prstGeom prst="ellipse">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43500"/>
            <a:ext cx="533400" cy="355600"/>
          </a:xfrm>
          <a:prstGeom prst="rect">
            <a:avLst/>
          </a:prstGeom>
          <a:noFill/>
          <a:effectLst/>
        </p:spPr>
        <p:txBody>
          <a:bodyPr wrap="none" lIns="0" rIns="0" tIns="0" bIns="0" anchor="t">
            <a:spAutoFit/>
          </a:bodyPr>
          <a:lstStyle/>
          <a:p>
            <a:pPr algn="ctr">
              <a:lnSpc>
                <a:spcPts val="2320"/>
              </a:lnSpc>
              <a:spcBef>
                <a:spcPts val="0"/>
              </a:spcBef>
              <a:spcAft>
                <a:spcPts val="0"/>
              </a:spcAft>
              <a:defRPr sz="2000" b="1">
                <a:solidFill>
                  <a:srgbClr val="FFFFFF"/>
                </a:solidFill>
                <a:latin typeface="Lato"/>
              </a:defRPr>
            </a:pPr>
            <a:r>
              <a:t>2</a:t>
            </a:r>
          </a:p>
        </p:txBody>
      </p:sp>
      <p:sp>
        <p:nvSpPr>
          <p:cNvPr id="18" name="Rounded Rectangle 17"/>
          <p:cNvSpPr/>
          <p:nvPr/>
        </p:nvSpPr>
        <p:spPr>
          <a:xfrm>
            <a:off x="1447800" y="4940300"/>
            <a:ext cx="7023100" cy="11049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76400" y="5092700"/>
            <a:ext cx="65659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Else: severe + open_rank = 1?</a:t>
            </a:r>
          </a:p>
        </p:txBody>
      </p:sp>
      <p:sp>
        <p:nvSpPr>
          <p:cNvPr id="20" name="TextBox 19"/>
          <p:cNvSpPr txBox="1"/>
          <p:nvPr/>
        </p:nvSpPr>
        <p:spPr>
          <a:xfrm>
            <a:off x="1676400" y="5575300"/>
            <a:ext cx="6565900" cy="3556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BC8623"/>
                </a:solidFill>
                <a:latin typeface="Lato"/>
              </a:defRPr>
            </a:pPr>
            <a:r>
              <a:t>→ Temporary remittance review</a:t>
            </a:r>
          </a:p>
        </p:txBody>
      </p:sp>
      <p:cxnSp>
        <p:nvCxnSpPr>
          <p:cNvPr id="21" name="Connector 20"/>
          <p:cNvCxnSpPr/>
          <p:nvPr/>
        </p:nvCxnSpPr>
        <p:spPr>
          <a:xfrm>
            <a:off x="952500" y="5626100"/>
            <a:ext cx="0" cy="558800"/>
          </a:xfrm>
          <a:prstGeom prst="line">
            <a:avLst/>
          </a:prstGeom>
          <a:ln w="25400">
            <a:solidFill>
              <a:srgbClr val="DCE7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85800" y="6375400"/>
            <a:ext cx="533400" cy="533400"/>
          </a:xfrm>
          <a:prstGeom prst="ellipse">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6464300"/>
            <a:ext cx="533400" cy="355600"/>
          </a:xfrm>
          <a:prstGeom prst="rect">
            <a:avLst/>
          </a:prstGeom>
          <a:noFill/>
          <a:effectLst/>
        </p:spPr>
        <p:txBody>
          <a:bodyPr wrap="none" lIns="0" rIns="0" tIns="0" bIns="0" anchor="t">
            <a:spAutoFit/>
          </a:bodyPr>
          <a:lstStyle/>
          <a:p>
            <a:pPr algn="ctr">
              <a:lnSpc>
                <a:spcPts val="2320"/>
              </a:lnSpc>
              <a:spcBef>
                <a:spcPts val="0"/>
              </a:spcBef>
              <a:spcAft>
                <a:spcPts val="0"/>
              </a:spcAft>
              <a:defRPr sz="2000" b="1">
                <a:solidFill>
                  <a:srgbClr val="FFFFFF"/>
                </a:solidFill>
                <a:latin typeface="Lato"/>
              </a:defRPr>
            </a:pPr>
            <a:r>
              <a:t>3</a:t>
            </a:r>
          </a:p>
        </p:txBody>
      </p:sp>
      <p:sp>
        <p:nvSpPr>
          <p:cNvPr id="24" name="Rounded Rectangle 23"/>
          <p:cNvSpPr/>
          <p:nvPr/>
        </p:nvSpPr>
        <p:spPr>
          <a:xfrm>
            <a:off x="1447800" y="6261100"/>
            <a:ext cx="7023100" cy="11049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76400" y="6413500"/>
            <a:ext cx="65659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Else: Watch / adverse / dormant?</a:t>
            </a:r>
          </a:p>
        </p:txBody>
      </p:sp>
      <p:sp>
        <p:nvSpPr>
          <p:cNvPr id="26" name="TextBox 25"/>
          <p:cNvSpPr txBox="1"/>
          <p:nvPr/>
        </p:nvSpPr>
        <p:spPr>
          <a:xfrm>
            <a:off x="1676400" y="6896100"/>
            <a:ext cx="6565900" cy="3556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BC8623"/>
                </a:solidFill>
                <a:latin typeface="Lato"/>
              </a:defRPr>
            </a:pPr>
            <a:r>
              <a:t>→ Targeted outreach review</a:t>
            </a:r>
          </a:p>
        </p:txBody>
      </p:sp>
      <p:cxnSp>
        <p:nvCxnSpPr>
          <p:cNvPr id="27" name="Connector 26"/>
          <p:cNvCxnSpPr/>
          <p:nvPr/>
        </p:nvCxnSpPr>
        <p:spPr>
          <a:xfrm>
            <a:off x="952500" y="6946900"/>
            <a:ext cx="0" cy="558800"/>
          </a:xfrm>
          <a:prstGeom prst="line">
            <a:avLst/>
          </a:prstGeom>
          <a:ln w="25400">
            <a:solidFill>
              <a:srgbClr val="DCE7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85800" y="7696200"/>
            <a:ext cx="533400" cy="533400"/>
          </a:xfrm>
          <a:prstGeom prst="ellipse">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7785100"/>
            <a:ext cx="533400" cy="355600"/>
          </a:xfrm>
          <a:prstGeom prst="rect">
            <a:avLst/>
          </a:prstGeom>
          <a:noFill/>
          <a:effectLst/>
        </p:spPr>
        <p:txBody>
          <a:bodyPr wrap="none" lIns="0" rIns="0" tIns="0" bIns="0" anchor="t">
            <a:spAutoFit/>
          </a:bodyPr>
          <a:lstStyle/>
          <a:p>
            <a:pPr algn="ctr">
              <a:lnSpc>
                <a:spcPts val="2320"/>
              </a:lnSpc>
              <a:spcBef>
                <a:spcPts val="0"/>
              </a:spcBef>
              <a:spcAft>
                <a:spcPts val="0"/>
              </a:spcAft>
              <a:defRPr sz="2000" b="1">
                <a:solidFill>
                  <a:srgbClr val="FFFFFF"/>
                </a:solidFill>
                <a:latin typeface="Lato"/>
              </a:defRPr>
            </a:pPr>
            <a:r>
              <a:t>4</a:t>
            </a:r>
          </a:p>
        </p:txBody>
      </p:sp>
      <p:sp>
        <p:nvSpPr>
          <p:cNvPr id="30" name="Rounded Rectangle 29"/>
          <p:cNvSpPr/>
          <p:nvPr/>
        </p:nvSpPr>
        <p:spPr>
          <a:xfrm>
            <a:off x="1447800" y="7581900"/>
            <a:ext cx="7023100" cy="11049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76400" y="7734300"/>
            <a:ext cx="65659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Else</a:t>
            </a:r>
          </a:p>
        </p:txBody>
      </p:sp>
      <p:sp>
        <p:nvSpPr>
          <p:cNvPr id="32" name="TextBox 31"/>
          <p:cNvSpPr txBox="1"/>
          <p:nvPr/>
        </p:nvSpPr>
        <p:spPr>
          <a:xfrm>
            <a:off x="1676400" y="8216900"/>
            <a:ext cx="6565900" cy="3556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96FA2"/>
                </a:solidFill>
                <a:latin typeface="Lato"/>
              </a:defRPr>
            </a:pPr>
            <a:r>
              <a:t>→ Continue standard monitoring</a:t>
            </a:r>
          </a:p>
        </p:txBody>
      </p:sp>
      <p:sp>
        <p:nvSpPr>
          <p:cNvPr id="33" name="TextBox 32"/>
          <p:cNvSpPr txBox="1"/>
          <p:nvPr/>
        </p:nvSpPr>
        <p:spPr>
          <a:xfrm>
            <a:off x="723900" y="9093200"/>
            <a:ext cx="7696200" cy="622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58707B"/>
                </a:solidFill>
                <a:latin typeface="Lato"/>
              </a:defRPr>
            </a:pPr>
            <a:r>
              <a:t>open_rank: unpaid exposure descending, then advance ID.</a:t>
            </a:r>
          </a:p>
          <a:p>
            <a:pPr algn="l">
              <a:lnSpc>
                <a:spcPts val="1913"/>
              </a:lnSpc>
              <a:spcBef>
                <a:spcPts val="0"/>
              </a:spcBef>
              <a:spcAft>
                <a:spcPts val="0"/>
              </a:spcAft>
              <a:defRPr sz="1650" b="0">
                <a:solidFill>
                  <a:srgbClr val="58707B"/>
                </a:solidFill>
                <a:latin typeface="Lato"/>
              </a:defRPr>
            </a:pPr>
            <a:r>
              <a:t>Other captured variables are not automatically extra branches.</a:t>
            </a:r>
          </a:p>
        </p:txBody>
      </p:sp>
      <p:sp>
        <p:nvSpPr>
          <p:cNvPr id="34" name="TextBox 33"/>
          <p:cNvSpPr txBox="1"/>
          <p:nvPr/>
        </p:nvSpPr>
        <p:spPr>
          <a:xfrm>
            <a:off x="9067800" y="3111500"/>
            <a:ext cx="8382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OBSERVED ROUTES → SETUP → EXECUTION</a:t>
            </a:r>
          </a:p>
        </p:txBody>
      </p:sp>
      <p:sp>
        <p:nvSpPr>
          <p:cNvPr id="35" name="Rounded Rectangle 34"/>
          <p:cNvSpPr/>
          <p:nvPr/>
        </p:nvSpPr>
        <p:spPr>
          <a:xfrm>
            <a:off x="9080500" y="3619500"/>
            <a:ext cx="8521700" cy="1155700"/>
          </a:xfrm>
          <a:prstGeom prst="roundRect">
            <a:avLst>
              <a:gd name="adj" fmla="val 7000"/>
            </a:avLst>
          </a:prstGeom>
          <a:solidFill>
            <a:srgbClr val="ED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09100" y="3810000"/>
            <a:ext cx="1117600" cy="6858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147D77"/>
                </a:solidFill>
                <a:latin typeface="Noto Serif"/>
              </a:defRPr>
            </a:pPr>
            <a:r>
              <a:t>126</a:t>
            </a:r>
          </a:p>
        </p:txBody>
      </p:sp>
      <p:sp>
        <p:nvSpPr>
          <p:cNvPr id="37" name="TextBox 36"/>
          <p:cNvSpPr txBox="1"/>
          <p:nvPr/>
        </p:nvSpPr>
        <p:spPr>
          <a:xfrm>
            <a:off x="10591800" y="3822700"/>
            <a:ext cx="67056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Closed / no further action</a:t>
            </a:r>
          </a:p>
        </p:txBody>
      </p:sp>
      <p:sp>
        <p:nvSpPr>
          <p:cNvPr id="38" name="TextBox 37"/>
          <p:cNvSpPr txBox="1"/>
          <p:nvPr/>
        </p:nvSpPr>
        <p:spPr>
          <a:xfrm>
            <a:off x="10591800" y="4305300"/>
            <a:ext cx="6705600" cy="342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147D77"/>
                </a:solidFill>
                <a:latin typeface="Lato"/>
              </a:defRPr>
            </a:pPr>
            <a:r>
              <a:t>Paid-off state</a:t>
            </a:r>
          </a:p>
        </p:txBody>
      </p:sp>
      <p:sp>
        <p:nvSpPr>
          <p:cNvPr id="39" name="Rounded Rectangle 38"/>
          <p:cNvSpPr/>
          <p:nvPr/>
        </p:nvSpPr>
        <p:spPr>
          <a:xfrm>
            <a:off x="9080500" y="4978400"/>
            <a:ext cx="8521700" cy="11557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09100" y="5168900"/>
            <a:ext cx="1117600" cy="6858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296FA2"/>
                </a:solidFill>
                <a:latin typeface="Noto Serif"/>
              </a:defRPr>
            </a:pPr>
            <a:r>
              <a:t>1</a:t>
            </a:r>
          </a:p>
        </p:txBody>
      </p:sp>
      <p:sp>
        <p:nvSpPr>
          <p:cNvPr id="41" name="TextBox 40"/>
          <p:cNvSpPr txBox="1"/>
          <p:nvPr/>
        </p:nvSpPr>
        <p:spPr>
          <a:xfrm>
            <a:off x="10591800" y="5181600"/>
            <a:ext cx="67056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Temporary remittance review</a:t>
            </a:r>
          </a:p>
        </p:txBody>
      </p:sp>
      <p:sp>
        <p:nvSpPr>
          <p:cNvPr id="42" name="TextBox 41"/>
          <p:cNvSpPr txBox="1"/>
          <p:nvPr/>
        </p:nvSpPr>
        <p:spPr>
          <a:xfrm>
            <a:off x="10591800" y="5664200"/>
            <a:ext cx="6705600" cy="342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296FA2"/>
                </a:solidFill>
                <a:latin typeface="Lato"/>
              </a:defRPr>
            </a:pPr>
            <a:r>
              <a:t>Permitted active servicing</a:t>
            </a:r>
          </a:p>
        </p:txBody>
      </p:sp>
      <p:sp>
        <p:nvSpPr>
          <p:cNvPr id="43" name="Rounded Rectangle 42"/>
          <p:cNvSpPr/>
          <p:nvPr/>
        </p:nvSpPr>
        <p:spPr>
          <a:xfrm>
            <a:off x="9080500" y="6337300"/>
            <a:ext cx="8521700" cy="11557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09100" y="6527800"/>
            <a:ext cx="1117600" cy="685800"/>
          </a:xfrm>
          <a:prstGeom prst="rect">
            <a:avLst/>
          </a:prstGeom>
          <a:noFill/>
          <a:effectLst/>
        </p:spPr>
        <p:txBody>
          <a:bodyPr wrap="none" lIns="0" rIns="0" tIns="0" bIns="0" anchor="t">
            <a:spAutoFit/>
          </a:bodyPr>
          <a:lstStyle/>
          <a:p>
            <a:pPr algn="l">
              <a:lnSpc>
                <a:spcPts val="3944"/>
              </a:lnSpc>
              <a:spcBef>
                <a:spcPts val="0"/>
              </a:spcBef>
              <a:spcAft>
                <a:spcPts val="0"/>
              </a:spcAft>
              <a:defRPr sz="3400" b="0">
                <a:solidFill>
                  <a:srgbClr val="BC8623"/>
                </a:solidFill>
                <a:latin typeface="Noto Serif"/>
              </a:defRPr>
            </a:pPr>
            <a:r>
              <a:t>3</a:t>
            </a:r>
          </a:p>
        </p:txBody>
      </p:sp>
      <p:sp>
        <p:nvSpPr>
          <p:cNvPr id="45" name="TextBox 44"/>
          <p:cNvSpPr txBox="1"/>
          <p:nvPr/>
        </p:nvSpPr>
        <p:spPr>
          <a:xfrm>
            <a:off x="10591800" y="6540500"/>
            <a:ext cx="6705600" cy="3937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Targeted outreach review</a:t>
            </a:r>
          </a:p>
        </p:txBody>
      </p:sp>
      <p:sp>
        <p:nvSpPr>
          <p:cNvPr id="46" name="TextBox 45"/>
          <p:cNvSpPr txBox="1"/>
          <p:nvPr/>
        </p:nvSpPr>
        <p:spPr>
          <a:xfrm>
            <a:off x="10591800" y="7023100"/>
            <a:ext cx="6705600" cy="342900"/>
          </a:xfrm>
          <a:prstGeom prst="rect">
            <a:avLst/>
          </a:prstGeom>
          <a:noFill/>
          <a:effectLst/>
        </p:spPr>
        <p:txBody>
          <a:bodyPr wrap="none" lIns="0" rIns="0" tIns="0" bIns="0" anchor="t">
            <a:spAutoFit/>
          </a:bodyPr>
          <a:lstStyle/>
          <a:p>
            <a:pPr algn="l">
              <a:lnSpc>
                <a:spcPts val="2088"/>
              </a:lnSpc>
              <a:spcBef>
                <a:spcPts val="0"/>
              </a:spcBef>
              <a:spcAft>
                <a:spcPts val="0"/>
              </a:spcAft>
              <a:defRPr sz="1800" b="0">
                <a:solidFill>
                  <a:srgbClr val="BC8623"/>
                </a:solidFill>
                <a:latin typeface="Lato"/>
              </a:defRPr>
            </a:pPr>
            <a:r>
              <a:t>Setup / processing held</a:t>
            </a:r>
          </a:p>
        </p:txBody>
      </p:sp>
      <p:sp>
        <p:nvSpPr>
          <p:cNvPr id="47" name="Rounded Rectangle 46"/>
          <p:cNvSpPr/>
          <p:nvPr/>
        </p:nvSpPr>
        <p:spPr>
          <a:xfrm>
            <a:off x="9080500" y="7988300"/>
            <a:ext cx="8521700" cy="16891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59900" y="8229600"/>
            <a:ext cx="7962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1C7EA"/>
                </a:solidFill>
                <a:latin typeface="Lato"/>
              </a:defRPr>
            </a:pPr>
            <a:r>
              <a:t>CASE 749 / PROOF OF THE ACTIVE PATH</a:t>
            </a:r>
          </a:p>
        </p:txBody>
      </p:sp>
      <p:sp>
        <p:nvSpPr>
          <p:cNvPr id="49" name="TextBox 48"/>
          <p:cNvSpPr txBox="1"/>
          <p:nvPr/>
        </p:nvSpPr>
        <p:spPr>
          <a:xfrm>
            <a:off x="9359900" y="8724900"/>
            <a:ext cx="7937500" cy="7874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FFFFFF"/>
                </a:solidFill>
                <a:latin typeface="Lato"/>
              </a:defRPr>
            </a:pPr>
            <a:r>
              <a:t>Setup authorized = true → Processing authorized = true</a:t>
            </a:r>
          </a:p>
          <a:p>
            <a:pPr algn="l">
              <a:lnSpc>
                <a:spcPts val="2320"/>
              </a:lnSpc>
              <a:spcBef>
                <a:spcPts val="0"/>
              </a:spcBef>
              <a:spcAft>
                <a:spcPts val="0"/>
              </a:spcAft>
              <a:defRPr sz="2000" b="0">
                <a:solidFill>
                  <a:srgbClr val="FFFFFF"/>
                </a:solidFill>
                <a:latin typeface="Lato"/>
              </a:defRPr>
            </a:pPr>
            <a:r>
              <a:t>Execution outcome + payment events prove processing.</a:t>
            </a:r>
          </a:p>
        </p:txBody>
      </p:sp>
      <p:sp>
        <p:nvSpPr>
          <p:cNvPr id="50" name="TextBox 49"/>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The source ownership chain is not a manufactured calendar of real events. Reaching a horizon does not forgive a receivable.</a:t>
            </a:r>
          </a:p>
        </p:txBody>
      </p:sp>
      <p:sp>
        <p:nvSpPr>
          <p:cNvPr id="51" name="Rounded Rectangle 50"/>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53" name="TextBox 52"/>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Does a targeted-outreach recommendation prove that an action happened?</a:t>
            </a:r>
          </a:p>
        </p:txBody>
      </p:sp>
      <p:sp>
        <p:nvSpPr>
          <p:cNvPr id="54" name="Rounded Rectangle 53"/>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6" name="TextBox 55"/>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No. The three outreach paths remain held. Read setup</a:t>
            </a:r>
          </a:p>
          <a:p>
            <a:pPr algn="l">
              <a:lnSpc>
                <a:spcPts val="1913"/>
              </a:lnSpc>
              <a:spcBef>
                <a:spcPts val="0"/>
              </a:spcBef>
              <a:spcAft>
                <a:spcPts val="0"/>
              </a:spcAft>
              <a:defRPr sz="1650" b="0">
                <a:solidFill>
                  <a:srgbClr val="FFFFFF"/>
                </a:solidFill>
                <a:latin typeface="Lato"/>
              </a:defRPr>
            </a:pPr>
            <a:r>
              <a:t>permission, processing permission and the execution</a:t>
            </a:r>
          </a:p>
          <a:p>
            <a:pPr algn="l">
              <a:lnSpc>
                <a:spcPts val="1913"/>
              </a:lnSpc>
              <a:spcBef>
                <a:spcPts val="0"/>
              </a:spcBef>
              <a:spcAft>
                <a:spcPts val="0"/>
              </a:spcAft>
              <a:defRPr sz="1650" b="0">
                <a:solidFill>
                  <a:srgbClr val="FFFFFF"/>
                </a:solidFill>
                <a:latin typeface="Lato"/>
              </a:defRPr>
            </a:pPr>
            <a:r>
              <a:t>result separately.</a:t>
            </a:r>
          </a:p>
        </p:txBody>
      </p:sp>
      <p:sp>
        <p:nvSpPr>
          <p:cNvPr id="57" name="TextBox 56"/>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8" name="TextBox 57"/>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S20, S21, S22, S23, S25 | 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5FB"/>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Reconcile the event—and the receivable</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21</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Merchant 749 / Baseline. A settled retry can resolve processing without paying off the account.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098800"/>
            <a:ext cx="163068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QUESTION 1 / DOES THE EVENT LEDGER RECONCILE?</a:t>
            </a:r>
          </a:p>
        </p:txBody>
      </p:sp>
      <p:sp>
        <p:nvSpPr>
          <p:cNvPr id="10" name="Rounded Rectangle 9"/>
          <p:cNvSpPr/>
          <p:nvPr/>
        </p:nvSpPr>
        <p:spPr>
          <a:xfrm>
            <a:off x="685800" y="3657600"/>
            <a:ext cx="4000500" cy="1536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800" y="3860800"/>
            <a:ext cx="3492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SCHEDULED</a:t>
            </a:r>
          </a:p>
        </p:txBody>
      </p:sp>
      <p:sp>
        <p:nvSpPr>
          <p:cNvPr id="12" name="TextBox 11"/>
          <p:cNvSpPr txBox="1"/>
          <p:nvPr/>
        </p:nvSpPr>
        <p:spPr>
          <a:xfrm>
            <a:off x="939800" y="4419600"/>
            <a:ext cx="3479800" cy="6223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$1,762.25</a:t>
            </a:r>
          </a:p>
        </p:txBody>
      </p:sp>
      <p:sp>
        <p:nvSpPr>
          <p:cNvPr id="13" name="Rounded Rectangle 12"/>
          <p:cNvSpPr/>
          <p:nvPr/>
        </p:nvSpPr>
        <p:spPr>
          <a:xfrm>
            <a:off x="4965700" y="3657600"/>
            <a:ext cx="4000500" cy="1536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9700" y="3860800"/>
            <a:ext cx="3492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44F3C"/>
                </a:solidFill>
                <a:latin typeface="Lato"/>
              </a:defRPr>
            </a:pPr>
            <a:r>
              <a:t>LESS RETURNED</a:t>
            </a:r>
          </a:p>
        </p:txBody>
      </p:sp>
      <p:sp>
        <p:nvSpPr>
          <p:cNvPr id="15" name="TextBox 14"/>
          <p:cNvSpPr txBox="1"/>
          <p:nvPr/>
        </p:nvSpPr>
        <p:spPr>
          <a:xfrm>
            <a:off x="5219700" y="4419600"/>
            <a:ext cx="3479800" cy="6223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B44F3C"/>
                </a:solidFill>
                <a:latin typeface="Noto Serif"/>
              </a:defRPr>
            </a:pPr>
            <a:r>
              <a:t>−$251.75</a:t>
            </a:r>
          </a:p>
        </p:txBody>
      </p:sp>
      <p:sp>
        <p:nvSpPr>
          <p:cNvPr id="16" name="Rounded Rectangle 15"/>
          <p:cNvSpPr/>
          <p:nvPr/>
        </p:nvSpPr>
        <p:spPr>
          <a:xfrm>
            <a:off x="9245600" y="3657600"/>
            <a:ext cx="4000500" cy="1536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99600" y="3860800"/>
            <a:ext cx="3492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PLUS SETTLED RETRY</a:t>
            </a:r>
          </a:p>
        </p:txBody>
      </p:sp>
      <p:sp>
        <p:nvSpPr>
          <p:cNvPr id="18" name="TextBox 17"/>
          <p:cNvSpPr txBox="1"/>
          <p:nvPr/>
        </p:nvSpPr>
        <p:spPr>
          <a:xfrm>
            <a:off x="9499600" y="4419600"/>
            <a:ext cx="3479800" cy="6223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296FA2"/>
                </a:solidFill>
                <a:latin typeface="Noto Serif"/>
              </a:defRPr>
            </a:pPr>
            <a:r>
              <a:t>+$251.75</a:t>
            </a:r>
          </a:p>
        </p:txBody>
      </p:sp>
      <p:sp>
        <p:nvSpPr>
          <p:cNvPr id="19" name="Rounded Rectangle 18"/>
          <p:cNvSpPr/>
          <p:nvPr/>
        </p:nvSpPr>
        <p:spPr>
          <a:xfrm>
            <a:off x="13525500" y="3657600"/>
            <a:ext cx="4000500" cy="15367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79500" y="3860800"/>
            <a:ext cx="3492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147D77"/>
                </a:solidFill>
                <a:latin typeface="Lato"/>
              </a:defRPr>
            </a:pPr>
            <a:r>
              <a:t>NET PROCESSED</a:t>
            </a:r>
          </a:p>
        </p:txBody>
      </p:sp>
      <p:sp>
        <p:nvSpPr>
          <p:cNvPr id="21" name="TextBox 20"/>
          <p:cNvSpPr txBox="1"/>
          <p:nvPr/>
        </p:nvSpPr>
        <p:spPr>
          <a:xfrm>
            <a:off x="13779500" y="4419600"/>
            <a:ext cx="3479800" cy="6223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147D77"/>
                </a:solidFill>
                <a:latin typeface="Noto Serif"/>
              </a:defRPr>
            </a:pPr>
            <a:r>
              <a:t>$1,762.25</a:t>
            </a:r>
          </a:p>
        </p:txBody>
      </p:sp>
      <p:sp>
        <p:nvSpPr>
          <p:cNvPr id="22" name="TextBox 21"/>
          <p:cNvSpPr txBox="1"/>
          <p:nvPr/>
        </p:nvSpPr>
        <p:spPr>
          <a:xfrm>
            <a:off x="711200" y="5499100"/>
            <a:ext cx="16852900" cy="4445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03B4C"/>
                </a:solidFill>
                <a:latin typeface="Lato"/>
              </a:defRPr>
            </a:pPr>
            <a:r>
              <a:t>7 source events = 5 settled + 1 returned + 1 retry. Do not add the retry twice: net is not $2,014.00.</a:t>
            </a:r>
          </a:p>
        </p:txBody>
      </p:sp>
      <p:sp>
        <p:nvSpPr>
          <p:cNvPr id="23" name="TextBox 22"/>
          <p:cNvSpPr txBox="1"/>
          <p:nvPr/>
        </p:nvSpPr>
        <p:spPr>
          <a:xfrm>
            <a:off x="685800" y="6299200"/>
            <a:ext cx="16383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QUESTION 2 / WHAT RECEIVABLE REMAINS AT EACH STAGE?</a:t>
            </a:r>
          </a:p>
        </p:txBody>
      </p:sp>
      <p:sp>
        <p:nvSpPr>
          <p:cNvPr id="24" name="Rounded Rectangle 23"/>
          <p:cNvSpPr/>
          <p:nvPr/>
        </p:nvSpPr>
        <p:spPr>
          <a:xfrm>
            <a:off x="685800" y="6832600"/>
            <a:ext cx="8039100" cy="28194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900" y="7086600"/>
            <a:ext cx="7429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91C7EA"/>
                </a:solidFill>
                <a:latin typeface="Lato"/>
              </a:defRPr>
            </a:pPr>
            <a:r>
              <a:t>749 / M2.5 RECEIVABLE → AFTER M2.8</a:t>
            </a:r>
          </a:p>
        </p:txBody>
      </p:sp>
      <p:sp>
        <p:nvSpPr>
          <p:cNvPr id="26" name="TextBox 25"/>
          <p:cNvSpPr txBox="1"/>
          <p:nvPr/>
        </p:nvSpPr>
        <p:spPr>
          <a:xfrm>
            <a:off x="977900" y="7708900"/>
            <a:ext cx="7429500" cy="749300"/>
          </a:xfrm>
          <a:prstGeom prst="rect">
            <a:avLst/>
          </a:prstGeom>
          <a:noFill/>
          <a:effectLst/>
        </p:spPr>
        <p:txBody>
          <a:bodyPr wrap="none" lIns="0" rIns="0" tIns="0" bIns="0" anchor="t">
            <a:spAutoFit/>
          </a:bodyPr>
          <a:lstStyle/>
          <a:p>
            <a:pPr algn="l">
              <a:lnSpc>
                <a:spcPts val="3711"/>
              </a:lnSpc>
              <a:spcBef>
                <a:spcPts val="0"/>
              </a:spcBef>
              <a:spcAft>
                <a:spcPts val="0"/>
              </a:spcAft>
              <a:defRPr sz="3200" b="0">
                <a:solidFill>
                  <a:srgbClr val="FFFFFF"/>
                </a:solidFill>
                <a:latin typeface="Noto Serif"/>
              </a:defRPr>
            </a:pPr>
            <a:r>
              <a:t>$4,699.37 − $1,762.25</a:t>
            </a:r>
          </a:p>
        </p:txBody>
      </p:sp>
      <p:sp>
        <p:nvSpPr>
          <p:cNvPr id="27" name="TextBox 26"/>
          <p:cNvSpPr txBox="1"/>
          <p:nvPr/>
        </p:nvSpPr>
        <p:spPr>
          <a:xfrm>
            <a:off x="977900" y="8547100"/>
            <a:ext cx="7429500" cy="635000"/>
          </a:xfrm>
          <a:prstGeom prst="rect">
            <a:avLst/>
          </a:prstGeom>
          <a:noFill/>
          <a:effectLst/>
        </p:spPr>
        <p:txBody>
          <a:bodyPr wrap="none" lIns="0" rIns="0" tIns="0" bIns="0" anchor="t">
            <a:spAutoFit/>
          </a:bodyPr>
          <a:lstStyle/>
          <a:p>
            <a:pPr algn="l">
              <a:lnSpc>
                <a:spcPts val="3364"/>
              </a:lnSpc>
              <a:spcBef>
                <a:spcPts val="0"/>
              </a:spcBef>
              <a:spcAft>
                <a:spcPts val="0"/>
              </a:spcAft>
              <a:defRPr sz="2900" b="0">
                <a:solidFill>
                  <a:srgbClr val="FFFFFF"/>
                </a:solidFill>
                <a:latin typeface="Noto Serif"/>
              </a:defRPr>
            </a:pPr>
            <a:r>
              <a:t>= $2,937.12 still outstanding</a:t>
            </a:r>
          </a:p>
        </p:txBody>
      </p:sp>
      <p:sp>
        <p:nvSpPr>
          <p:cNvPr id="28" name="Rounded Rectangle 27"/>
          <p:cNvSpPr/>
          <p:nvPr/>
        </p:nvSpPr>
        <p:spPr>
          <a:xfrm>
            <a:off x="9093200" y="6832600"/>
            <a:ext cx="8521700" cy="2819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85300" y="7086600"/>
            <a:ext cx="7937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FULL BASELINE PORTFOLIO BRIDGE</a:t>
            </a:r>
          </a:p>
        </p:txBody>
      </p:sp>
      <p:sp>
        <p:nvSpPr>
          <p:cNvPr id="30" name="TextBox 29"/>
          <p:cNvSpPr txBox="1"/>
          <p:nvPr/>
        </p:nvSpPr>
        <p:spPr>
          <a:xfrm>
            <a:off x="9385300" y="7683500"/>
            <a:ext cx="7937500" cy="889000"/>
          </a:xfrm>
          <a:prstGeom prst="rect">
            <a:avLst/>
          </a:prstGeom>
          <a:noFill/>
          <a:effectLst/>
        </p:spPr>
        <p:txBody>
          <a:bodyPr wrap="none" lIns="0" rIns="0" tIns="0" bIns="0" anchor="t">
            <a:spAutoFit/>
          </a:bodyPr>
          <a:lstStyle/>
          <a:p>
            <a:pPr algn="l">
              <a:lnSpc>
                <a:spcPts val="3247"/>
              </a:lnSpc>
              <a:spcBef>
                <a:spcPts val="0"/>
              </a:spcBef>
              <a:spcAft>
                <a:spcPts val="0"/>
              </a:spcAft>
              <a:defRPr sz="2800" b="0">
                <a:solidFill>
                  <a:srgbClr val="147D77"/>
                </a:solidFill>
                <a:latin typeface="Noto Serif"/>
              </a:defRPr>
            </a:pPr>
            <a:r>
              <a:t>M2.5 $7,823.28 − $1,762.25</a:t>
            </a:r>
          </a:p>
          <a:p>
            <a:pPr algn="l">
              <a:lnSpc>
                <a:spcPts val="3247"/>
              </a:lnSpc>
              <a:spcBef>
                <a:spcPts val="0"/>
              </a:spcBef>
              <a:spcAft>
                <a:spcPts val="0"/>
              </a:spcAft>
              <a:defRPr sz="2800" b="0">
                <a:solidFill>
                  <a:srgbClr val="147D77"/>
                </a:solidFill>
                <a:latin typeface="Noto Serif"/>
              </a:defRPr>
            </a:pPr>
            <a:r>
              <a:t>= M2.10 $6,061.03</a:t>
            </a:r>
          </a:p>
        </p:txBody>
      </p:sp>
      <p:sp>
        <p:nvSpPr>
          <p:cNvPr id="31" name="TextBox 30"/>
          <p:cNvSpPr txBox="1"/>
          <p:nvPr/>
        </p:nvSpPr>
        <p:spPr>
          <a:xfrm>
            <a:off x="9385300" y="8801100"/>
            <a:ext cx="7937500" cy="673100"/>
          </a:xfrm>
          <a:prstGeom prst="rect">
            <a:avLst/>
          </a:prstGeom>
          <a:noFill/>
          <a:effectLst/>
        </p:spPr>
        <p:txBody>
          <a:bodyPr wrap="none" lIns="0" rIns="0" tIns="0" bIns="0" anchor="t">
            <a:spAutoFit/>
          </a:bodyPr>
          <a:lstStyle/>
          <a:p>
            <a:pPr algn="l">
              <a:lnSpc>
                <a:spcPts val="2320"/>
              </a:lnSpc>
              <a:spcBef>
                <a:spcPts val="0"/>
              </a:spcBef>
              <a:spcAft>
                <a:spcPts val="0"/>
              </a:spcAft>
              <a:defRPr sz="2000" b="0">
                <a:solidFill>
                  <a:srgbClr val="203B4C"/>
                </a:solidFill>
                <a:latin typeface="Lato"/>
              </a:defRPr>
            </a:pPr>
            <a:r>
              <a:t>$3,123.91 in three review holds</a:t>
            </a:r>
          </a:p>
          <a:p>
            <a:pPr algn="l">
              <a:lnSpc>
                <a:spcPts val="2320"/>
              </a:lnSpc>
              <a:spcBef>
                <a:spcPts val="0"/>
              </a:spcBef>
              <a:spcAft>
                <a:spcPts val="0"/>
              </a:spcAft>
              <a:defRPr sz="2000" b="0">
                <a:solidFill>
                  <a:srgbClr val="203B4C"/>
                </a:solidFill>
                <a:latin typeface="Lato"/>
              </a:defRPr>
            </a:pPr>
            <a:r>
              <a:t>+ $2,937.12 active / reconciled</a:t>
            </a:r>
          </a:p>
        </p:txBody>
      </p:sp>
      <p:sp>
        <p:nvSpPr>
          <p:cNvPr id="32" name="TextBox 31"/>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Stage-owned balances are not contradictory views of one state—and their bridge is not a measured loss reduction.</a:t>
            </a:r>
          </a:p>
        </p:txBody>
      </p:sp>
      <p:sp>
        <p:nvSpPr>
          <p:cNvPr id="33" name="Rounded Rectangle 32"/>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35" name="TextBox 34"/>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Can zero unresolved exceptions coexist with a $6,061.03 receivable?</a:t>
            </a:r>
          </a:p>
        </p:txBody>
      </p:sp>
      <p:sp>
        <p:nvSpPr>
          <p:cNvPr id="36" name="Rounded Rectangle 35"/>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38" name="TextBox 37"/>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Yes. Reconciliation establishes agreement of events and</a:t>
            </a:r>
          </a:p>
          <a:p>
            <a:pPr algn="l">
              <a:lnSpc>
                <a:spcPts val="1913"/>
              </a:lnSpc>
              <a:spcBef>
                <a:spcPts val="0"/>
              </a:spcBef>
              <a:spcAft>
                <a:spcPts val="0"/>
              </a:spcAft>
              <a:defRPr sz="1650" b="0">
                <a:solidFill>
                  <a:srgbClr val="FFFFFF"/>
                </a:solidFill>
                <a:latin typeface="Lato"/>
              </a:defRPr>
            </a:pPr>
            <a:r>
              <a:t>balances. Payoff is a different question: is the receivable</a:t>
            </a:r>
          </a:p>
          <a:p>
            <a:pPr algn="l">
              <a:lnSpc>
                <a:spcPts val="1913"/>
              </a:lnSpc>
              <a:spcBef>
                <a:spcPts val="0"/>
              </a:spcBef>
              <a:spcAft>
                <a:spcPts val="0"/>
              </a:spcAft>
              <a:defRPr sz="1650" b="0">
                <a:solidFill>
                  <a:srgbClr val="FFFFFF"/>
                </a:solidFill>
                <a:latin typeface="Lato"/>
              </a:defRPr>
            </a:pPr>
            <a:r>
              <a:t>zero?</a:t>
            </a:r>
          </a:p>
        </p:txBody>
      </p:sp>
      <p:sp>
        <p:nvSpPr>
          <p:cNvPr id="39" name="TextBox 38"/>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40" name="TextBox 39"/>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S19, S23, S24, S26 | 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12192000"/>
          </a:xfrm>
          <a:prstGeom prst="rect">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9144000" cy="2794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MSBF / MERCHANT FINANCE MASTERCLASS</a:t>
            </a:r>
          </a:p>
        </p:txBody>
      </p:sp>
      <p:sp>
        <p:nvSpPr>
          <p:cNvPr id="4" name="TextBox 3"/>
          <p:cNvSpPr txBox="1"/>
          <p:nvPr/>
        </p:nvSpPr>
        <p:spPr>
          <a:xfrm>
            <a:off x="12827000" y="355600"/>
            <a:ext cx="4762500" cy="279400"/>
          </a:xfrm>
          <a:prstGeom prst="rect">
            <a:avLst/>
          </a:prstGeom>
          <a:noFill/>
          <a:effectLst/>
        </p:spPr>
        <p:txBody>
          <a:bodyPr wrap="none" lIns="0" rIns="0" tIns="0" bIns="0" anchor="t">
            <a:spAutoFit/>
          </a:bodyPr>
          <a:lstStyle/>
          <a:p>
            <a:pPr algn="r">
              <a:lnSpc>
                <a:spcPts val="1507"/>
              </a:lnSpc>
              <a:spcBef>
                <a:spcPts val="0"/>
              </a:spcBef>
              <a:spcAft>
                <a:spcPts val="0"/>
              </a:spcAft>
              <a:defRPr sz="1300" b="1">
                <a:solidFill>
                  <a:srgbClr val="58707B"/>
                </a:solidFill>
                <a:latin typeface="Lato"/>
              </a:defRPr>
            </a:pPr>
            <a:r>
              <a:t>IV FOLLOW THE ACCOUNT</a:t>
            </a:r>
          </a:p>
        </p:txBody>
      </p:sp>
      <p:sp>
        <p:nvSpPr>
          <p:cNvPr id="5" name="TextBox 4"/>
          <p:cNvSpPr txBox="1"/>
          <p:nvPr/>
        </p:nvSpPr>
        <p:spPr>
          <a:xfrm>
            <a:off x="660400" y="914400"/>
            <a:ext cx="15811500" cy="1219200"/>
          </a:xfrm>
          <a:prstGeom prst="rect">
            <a:avLst/>
          </a:prstGeom>
          <a:noFill/>
          <a:effectLst/>
        </p:spPr>
        <p:txBody>
          <a:bodyPr wrap="none" lIns="0" rIns="0" tIns="0" bIns="0" anchor="t">
            <a:spAutoFit/>
          </a:bodyPr>
          <a:lstStyle/>
          <a:p>
            <a:pPr algn="l">
              <a:lnSpc>
                <a:spcPts val="4218"/>
              </a:lnSpc>
              <a:spcBef>
                <a:spcPts val="0"/>
              </a:spcBef>
              <a:spcAft>
                <a:spcPts val="0"/>
              </a:spcAft>
              <a:defRPr sz="3800" b="0">
                <a:solidFill>
                  <a:srgbClr val="203B4C"/>
                </a:solidFill>
                <a:latin typeface="Noto Serif"/>
              </a:defRPr>
            </a:pPr>
            <a:r>
              <a:t>Turn a portfolio number back into an explanation</a:t>
            </a:r>
          </a:p>
        </p:txBody>
      </p:sp>
      <p:sp>
        <p:nvSpPr>
          <p:cNvPr id="6" name="TextBox 5"/>
          <p:cNvSpPr txBox="1"/>
          <p:nvPr/>
        </p:nvSpPr>
        <p:spPr>
          <a:xfrm>
            <a:off x="16662400" y="876300"/>
            <a:ext cx="1016000" cy="723900"/>
          </a:xfrm>
          <a:prstGeom prst="rect">
            <a:avLst/>
          </a:prstGeom>
          <a:noFill/>
          <a:effectLst/>
        </p:spPr>
        <p:txBody>
          <a:bodyPr wrap="none" lIns="0" rIns="0" tIns="0" bIns="0" anchor="t">
            <a:spAutoFit/>
          </a:bodyPr>
          <a:lstStyle/>
          <a:p>
            <a:pPr algn="r">
              <a:lnSpc>
                <a:spcPts val="4059"/>
              </a:lnSpc>
              <a:spcBef>
                <a:spcPts val="0"/>
              </a:spcBef>
              <a:spcAft>
                <a:spcPts val="0"/>
              </a:spcAft>
              <a:defRPr sz="3500" b="0">
                <a:solidFill>
                  <a:srgbClr val="BC8623"/>
                </a:solidFill>
                <a:latin typeface="Noto Serif"/>
              </a:defRPr>
            </a:pPr>
            <a:r>
              <a:t>22</a:t>
            </a:r>
          </a:p>
        </p:txBody>
      </p:sp>
      <p:sp>
        <p:nvSpPr>
          <p:cNvPr id="7" name="TextBox 6"/>
          <p:cNvSpPr txBox="1"/>
          <p:nvPr/>
        </p:nvSpPr>
        <p:spPr>
          <a:xfrm>
            <a:off x="685800" y="2082800"/>
            <a:ext cx="16814800" cy="5588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58707B"/>
                </a:solidFill>
                <a:latin typeface="Lato"/>
              </a:defRPr>
            </a:pPr>
            <a:r>
              <a:t>Name the population, driver, rule and proof. Then show someone else how to trace the result.</a:t>
            </a:r>
          </a:p>
        </p:txBody>
      </p:sp>
      <p:cxnSp>
        <p:nvCxnSpPr>
          <p:cNvPr id="8" name="Connector 7"/>
          <p:cNvCxnSpPr/>
          <p:nvPr/>
        </p:nvCxnSpPr>
        <p:spPr>
          <a:xfrm>
            <a:off x="685800" y="2781300"/>
            <a:ext cx="16916400" cy="0"/>
          </a:xfrm>
          <a:prstGeom prst="line">
            <a:avLst/>
          </a:prstGeom>
          <a:ln w="12700">
            <a:solidFill>
              <a:srgbClr val="DCE7E5"/>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111500"/>
            <a:ext cx="8216900" cy="31750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2500" y="3340100"/>
            <a:ext cx="7683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BASELINE</a:t>
            </a:r>
          </a:p>
        </p:txBody>
      </p:sp>
      <p:sp>
        <p:nvSpPr>
          <p:cNvPr id="11" name="TextBox 10"/>
          <p:cNvSpPr txBox="1"/>
          <p:nvPr/>
        </p:nvSpPr>
        <p:spPr>
          <a:xfrm>
            <a:off x="952500" y="3835400"/>
            <a:ext cx="7683500" cy="558800"/>
          </a:xfrm>
          <a:prstGeom prst="rect">
            <a:avLst/>
          </a:prstGeom>
          <a:noFill/>
          <a:effectLst/>
        </p:spPr>
        <p:txBody>
          <a:bodyPr wrap="none" lIns="0" rIns="0" tIns="0" bIns="0" anchor="t">
            <a:spAutoFit/>
          </a:bodyPr>
          <a:lstStyle/>
          <a:p>
            <a:pPr algn="l">
              <a:lnSpc>
                <a:spcPts val="3247"/>
              </a:lnSpc>
              <a:spcBef>
                <a:spcPts val="0"/>
              </a:spcBef>
              <a:spcAft>
                <a:spcPts val="0"/>
              </a:spcAft>
              <a:defRPr sz="2800" b="0">
                <a:solidFill>
                  <a:srgbClr val="203B4C"/>
                </a:solidFill>
                <a:latin typeface="Noto Serif"/>
              </a:defRPr>
            </a:pPr>
            <a:r>
              <a:t>103 / 750 = 13.7% authorized</a:t>
            </a:r>
          </a:p>
        </p:txBody>
      </p:sp>
      <p:sp>
        <p:nvSpPr>
          <p:cNvPr id="12" name="Rectangle 11"/>
          <p:cNvSpPr/>
          <p:nvPr/>
        </p:nvSpPr>
        <p:spPr>
          <a:xfrm>
            <a:off x="952500" y="4572000"/>
            <a:ext cx="7683500" cy="342900"/>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2500" y="4572000"/>
            <a:ext cx="1055200" cy="3429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07700" y="4572000"/>
            <a:ext cx="2018199" cy="3429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500" y="5130800"/>
            <a:ext cx="7683500" cy="469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300 supportable = 103 authorized + 197 review</a:t>
            </a:r>
          </a:p>
        </p:txBody>
      </p:sp>
      <p:sp>
        <p:nvSpPr>
          <p:cNvPr id="16" name="TextBox 15"/>
          <p:cNvSpPr txBox="1"/>
          <p:nvPr/>
        </p:nvSpPr>
        <p:spPr>
          <a:xfrm>
            <a:off x="952500" y="5740400"/>
            <a:ext cx="7683500" cy="393700"/>
          </a:xfrm>
          <a:prstGeom prst="rect">
            <a:avLst/>
          </a:prstGeom>
          <a:noFill/>
          <a:effectLst/>
        </p:spPr>
        <p:txBody>
          <a:bodyPr wrap="none" lIns="0" rIns="0" tIns="0" bIns="0" anchor="t">
            <a:spAutoFit/>
          </a:bodyPr>
          <a:lstStyle/>
          <a:p>
            <a:pPr algn="l">
              <a:lnSpc>
                <a:spcPts val="2029"/>
              </a:lnSpc>
              <a:spcBef>
                <a:spcPts val="0"/>
              </a:spcBef>
              <a:spcAft>
                <a:spcPts val="0"/>
              </a:spcAft>
              <a:defRPr sz="1750" b="0">
                <a:solidFill>
                  <a:srgbClr val="58707B"/>
                </a:solidFill>
                <a:latin typeface="Lato"/>
              </a:defRPr>
            </a:pPr>
            <a:r>
              <a:t>Synthetic funding $1,385,300 | Paid off / funded 99 / 103</a:t>
            </a:r>
          </a:p>
        </p:txBody>
      </p:sp>
      <p:sp>
        <p:nvSpPr>
          <p:cNvPr id="17" name="Rounded Rectangle 16"/>
          <p:cNvSpPr/>
          <p:nvPr/>
        </p:nvSpPr>
        <p:spPr>
          <a:xfrm>
            <a:off x="9398000" y="3111500"/>
            <a:ext cx="8216900" cy="3175000"/>
          </a:xfrm>
          <a:prstGeom prst="roundRect">
            <a:avLst>
              <a:gd name="adj" fmla="val 7000"/>
            </a:avLst>
          </a:prstGeom>
          <a:solidFill>
            <a:srgbClr val="EE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64700" y="3340100"/>
            <a:ext cx="76835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RECESSION ENERGY</a:t>
            </a:r>
          </a:p>
        </p:txBody>
      </p:sp>
      <p:sp>
        <p:nvSpPr>
          <p:cNvPr id="19" name="TextBox 18"/>
          <p:cNvSpPr txBox="1"/>
          <p:nvPr/>
        </p:nvSpPr>
        <p:spPr>
          <a:xfrm>
            <a:off x="9664700" y="3835400"/>
            <a:ext cx="7683500" cy="558800"/>
          </a:xfrm>
          <a:prstGeom prst="rect">
            <a:avLst/>
          </a:prstGeom>
          <a:noFill/>
          <a:effectLst/>
        </p:spPr>
        <p:txBody>
          <a:bodyPr wrap="none" lIns="0" rIns="0" tIns="0" bIns="0" anchor="t">
            <a:spAutoFit/>
          </a:bodyPr>
          <a:lstStyle/>
          <a:p>
            <a:pPr algn="l">
              <a:lnSpc>
                <a:spcPts val="3247"/>
              </a:lnSpc>
              <a:spcBef>
                <a:spcPts val="0"/>
              </a:spcBef>
              <a:spcAft>
                <a:spcPts val="0"/>
              </a:spcAft>
              <a:defRPr sz="2800" b="0">
                <a:solidFill>
                  <a:srgbClr val="203B4C"/>
                </a:solidFill>
                <a:latin typeface="Noto Serif"/>
              </a:defRPr>
            </a:pPr>
            <a:r>
              <a:t>27 / 750 = 3.6% authorized</a:t>
            </a:r>
          </a:p>
        </p:txBody>
      </p:sp>
      <p:sp>
        <p:nvSpPr>
          <p:cNvPr id="20" name="Rectangle 19"/>
          <p:cNvSpPr/>
          <p:nvPr/>
        </p:nvSpPr>
        <p:spPr>
          <a:xfrm>
            <a:off x="9664700" y="4572000"/>
            <a:ext cx="7683500" cy="342900"/>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64700" y="4572000"/>
            <a:ext cx="276606" cy="342900"/>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41306" y="4572000"/>
            <a:ext cx="542967" cy="342900"/>
          </a:xfrm>
          <a:prstGeom prst="rect">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64700" y="5130800"/>
            <a:ext cx="7683500" cy="469900"/>
          </a:xfrm>
          <a:prstGeom prst="rect">
            <a:avLst/>
          </a:prstGeom>
          <a:noFill/>
          <a:effectLst/>
        </p:spPr>
        <p:txBody>
          <a:bodyPr wrap="none" lIns="0" rIns="0" tIns="0" bIns="0" anchor="t">
            <a:spAutoFit/>
          </a:bodyPr>
          <a:lstStyle/>
          <a:p>
            <a:pPr algn="l">
              <a:lnSpc>
                <a:spcPts val="2204"/>
              </a:lnSpc>
              <a:spcBef>
                <a:spcPts val="0"/>
              </a:spcBef>
              <a:spcAft>
                <a:spcPts val="0"/>
              </a:spcAft>
              <a:defRPr sz="1900" b="0">
                <a:solidFill>
                  <a:srgbClr val="203B4C"/>
                </a:solidFill>
                <a:latin typeface="Lato"/>
              </a:defRPr>
            </a:pPr>
            <a:r>
              <a:t>80 supportable = 27 authorized + 53 review</a:t>
            </a:r>
          </a:p>
        </p:txBody>
      </p:sp>
      <p:sp>
        <p:nvSpPr>
          <p:cNvPr id="24" name="TextBox 23"/>
          <p:cNvSpPr txBox="1"/>
          <p:nvPr/>
        </p:nvSpPr>
        <p:spPr>
          <a:xfrm>
            <a:off x="9664700" y="5740400"/>
            <a:ext cx="7683500" cy="393700"/>
          </a:xfrm>
          <a:prstGeom prst="rect">
            <a:avLst/>
          </a:prstGeom>
          <a:noFill/>
          <a:effectLst/>
        </p:spPr>
        <p:txBody>
          <a:bodyPr wrap="none" lIns="0" rIns="0" tIns="0" bIns="0" anchor="t">
            <a:spAutoFit/>
          </a:bodyPr>
          <a:lstStyle/>
          <a:p>
            <a:pPr algn="l">
              <a:lnSpc>
                <a:spcPts val="2029"/>
              </a:lnSpc>
              <a:spcBef>
                <a:spcPts val="0"/>
              </a:spcBef>
              <a:spcAft>
                <a:spcPts val="0"/>
              </a:spcAft>
              <a:defRPr sz="1750" b="0">
                <a:solidFill>
                  <a:srgbClr val="58707B"/>
                </a:solidFill>
                <a:latin typeface="Lato"/>
              </a:defRPr>
            </a:pPr>
            <a:r>
              <a:t>Synthetic funding $344,200 | Paid off / funded 27 / 27</a:t>
            </a:r>
          </a:p>
        </p:txBody>
      </p:sp>
      <p:sp>
        <p:nvSpPr>
          <p:cNvPr id="25" name="TextBox 24"/>
          <p:cNvSpPr txBox="1"/>
          <p:nvPr/>
        </p:nvSpPr>
        <p:spPr>
          <a:xfrm>
            <a:off x="711200" y="6375400"/>
            <a:ext cx="16865600" cy="304800"/>
          </a:xfrm>
          <a:prstGeom prst="rect">
            <a:avLst/>
          </a:prstGeom>
          <a:noFill/>
          <a:effectLst/>
        </p:spPr>
        <p:txBody>
          <a:bodyPr wrap="none" lIns="0" rIns="0" tIns="0" bIns="0" anchor="t">
            <a:spAutoFit/>
          </a:bodyPr>
          <a:lstStyle/>
          <a:p>
            <a:pPr algn="l">
              <a:lnSpc>
                <a:spcPts val="1855"/>
              </a:lnSpc>
              <a:spcBef>
                <a:spcPts val="0"/>
              </a:spcBef>
              <a:spcAft>
                <a:spcPts val="0"/>
              </a:spcAft>
              <a:defRPr sz="1600" b="0">
                <a:solidFill>
                  <a:srgbClr val="58707B"/>
                </a:solidFill>
                <a:latin typeface="Lato"/>
              </a:defRPr>
            </a:pPr>
            <a:r>
              <a:t>Each bar = 750 paths: teal authorized · gold review · pale declined.</a:t>
            </a:r>
          </a:p>
        </p:txBody>
      </p:sp>
      <p:sp>
        <p:nvSpPr>
          <p:cNvPr id="26" name="TextBox 25"/>
          <p:cNvSpPr txBox="1"/>
          <p:nvPr/>
        </p:nvSpPr>
        <p:spPr>
          <a:xfrm>
            <a:off x="685800" y="6819900"/>
            <a:ext cx="165100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296FA2"/>
                </a:solidFill>
                <a:latin typeface="Lato"/>
              </a:defRPr>
            </a:pPr>
            <a:r>
              <a:t>TWO READ-ONLY INVESTIGATIONS — FOLLOW THE EVIDENCE, NOT THE CHART ALONE</a:t>
            </a:r>
          </a:p>
        </p:txBody>
      </p:sp>
      <p:sp>
        <p:nvSpPr>
          <p:cNvPr id="27" name="Rounded Rectangle 26"/>
          <p:cNvSpPr/>
          <p:nvPr/>
        </p:nvSpPr>
        <p:spPr>
          <a:xfrm>
            <a:off x="685800" y="7277100"/>
            <a:ext cx="8242300" cy="16256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7493000"/>
            <a:ext cx="698500" cy="698500"/>
          </a:xfrm>
          <a:prstGeom prst="ellipse">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76454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082</a:t>
            </a:r>
          </a:p>
        </p:txBody>
      </p:sp>
      <p:sp>
        <p:nvSpPr>
          <p:cNvPr id="30" name="TextBox 29"/>
          <p:cNvSpPr txBox="1"/>
          <p:nvPr/>
        </p:nvSpPr>
        <p:spPr>
          <a:xfrm>
            <a:off x="1828800" y="7505700"/>
            <a:ext cx="68707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082</a:t>
            </a:r>
          </a:p>
        </p:txBody>
      </p:sp>
      <p:sp>
        <p:nvSpPr>
          <p:cNvPr id="31" name="TextBox 30"/>
          <p:cNvSpPr txBox="1"/>
          <p:nvPr/>
        </p:nvSpPr>
        <p:spPr>
          <a:xfrm>
            <a:off x="1828800" y="7848600"/>
            <a:ext cx="68707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Why is $31,200 selected but not funded?</a:t>
            </a:r>
          </a:p>
        </p:txBody>
      </p:sp>
      <p:sp>
        <p:nvSpPr>
          <p:cNvPr id="32" name="TextBox 31"/>
          <p:cNvSpPr txBox="1"/>
          <p:nvPr/>
        </p:nvSpPr>
        <p:spPr>
          <a:xfrm>
            <a:off x="939800" y="8547100"/>
            <a:ext cx="77343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BASELINE / CANDIDATE → BINDING REVIEW GATES → FUNDED KEY</a:t>
            </a:r>
          </a:p>
        </p:txBody>
      </p:sp>
      <p:sp>
        <p:nvSpPr>
          <p:cNvPr id="33" name="Rounded Rectangle 32"/>
          <p:cNvSpPr/>
          <p:nvPr/>
        </p:nvSpPr>
        <p:spPr>
          <a:xfrm>
            <a:off x="9359900" y="7277100"/>
            <a:ext cx="8255000" cy="16256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88500" y="7493000"/>
            <a:ext cx="698500" cy="698500"/>
          </a:xfrm>
          <a:prstGeom prst="ellipse">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88500" y="7645400"/>
            <a:ext cx="698500" cy="406400"/>
          </a:xfrm>
          <a:prstGeom prst="rect">
            <a:avLst/>
          </a:prstGeom>
          <a:noFill/>
          <a:effectLst/>
        </p:spPr>
        <p:txBody>
          <a:bodyPr wrap="none" lIns="0" rIns="0" tIns="0" bIns="0" anchor="t">
            <a:spAutoFit/>
          </a:bodyPr>
          <a:lstStyle/>
          <a:p>
            <a:pPr algn="ctr">
              <a:lnSpc>
                <a:spcPts val="2668"/>
              </a:lnSpc>
              <a:spcBef>
                <a:spcPts val="0"/>
              </a:spcBef>
              <a:spcAft>
                <a:spcPts val="0"/>
              </a:spcAft>
              <a:defRPr sz="2300" b="1">
                <a:solidFill>
                  <a:srgbClr val="FFFFFF"/>
                </a:solidFill>
                <a:latin typeface="Lato"/>
              </a:defRPr>
            </a:pPr>
            <a:r>
              <a:t>749</a:t>
            </a:r>
          </a:p>
        </p:txBody>
      </p:sp>
      <p:sp>
        <p:nvSpPr>
          <p:cNvPr id="36" name="TextBox 35"/>
          <p:cNvSpPr txBox="1"/>
          <p:nvPr/>
        </p:nvSpPr>
        <p:spPr>
          <a:xfrm>
            <a:off x="10502900" y="7505700"/>
            <a:ext cx="6883400" cy="317500"/>
          </a:xfrm>
          <a:prstGeom prst="rect">
            <a:avLst/>
          </a:prstGeom>
          <a:noFill/>
          <a:effectLst/>
        </p:spPr>
        <p:txBody>
          <a:bodyPr wrap="none" lIns="0" rIns="0" tIns="0" bIns="0" anchor="t">
            <a:spAutoFit/>
          </a:bodyPr>
          <a:lstStyle/>
          <a:p>
            <a:pPr algn="l">
              <a:lnSpc>
                <a:spcPts val="1507"/>
              </a:lnSpc>
              <a:spcBef>
                <a:spcPts val="0"/>
              </a:spcBef>
              <a:spcAft>
                <a:spcPts val="0"/>
              </a:spcAft>
              <a:defRPr sz="1300" b="1">
                <a:solidFill>
                  <a:srgbClr val="147D77"/>
                </a:solidFill>
                <a:latin typeface="Lato"/>
              </a:defRPr>
            </a:pPr>
            <a:r>
              <a:t>SYNTHETIC MERCHANT 749</a:t>
            </a:r>
          </a:p>
        </p:txBody>
      </p:sp>
      <p:sp>
        <p:nvSpPr>
          <p:cNvPr id="37" name="TextBox 36"/>
          <p:cNvSpPr txBox="1"/>
          <p:nvPr/>
        </p:nvSpPr>
        <p:spPr>
          <a:xfrm>
            <a:off x="10502900" y="7848600"/>
            <a:ext cx="6883400" cy="660400"/>
          </a:xfrm>
          <a:prstGeom prst="rect">
            <a:avLst/>
          </a:prstGeom>
          <a:noFill/>
          <a:effectLst/>
        </p:spPr>
        <p:txBody>
          <a:bodyPr wrap="none" lIns="0" rIns="0" tIns="0" bIns="0" anchor="t">
            <a:spAutoFit/>
          </a:bodyPr>
          <a:lstStyle/>
          <a:p>
            <a:pPr algn="l">
              <a:lnSpc>
                <a:spcPts val="2436"/>
              </a:lnSpc>
              <a:spcBef>
                <a:spcPts val="0"/>
              </a:spcBef>
              <a:spcAft>
                <a:spcPts val="0"/>
              </a:spcAft>
              <a:defRPr sz="2100" b="1">
                <a:solidFill>
                  <a:srgbClr val="203B4C"/>
                </a:solidFill>
                <a:latin typeface="Lato"/>
              </a:defRPr>
            </a:pPr>
            <a:r>
              <a:t>Why does a resolved return leave exposure?</a:t>
            </a:r>
          </a:p>
        </p:txBody>
      </p:sp>
      <p:sp>
        <p:nvSpPr>
          <p:cNvPr id="38" name="TextBox 37"/>
          <p:cNvSpPr txBox="1"/>
          <p:nvPr/>
        </p:nvSpPr>
        <p:spPr>
          <a:xfrm>
            <a:off x="9613900" y="8547100"/>
            <a:ext cx="7747000" cy="279400"/>
          </a:xfrm>
          <a:prstGeom prst="rect">
            <a:avLst/>
          </a:prstGeom>
          <a:noFill/>
          <a:effectLst/>
        </p:spPr>
        <p:txBody>
          <a:bodyPr wrap="none" lIns="0" rIns="0" tIns="0" bIns="0" anchor="t">
            <a:spAutoFit/>
          </a:bodyPr>
          <a:lstStyle/>
          <a:p>
            <a:pPr algn="l">
              <a:lnSpc>
                <a:spcPts val="1391"/>
              </a:lnSpc>
              <a:spcBef>
                <a:spcPts val="0"/>
              </a:spcBef>
              <a:spcAft>
                <a:spcPts val="0"/>
              </a:spcAft>
              <a:defRPr sz="1200" b="0">
                <a:solidFill>
                  <a:srgbClr val="58707B"/>
                </a:solidFill>
                <a:latin typeface="Lato"/>
              </a:defRPr>
            </a:pPr>
            <a:r>
              <a:t>BASELINE / EXECUTION → ACCOUNT CERTIFICATION → BALANCE</a:t>
            </a:r>
          </a:p>
        </p:txBody>
      </p:sp>
      <p:sp>
        <p:nvSpPr>
          <p:cNvPr id="39" name="Rounded Rectangle 38"/>
          <p:cNvSpPr/>
          <p:nvPr/>
        </p:nvSpPr>
        <p:spPr>
          <a:xfrm>
            <a:off x="685800" y="9131300"/>
            <a:ext cx="3965575" cy="571500"/>
          </a:xfrm>
          <a:prstGeom prst="roundRect">
            <a:avLst>
              <a:gd name="adj" fmla="val 7000"/>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200" y="9334500"/>
            <a:ext cx="3660775" cy="3429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Question + key</a:t>
            </a:r>
          </a:p>
        </p:txBody>
      </p:sp>
      <p:cxnSp>
        <p:nvCxnSpPr>
          <p:cNvPr id="41" name="Connector 40"/>
          <p:cNvCxnSpPr/>
          <p:nvPr/>
        </p:nvCxnSpPr>
        <p:spPr>
          <a:xfrm>
            <a:off x="4702175" y="94170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006975" y="9131300"/>
            <a:ext cx="3965575" cy="571500"/>
          </a:xfrm>
          <a:prstGeom prst="roundRect">
            <a:avLst>
              <a:gd name="adj" fmla="val 7000"/>
            </a:avLst>
          </a:prstGeom>
          <a:solidFill>
            <a:srgbClr val="19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59375" y="9334500"/>
            <a:ext cx="3660775" cy="3429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Driver + rule</a:t>
            </a:r>
          </a:p>
        </p:txBody>
      </p:sp>
      <p:cxnSp>
        <p:nvCxnSpPr>
          <p:cNvPr id="44" name="Connector 43"/>
          <p:cNvCxnSpPr/>
          <p:nvPr/>
        </p:nvCxnSpPr>
        <p:spPr>
          <a:xfrm>
            <a:off x="9023350" y="94170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328150" y="9131300"/>
            <a:ext cx="3965575" cy="571500"/>
          </a:xfrm>
          <a:prstGeom prst="roundRect">
            <a:avLst>
              <a:gd name="adj" fmla="val 7000"/>
            </a:avLst>
          </a:prstGeom>
          <a:solidFill>
            <a:srgbClr val="BC8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80550" y="9334500"/>
            <a:ext cx="3660775" cy="3429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Source proof</a:t>
            </a:r>
          </a:p>
        </p:txBody>
      </p:sp>
      <p:cxnSp>
        <p:nvCxnSpPr>
          <p:cNvPr id="47" name="Connector 46"/>
          <p:cNvCxnSpPr/>
          <p:nvPr/>
        </p:nvCxnSpPr>
        <p:spPr>
          <a:xfrm>
            <a:off x="13344525" y="9417050"/>
            <a:ext cx="254000" cy="0"/>
          </a:xfrm>
          <a:prstGeom prst="line">
            <a:avLst/>
          </a:prstGeom>
          <a:ln w="31750">
            <a:solidFill>
              <a:srgbClr val="BC862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3649325" y="9131300"/>
            <a:ext cx="3965575" cy="5715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801725" y="9334500"/>
            <a:ext cx="3660775" cy="342900"/>
          </a:xfrm>
          <a:prstGeom prst="rect">
            <a:avLst/>
          </a:prstGeom>
          <a:noFill/>
          <a:effectLst/>
        </p:spPr>
        <p:txBody>
          <a:bodyPr wrap="none" lIns="0" rIns="0" tIns="0" bIns="0" anchor="t">
            <a:spAutoFit/>
          </a:bodyPr>
          <a:lstStyle/>
          <a:p>
            <a:pPr algn="ctr">
              <a:lnSpc>
                <a:spcPts val="1972"/>
              </a:lnSpc>
              <a:spcBef>
                <a:spcPts val="0"/>
              </a:spcBef>
              <a:spcAft>
                <a:spcPts val="0"/>
              </a:spcAft>
              <a:defRPr sz="1700" b="1">
                <a:solidFill>
                  <a:srgbClr val="FFFFFF"/>
                </a:solidFill>
                <a:latin typeface="Lato"/>
              </a:defRPr>
            </a:pPr>
            <a:r>
              <a:t>Certified insight</a:t>
            </a:r>
          </a:p>
        </p:txBody>
      </p:sp>
      <p:sp>
        <p:nvSpPr>
          <p:cNvPr id="50" name="TextBox 49"/>
          <p:cNvSpPr txBox="1"/>
          <p:nvPr/>
        </p:nvSpPr>
        <p:spPr>
          <a:xfrm>
            <a:off x="723900" y="9893300"/>
            <a:ext cx="16802100" cy="482600"/>
          </a:xfrm>
          <a:prstGeom prst="rect">
            <a:avLst/>
          </a:prstGeom>
          <a:noFill/>
          <a:effectLst/>
        </p:spPr>
        <p:txBody>
          <a:bodyPr wrap="none" lIns="0" rIns="0" tIns="0" bIns="0" anchor="t">
            <a:spAutoFit/>
          </a:bodyPr>
          <a:lstStyle/>
          <a:p>
            <a:pPr algn="l">
              <a:lnSpc>
                <a:spcPts val="2320"/>
              </a:lnSpc>
              <a:spcBef>
                <a:spcPts val="0"/>
              </a:spcBef>
              <a:spcAft>
                <a:spcPts val="0"/>
              </a:spcAft>
              <a:defRPr sz="2000" b="1">
                <a:solidFill>
                  <a:srgbClr val="296FA2"/>
                </a:solidFill>
                <a:latin typeface="Lato"/>
              </a:defRPr>
            </a:pPr>
            <a:r>
              <a:t>27/27 stress payoff is a selected-subset result—not proof stress improved performance. Power BI consumes source facts.</a:t>
            </a:r>
          </a:p>
        </p:txBody>
      </p:sp>
      <p:sp>
        <p:nvSpPr>
          <p:cNvPr id="51" name="Rounded Rectangle 50"/>
          <p:cNvSpPr/>
          <p:nvPr/>
        </p:nvSpPr>
        <p:spPr>
          <a:xfrm>
            <a:off x="685800" y="10604500"/>
            <a:ext cx="9994900" cy="1041400"/>
          </a:xfrm>
          <a:prstGeom prst="roundRect">
            <a:avLst>
              <a:gd name="adj" fmla="val 7000"/>
            </a:avLst>
          </a:prstGeom>
          <a:solidFill>
            <a:srgbClr val="F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1700" y="10756900"/>
            <a:ext cx="1104900" cy="304800"/>
          </a:xfrm>
          <a:prstGeom prst="rect">
            <a:avLst/>
          </a:prstGeom>
          <a:noFill/>
          <a:effectLst/>
        </p:spPr>
        <p:txBody>
          <a:bodyPr wrap="none" lIns="0" rIns="0" tIns="0" bIns="0" anchor="t">
            <a:spAutoFit/>
          </a:bodyPr>
          <a:lstStyle/>
          <a:p>
            <a:pPr algn="l">
              <a:lnSpc>
                <a:spcPts val="1565"/>
              </a:lnSpc>
              <a:spcBef>
                <a:spcPts val="0"/>
              </a:spcBef>
              <a:spcAft>
                <a:spcPts val="0"/>
              </a:spcAft>
              <a:defRPr sz="1350" b="1">
                <a:solidFill>
                  <a:srgbClr val="BC8623"/>
                </a:solidFill>
                <a:latin typeface="Lato"/>
              </a:defRPr>
            </a:pPr>
            <a:r>
              <a:t>TRY IT</a:t>
            </a:r>
          </a:p>
        </p:txBody>
      </p:sp>
      <p:sp>
        <p:nvSpPr>
          <p:cNvPr id="53" name="TextBox 52"/>
          <p:cNvSpPr txBox="1"/>
          <p:nvPr/>
        </p:nvSpPr>
        <p:spPr>
          <a:xfrm>
            <a:off x="2032000" y="10744200"/>
            <a:ext cx="8382000" cy="863600"/>
          </a:xfrm>
          <a:prstGeom prst="rect">
            <a:avLst/>
          </a:prstGeom>
          <a:noFill/>
          <a:effectLst/>
        </p:spPr>
        <p:txBody>
          <a:bodyPr wrap="none" lIns="0" rIns="0" tIns="0" bIns="0" anchor="t">
            <a:spAutoFit/>
          </a:bodyPr>
          <a:lstStyle/>
          <a:p>
            <a:pPr algn="l">
              <a:lnSpc>
                <a:spcPts val="1972"/>
              </a:lnSpc>
              <a:spcBef>
                <a:spcPts val="0"/>
              </a:spcBef>
              <a:spcAft>
                <a:spcPts val="0"/>
              </a:spcAft>
              <a:defRPr sz="1700" b="0">
                <a:solidFill>
                  <a:srgbClr val="203B4C"/>
                </a:solidFill>
                <a:latin typeface="Lato"/>
              </a:defRPr>
            </a:pPr>
            <a:r>
              <a:t>Which denominator answers authorization—and which answers payoff?</a:t>
            </a:r>
          </a:p>
        </p:txBody>
      </p:sp>
      <p:sp>
        <p:nvSpPr>
          <p:cNvPr id="54" name="Rounded Rectangle 53"/>
          <p:cNvSpPr/>
          <p:nvPr/>
        </p:nvSpPr>
        <p:spPr>
          <a:xfrm>
            <a:off x="10845800" y="10604500"/>
            <a:ext cx="6769100" cy="1041400"/>
          </a:xfrm>
          <a:prstGeom prst="roundRect">
            <a:avLst>
              <a:gd name="adj" fmla="val 7000"/>
            </a:avLst>
          </a:prstGeom>
          <a:solidFill>
            <a:srgbClr val="296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036300" y="10756900"/>
            <a:ext cx="876300" cy="254000"/>
          </a:xfrm>
          <a:prstGeom prst="rect">
            <a:avLst/>
          </a:prstGeom>
          <a:noFill/>
          <a:effectLst/>
        </p:spPr>
        <p:txBody>
          <a:bodyPr wrap="none" lIns="0" rIns="0" tIns="0" bIns="0" anchor="t">
            <a:spAutoFit/>
          </a:bodyPr>
          <a:lstStyle/>
          <a:p>
            <a:pPr algn="l">
              <a:lnSpc>
                <a:spcPts val="1449"/>
              </a:lnSpc>
              <a:spcBef>
                <a:spcPts val="0"/>
              </a:spcBef>
              <a:spcAft>
                <a:spcPts val="0"/>
              </a:spcAft>
              <a:defRPr sz="1250" b="1">
                <a:solidFill>
                  <a:srgbClr val="FFFFFF"/>
                </a:solidFill>
                <a:latin typeface="Lato"/>
              </a:defRPr>
            </a:pPr>
            <a:r>
              <a:t>ANSWER</a:t>
            </a:r>
          </a:p>
        </p:txBody>
      </p:sp>
      <p:sp>
        <p:nvSpPr>
          <p:cNvPr id="56" name="TextBox 55"/>
          <p:cNvSpPr txBox="1"/>
          <p:nvPr/>
        </p:nvSpPr>
        <p:spPr>
          <a:xfrm>
            <a:off x="12026900" y="10731500"/>
            <a:ext cx="5372100" cy="876300"/>
          </a:xfrm>
          <a:prstGeom prst="rect">
            <a:avLst/>
          </a:prstGeom>
          <a:noFill/>
          <a:effectLst/>
        </p:spPr>
        <p:txBody>
          <a:bodyPr wrap="none" lIns="0" rIns="0" tIns="0" bIns="0" anchor="t">
            <a:spAutoFit/>
          </a:bodyPr>
          <a:lstStyle/>
          <a:p>
            <a:pPr algn="l">
              <a:lnSpc>
                <a:spcPts val="1913"/>
              </a:lnSpc>
              <a:spcBef>
                <a:spcPts val="0"/>
              </a:spcBef>
              <a:spcAft>
                <a:spcPts val="0"/>
              </a:spcAft>
              <a:defRPr sz="1650" b="0">
                <a:solidFill>
                  <a:srgbClr val="FFFFFF"/>
                </a:solidFill>
                <a:latin typeface="Lato"/>
              </a:defRPr>
            </a:pPr>
            <a:r>
              <a:t>Authorization uses all 750 paths in the named scenario.</a:t>
            </a:r>
          </a:p>
          <a:p>
            <a:pPr algn="l">
              <a:lnSpc>
                <a:spcPts val="1913"/>
              </a:lnSpc>
              <a:spcBef>
                <a:spcPts val="0"/>
              </a:spcBef>
              <a:spcAft>
                <a:spcPts val="0"/>
              </a:spcAft>
              <a:defRPr sz="1650" b="0">
                <a:solidFill>
                  <a:srgbClr val="FFFFFF"/>
                </a:solidFill>
                <a:latin typeface="Lato"/>
              </a:defRPr>
            </a:pPr>
            <a:r>
              <a:t>Payoff uses its funded subset: 103 or 27.</a:t>
            </a:r>
          </a:p>
        </p:txBody>
      </p:sp>
      <p:sp>
        <p:nvSpPr>
          <p:cNvPr id="57" name="TextBox 56"/>
          <p:cNvSpPr txBox="1"/>
          <p:nvPr/>
        </p:nvSpPr>
        <p:spPr>
          <a:xfrm>
            <a:off x="685800" y="11823700"/>
            <a:ext cx="10033000" cy="241300"/>
          </a:xfrm>
          <a:prstGeom prst="rect">
            <a:avLst/>
          </a:prstGeom>
          <a:noFill/>
          <a:effectLst/>
        </p:spPr>
        <p:txBody>
          <a:bodyPr wrap="none" lIns="0" rIns="0" tIns="0" bIns="0" anchor="t">
            <a:spAutoFit/>
          </a:bodyPr>
          <a:lstStyle/>
          <a:p>
            <a:pPr algn="l">
              <a:lnSpc>
                <a:spcPts val="1276"/>
              </a:lnSpc>
              <a:spcBef>
                <a:spcPts val="0"/>
              </a:spcBef>
              <a:spcAft>
                <a:spcPts val="0"/>
              </a:spcAft>
              <a:defRPr sz="1100" b="0">
                <a:solidFill>
                  <a:srgbClr val="58707B"/>
                </a:solidFill>
                <a:latin typeface="Lato"/>
              </a:defRPr>
            </a:pPr>
            <a:r>
              <a:t>Andrew R. Goad · Synthetic MSBF · Non-production · No real funds</a:t>
            </a:r>
          </a:p>
        </p:txBody>
      </p:sp>
      <p:sp>
        <p:nvSpPr>
          <p:cNvPr id="58" name="TextBox 57"/>
          <p:cNvSpPr txBox="1"/>
          <p:nvPr/>
        </p:nvSpPr>
        <p:spPr>
          <a:xfrm>
            <a:off x="10795000" y="11823700"/>
            <a:ext cx="6807200" cy="241300"/>
          </a:xfrm>
          <a:prstGeom prst="rect">
            <a:avLst/>
          </a:prstGeom>
          <a:noFill/>
          <a:effectLst/>
        </p:spPr>
        <p:txBody>
          <a:bodyPr wrap="none" lIns="0" rIns="0" tIns="0" bIns="0" anchor="t">
            <a:spAutoFit/>
          </a:bodyPr>
          <a:lstStyle/>
          <a:p>
            <a:pPr algn="r">
              <a:lnSpc>
                <a:spcPts val="1276"/>
              </a:lnSpc>
              <a:spcBef>
                <a:spcPts val="0"/>
              </a:spcBef>
              <a:spcAft>
                <a:spcPts val="0"/>
              </a:spcAft>
              <a:defRPr sz="1100" b="0">
                <a:solidFill>
                  <a:srgbClr val="58707B"/>
                </a:solidFill>
                <a:latin typeface="Lato"/>
              </a:defRPr>
            </a:pPr>
            <a:r>
              <a:t>Evidence S13, S18, S23, S24 | 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9384B"/>
        </a:solidFill>
        <a:effectLst/>
      </p:bgPr>
    </p:bg>
    <p:spTree>
      <p:nvGrpSpPr>
        <p:cNvPr id="1" name=""/>
        <p:cNvGrpSpPr/>
        <p:nvPr/>
      </p:nvGrpSpPr>
      <p:grpSpPr/>
      <p:sp>
        <p:nvSpPr>
          <p:cNvPr id="2" name="Rectangle 1"/>
          <p:cNvSpPr/>
          <p:nvPr/>
        </p:nvSpPr>
        <p:spPr>
          <a:xfrm>
            <a:off x="0" y="0"/>
            <a:ext cx="228600" cy="12191999"/>
          </a:xfrm>
          <a:prstGeom prst="rect">
            <a:avLst/>
          </a:prstGeom>
          <a:solidFill>
            <a:srgbClr val="147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196" y="355701"/>
            <a:ext cx="9144000" cy="279806"/>
          </a:xfrm>
          <a:prstGeom prst="rect">
            <a:avLst/>
          </a:prstGeom>
          <a:noFill/>
          <a:effectLst/>
        </p:spPr>
        <p:txBody>
          <a:bodyPr wrap="none" lIns="0" rIns="0" tIns="0" bIns="0" anchor="t">
            <a:noAutofit/>
          </a:bodyPr>
          <a:lstStyle/>
          <a:p>
            <a:pPr algn="l">
              <a:lnSpc>
                <a:spcPts val="1507"/>
              </a:lnSpc>
              <a:spcBef>
                <a:spcPts val="0"/>
              </a:spcBef>
              <a:spcAft>
                <a:spcPts val="0"/>
              </a:spcAft>
              <a:defRPr sz="1300" b="1">
                <a:solidFill>
                  <a:srgbClr val="A8DDD3"/>
                </a:solidFill>
                <a:latin typeface="Lato"/>
              </a:defRPr>
            </a:pPr>
            <a:r>
              <a:t>MSBF / MERCHANT FINANCE MASTERCLASS</a:t>
            </a:r>
          </a:p>
        </p:txBody>
      </p:sp>
      <p:sp>
        <p:nvSpPr>
          <p:cNvPr id="4" name="TextBox 3"/>
          <p:cNvSpPr txBox="1"/>
          <p:nvPr/>
        </p:nvSpPr>
        <p:spPr>
          <a:xfrm>
            <a:off x="12252960" y="355701"/>
            <a:ext cx="5340096" cy="279806"/>
          </a:xfrm>
          <a:prstGeom prst="rect">
            <a:avLst/>
          </a:prstGeom>
          <a:noFill/>
          <a:effectLst/>
        </p:spPr>
        <p:txBody>
          <a:bodyPr wrap="none" lIns="0" rIns="0" tIns="0" bIns="0" anchor="t">
            <a:noAutofit/>
          </a:bodyPr>
          <a:lstStyle/>
          <a:p>
            <a:pPr algn="r">
              <a:lnSpc>
                <a:spcPts val="1507"/>
              </a:lnSpc>
              <a:spcBef>
                <a:spcPts val="0"/>
              </a:spcBef>
              <a:spcAft>
                <a:spcPts val="0"/>
              </a:spcAft>
              <a:defRPr sz="1300" b="1">
                <a:solidFill>
                  <a:srgbClr val="A8CFEA"/>
                </a:solidFill>
                <a:latin typeface="Lato"/>
              </a:defRPr>
            </a:pPr>
            <a:r>
              <a:t>TAKE THE REASONING WITH YOU</a:t>
            </a:r>
          </a:p>
        </p:txBody>
      </p:sp>
      <p:sp>
        <p:nvSpPr>
          <p:cNvPr id="5" name="TextBox 4"/>
          <p:cNvSpPr txBox="1"/>
          <p:nvPr/>
        </p:nvSpPr>
        <p:spPr>
          <a:xfrm>
            <a:off x="685800" y="941832"/>
            <a:ext cx="15544800" cy="1600200"/>
          </a:xfrm>
          <a:prstGeom prst="rect">
            <a:avLst/>
          </a:prstGeom>
          <a:noFill/>
          <a:effectLst/>
        </p:spPr>
        <p:txBody>
          <a:bodyPr wrap="none" lIns="0" rIns="0" tIns="0" bIns="0" anchor="t">
            <a:noAutofit/>
          </a:bodyPr>
          <a:lstStyle/>
          <a:p>
            <a:pPr algn="l">
              <a:lnSpc>
                <a:spcPts val="5292"/>
              </a:lnSpc>
              <a:spcBef>
                <a:spcPts val="0"/>
              </a:spcBef>
              <a:spcAft>
                <a:spcPts val="0"/>
              </a:spcAft>
              <a:defRPr sz="4900" b="0">
                <a:solidFill>
                  <a:srgbClr val="FAF8F2"/>
                </a:solidFill>
                <a:latin typeface="Noto Serif"/>
              </a:defRPr>
            </a:pPr>
            <a:r>
              <a:t>Understand the business.</a:t>
            </a:r>
          </a:p>
          <a:p>
            <a:pPr algn="l">
              <a:lnSpc>
                <a:spcPts val="5292"/>
              </a:lnSpc>
              <a:spcBef>
                <a:spcPts val="0"/>
              </a:spcBef>
              <a:spcAft>
                <a:spcPts val="0"/>
              </a:spcAft>
              <a:defRPr sz="4900" b="0">
                <a:solidFill>
                  <a:srgbClr val="FAF8F2"/>
                </a:solidFill>
                <a:latin typeface="Noto Serif"/>
              </a:defRPr>
            </a:pPr>
            <a:r>
              <a:t>Explain the decision.</a:t>
            </a:r>
          </a:p>
        </p:txBody>
      </p:sp>
      <p:sp>
        <p:nvSpPr>
          <p:cNvPr id="6" name="TextBox 5"/>
          <p:cNvSpPr txBox="1"/>
          <p:nvPr/>
        </p:nvSpPr>
        <p:spPr>
          <a:xfrm>
            <a:off x="16662196" y="875995"/>
            <a:ext cx="1015898" cy="724204"/>
          </a:xfrm>
          <a:prstGeom prst="rect">
            <a:avLst/>
          </a:prstGeom>
          <a:noFill/>
          <a:effectLst/>
        </p:spPr>
        <p:txBody>
          <a:bodyPr wrap="none" lIns="0" rIns="0" tIns="0" bIns="0" anchor="t">
            <a:noAutofit/>
          </a:bodyPr>
          <a:lstStyle/>
          <a:p>
            <a:pPr algn="r">
              <a:lnSpc>
                <a:spcPts val="4408"/>
              </a:lnSpc>
              <a:spcBef>
                <a:spcPts val="0"/>
              </a:spcBef>
              <a:spcAft>
                <a:spcPts val="0"/>
              </a:spcAft>
              <a:defRPr sz="3800" b="0">
                <a:solidFill>
                  <a:srgbClr val="F1CF83"/>
                </a:solidFill>
                <a:latin typeface="Noto Serif"/>
              </a:defRPr>
            </a:pPr>
            <a:r>
              <a:t>23</a:t>
            </a:r>
          </a:p>
        </p:txBody>
      </p:sp>
      <p:sp>
        <p:nvSpPr>
          <p:cNvPr id="7" name="TextBox 6"/>
          <p:cNvSpPr txBox="1"/>
          <p:nvPr/>
        </p:nvSpPr>
        <p:spPr>
          <a:xfrm>
            <a:off x="731520" y="2761488"/>
            <a:ext cx="16824960" cy="594360"/>
          </a:xfrm>
          <a:prstGeom prst="rect">
            <a:avLst/>
          </a:prstGeom>
          <a:noFill/>
          <a:effectLst/>
        </p:spPr>
        <p:txBody>
          <a:bodyPr wrap="none" lIns="0" rIns="0" tIns="0" bIns="0" anchor="t">
            <a:noAutofit/>
          </a:bodyPr>
          <a:lstStyle/>
          <a:p>
            <a:pPr algn="l">
              <a:lnSpc>
                <a:spcPts val="2552"/>
              </a:lnSpc>
              <a:spcBef>
                <a:spcPts val="0"/>
              </a:spcBef>
              <a:spcAft>
                <a:spcPts val="0"/>
              </a:spcAft>
              <a:defRPr sz="2200" b="0">
                <a:solidFill>
                  <a:srgbClr val="D9E6E7"/>
                </a:solidFill>
                <a:latin typeface="Lato"/>
              </a:defRPr>
            </a:pPr>
            <a:r>
              <a:t>Connect what is known, what is requested, what is permitted, and what happens next.</a:t>
            </a:r>
          </a:p>
        </p:txBody>
      </p:sp>
      <p:sp>
        <p:nvSpPr>
          <p:cNvPr id="8" name="Rectangle 7"/>
          <p:cNvSpPr/>
          <p:nvPr/>
        </p:nvSpPr>
        <p:spPr>
          <a:xfrm>
            <a:off x="731520" y="3493008"/>
            <a:ext cx="16824960" cy="12801"/>
          </a:xfrm>
          <a:prstGeom prst="rect">
            <a:avLst/>
          </a:prstGeom>
          <a:solidFill>
            <a:srgbClr val="476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886200"/>
            <a:ext cx="3703320" cy="50292"/>
          </a:xfrm>
          <a:prstGeom prst="rect">
            <a:avLst/>
          </a:prstGeom>
          <a:solidFill>
            <a:srgbClr val="A8D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60520"/>
            <a:ext cx="3749039" cy="36576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A8DDD3"/>
                </a:solidFill>
                <a:latin typeface="Lato"/>
              </a:defRPr>
            </a:pPr>
            <a:r>
              <a:t>I  READ THE MERCHANT</a:t>
            </a:r>
          </a:p>
        </p:txBody>
      </p:sp>
      <p:sp>
        <p:nvSpPr>
          <p:cNvPr id="11" name="TextBox 10"/>
          <p:cNvSpPr txBox="1"/>
          <p:nvPr/>
        </p:nvSpPr>
        <p:spPr>
          <a:xfrm>
            <a:off x="777240" y="4681728"/>
            <a:ext cx="3776472" cy="1097280"/>
          </a:xfrm>
          <a:prstGeom prst="rect">
            <a:avLst/>
          </a:prstGeom>
          <a:noFill/>
          <a:effectLst/>
        </p:spPr>
        <p:txBody>
          <a:bodyPr wrap="none" lIns="0" rIns="0" tIns="0" bIns="0" anchor="t">
            <a:noAutofit/>
          </a:bodyPr>
          <a:lstStyle/>
          <a:p>
            <a:pPr algn="l">
              <a:lnSpc>
                <a:spcPts val="3136"/>
              </a:lnSpc>
              <a:spcBef>
                <a:spcPts val="0"/>
              </a:spcBef>
              <a:spcAft>
                <a:spcPts val="0"/>
              </a:spcAft>
              <a:defRPr sz="2800" b="0">
                <a:solidFill>
                  <a:srgbClr val="FAF8F2"/>
                </a:solidFill>
                <a:latin typeface="Noto Serif"/>
              </a:defRPr>
            </a:pPr>
            <a:r>
              <a:t>Sales start</a:t>
            </a:r>
          </a:p>
          <a:p>
            <a:pPr algn="l">
              <a:lnSpc>
                <a:spcPts val="3136"/>
              </a:lnSpc>
              <a:spcBef>
                <a:spcPts val="0"/>
              </a:spcBef>
              <a:spcAft>
                <a:spcPts val="0"/>
              </a:spcAft>
              <a:defRPr sz="2800" b="0">
                <a:solidFill>
                  <a:srgbClr val="FAF8F2"/>
                </a:solidFill>
                <a:latin typeface="Noto Serif"/>
              </a:defRPr>
            </a:pPr>
            <a:r>
              <a:t>the question.</a:t>
            </a:r>
          </a:p>
        </p:txBody>
      </p:sp>
      <p:sp>
        <p:nvSpPr>
          <p:cNvPr id="12" name="TextBox 11"/>
          <p:cNvSpPr txBox="1"/>
          <p:nvPr/>
        </p:nvSpPr>
        <p:spPr>
          <a:xfrm>
            <a:off x="777240" y="6126480"/>
            <a:ext cx="3767328" cy="1170432"/>
          </a:xfrm>
          <a:prstGeom prst="rect">
            <a:avLst/>
          </a:prstGeom>
          <a:noFill/>
          <a:effectLst/>
        </p:spPr>
        <p:txBody>
          <a:bodyPr wrap="none" lIns="0" rIns="0" tIns="0" bIns="0" anchor="t">
            <a:noAutofit/>
          </a:bodyPr>
          <a:lstStyle/>
          <a:p>
            <a:pPr algn="l">
              <a:lnSpc>
                <a:spcPts val="2562"/>
              </a:lnSpc>
              <a:spcBef>
                <a:spcPts val="0"/>
              </a:spcBef>
              <a:spcAft>
                <a:spcPts val="0"/>
              </a:spcAft>
              <a:defRPr sz="2050" b="0">
                <a:solidFill>
                  <a:srgbClr val="D9E6E7"/>
                </a:solidFill>
                <a:latin typeface="Lato"/>
              </a:defRPr>
            </a:pPr>
            <a:r>
              <a:t>Usable evidence, cash flow</a:t>
            </a:r>
          </a:p>
          <a:p>
            <a:pPr algn="l">
              <a:lnSpc>
                <a:spcPts val="2562"/>
              </a:lnSpc>
              <a:spcBef>
                <a:spcPts val="0"/>
              </a:spcBef>
              <a:spcAft>
                <a:spcPts val="0"/>
              </a:spcAft>
              <a:defRPr sz="2050" b="0">
                <a:solidFill>
                  <a:srgbClr val="D9E6E7"/>
                </a:solidFill>
                <a:latin typeface="Lato"/>
              </a:defRPr>
            </a:pPr>
            <a:r>
              <a:t>and existing obligations</a:t>
            </a:r>
          </a:p>
          <a:p>
            <a:pPr algn="l">
              <a:lnSpc>
                <a:spcPts val="2562"/>
              </a:lnSpc>
              <a:spcBef>
                <a:spcPts val="0"/>
              </a:spcBef>
              <a:spcAft>
                <a:spcPts val="0"/>
              </a:spcAft>
              <a:defRPr sz="2050" b="0">
                <a:solidFill>
                  <a:srgbClr val="D9E6E7"/>
                </a:solidFill>
                <a:latin typeface="Lato"/>
              </a:defRPr>
            </a:pPr>
            <a:r>
              <a:t>shape capacity.</a:t>
            </a:r>
          </a:p>
        </p:txBody>
      </p:sp>
      <p:sp>
        <p:nvSpPr>
          <p:cNvPr id="13" name="Rectangle 12"/>
          <p:cNvSpPr/>
          <p:nvPr/>
        </p:nvSpPr>
        <p:spPr>
          <a:xfrm>
            <a:off x="5074920" y="3886200"/>
            <a:ext cx="3703320" cy="50292"/>
          </a:xfrm>
          <a:prstGeom prst="rect">
            <a:avLst/>
          </a:prstGeom>
          <a:solidFill>
            <a:srgbClr val="D7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4160520"/>
            <a:ext cx="3749039" cy="36576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D7E5EE"/>
                </a:solidFill>
                <a:latin typeface="Lato"/>
              </a:defRPr>
            </a:pPr>
            <a:r>
              <a:t>II  READ THE REQUEST</a:t>
            </a:r>
          </a:p>
        </p:txBody>
      </p:sp>
      <p:sp>
        <p:nvSpPr>
          <p:cNvPr id="15" name="TextBox 14"/>
          <p:cNvSpPr txBox="1"/>
          <p:nvPr/>
        </p:nvSpPr>
        <p:spPr>
          <a:xfrm>
            <a:off x="5074920" y="4681728"/>
            <a:ext cx="3776472" cy="1097280"/>
          </a:xfrm>
          <a:prstGeom prst="rect">
            <a:avLst/>
          </a:prstGeom>
          <a:noFill/>
          <a:effectLst/>
        </p:spPr>
        <p:txBody>
          <a:bodyPr wrap="none" lIns="0" rIns="0" tIns="0" bIns="0" anchor="t">
            <a:noAutofit/>
          </a:bodyPr>
          <a:lstStyle/>
          <a:p>
            <a:pPr algn="l">
              <a:lnSpc>
                <a:spcPts val="3136"/>
              </a:lnSpc>
              <a:spcBef>
                <a:spcPts val="0"/>
              </a:spcBef>
              <a:spcAft>
                <a:spcPts val="0"/>
              </a:spcAft>
              <a:defRPr sz="2800" b="0">
                <a:solidFill>
                  <a:srgbClr val="FAF8F2"/>
                </a:solidFill>
                <a:latin typeface="Noto Serif"/>
              </a:defRPr>
            </a:pPr>
            <a:r>
              <a:t>Terms work</a:t>
            </a:r>
          </a:p>
          <a:p>
            <a:pPr algn="l">
              <a:lnSpc>
                <a:spcPts val="3136"/>
              </a:lnSpc>
              <a:spcBef>
                <a:spcPts val="0"/>
              </a:spcBef>
              <a:spcAft>
                <a:spcPts val="0"/>
              </a:spcAft>
              <a:defRPr sz="2800" b="0">
                <a:solidFill>
                  <a:srgbClr val="FAF8F2"/>
                </a:solidFill>
                <a:latin typeface="Noto Serif"/>
              </a:defRPr>
            </a:pPr>
            <a:r>
              <a:t>together.</a:t>
            </a:r>
          </a:p>
        </p:txBody>
      </p:sp>
      <p:sp>
        <p:nvSpPr>
          <p:cNvPr id="16" name="TextBox 15"/>
          <p:cNvSpPr txBox="1"/>
          <p:nvPr/>
        </p:nvSpPr>
        <p:spPr>
          <a:xfrm>
            <a:off x="5074920" y="6126480"/>
            <a:ext cx="3767328" cy="1170432"/>
          </a:xfrm>
          <a:prstGeom prst="rect">
            <a:avLst/>
          </a:prstGeom>
          <a:noFill/>
          <a:effectLst/>
        </p:spPr>
        <p:txBody>
          <a:bodyPr wrap="none" lIns="0" rIns="0" tIns="0" bIns="0" anchor="t">
            <a:noAutofit/>
          </a:bodyPr>
          <a:lstStyle/>
          <a:p>
            <a:pPr algn="l">
              <a:lnSpc>
                <a:spcPts val="2562"/>
              </a:lnSpc>
              <a:spcBef>
                <a:spcPts val="0"/>
              </a:spcBef>
              <a:spcAft>
                <a:spcPts val="0"/>
              </a:spcAft>
              <a:defRPr sz="2050" b="0">
                <a:solidFill>
                  <a:srgbClr val="D9E6E7"/>
                </a:solidFill>
                <a:latin typeface="Lato"/>
              </a:defRPr>
            </a:pPr>
            <a:r>
              <a:t>Evaluate amount, remittance,</a:t>
            </a:r>
          </a:p>
          <a:p>
            <a:pPr algn="l">
              <a:lnSpc>
                <a:spcPts val="2562"/>
              </a:lnSpc>
              <a:spcBef>
                <a:spcPts val="0"/>
              </a:spcBef>
              <a:spcAft>
                <a:spcPts val="0"/>
              </a:spcAft>
              <a:defRPr sz="2050" b="0">
                <a:solidFill>
                  <a:srgbClr val="D9E6E7"/>
                </a:solidFill>
                <a:latin typeface="Lato"/>
              </a:defRPr>
            </a:pPr>
            <a:r>
              <a:t>payback and horizon as</a:t>
            </a:r>
          </a:p>
          <a:p>
            <a:pPr algn="l">
              <a:lnSpc>
                <a:spcPts val="2562"/>
              </a:lnSpc>
              <a:spcBef>
                <a:spcPts val="0"/>
              </a:spcBef>
              <a:spcAft>
                <a:spcPts val="0"/>
              </a:spcAft>
              <a:defRPr sz="2050" b="0">
                <a:solidFill>
                  <a:srgbClr val="D9E6E7"/>
                </a:solidFill>
                <a:latin typeface="Lato"/>
              </a:defRPr>
            </a:pPr>
            <a:r>
              <a:t>one financing structure.</a:t>
            </a:r>
          </a:p>
        </p:txBody>
      </p:sp>
      <p:sp>
        <p:nvSpPr>
          <p:cNvPr id="17" name="Rectangle 16"/>
          <p:cNvSpPr/>
          <p:nvPr/>
        </p:nvSpPr>
        <p:spPr>
          <a:xfrm>
            <a:off x="9372600" y="3886200"/>
            <a:ext cx="3703320" cy="50292"/>
          </a:xfrm>
          <a:prstGeom prst="rect">
            <a:avLst/>
          </a:prstGeom>
          <a:solidFill>
            <a:srgbClr val="F1C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72600" y="4160520"/>
            <a:ext cx="3749039" cy="36576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F1CF83"/>
                </a:solidFill>
                <a:latin typeface="Lato"/>
              </a:defRPr>
            </a:pPr>
            <a:r>
              <a:t>III  SEARCH &amp; DECIDE</a:t>
            </a:r>
          </a:p>
        </p:txBody>
      </p:sp>
      <p:sp>
        <p:nvSpPr>
          <p:cNvPr id="19" name="TextBox 18"/>
          <p:cNvSpPr txBox="1"/>
          <p:nvPr/>
        </p:nvSpPr>
        <p:spPr>
          <a:xfrm>
            <a:off x="9372600" y="4681728"/>
            <a:ext cx="3776472" cy="1097280"/>
          </a:xfrm>
          <a:prstGeom prst="rect">
            <a:avLst/>
          </a:prstGeom>
          <a:noFill/>
          <a:effectLst/>
        </p:spPr>
        <p:txBody>
          <a:bodyPr wrap="none" lIns="0" rIns="0" tIns="0" bIns="0" anchor="t">
            <a:noAutofit/>
          </a:bodyPr>
          <a:lstStyle/>
          <a:p>
            <a:pPr algn="l">
              <a:lnSpc>
                <a:spcPts val="3136"/>
              </a:lnSpc>
              <a:spcBef>
                <a:spcPts val="0"/>
              </a:spcBef>
              <a:spcAft>
                <a:spcPts val="0"/>
              </a:spcAft>
              <a:defRPr sz="2800" b="0">
                <a:solidFill>
                  <a:srgbClr val="FAF8F2"/>
                </a:solidFill>
                <a:latin typeface="Noto Serif"/>
              </a:defRPr>
            </a:pPr>
            <a:r>
              <a:t>Support is not</a:t>
            </a:r>
          </a:p>
          <a:p>
            <a:pPr algn="l">
              <a:lnSpc>
                <a:spcPts val="3136"/>
              </a:lnSpc>
              <a:spcBef>
                <a:spcPts val="0"/>
              </a:spcBef>
              <a:spcAft>
                <a:spcPts val="0"/>
              </a:spcAft>
              <a:defRPr sz="2800" b="0">
                <a:solidFill>
                  <a:srgbClr val="FAF8F2"/>
                </a:solidFill>
                <a:latin typeface="Noto Serif"/>
              </a:defRPr>
            </a:pPr>
            <a:r>
              <a:t>authority.</a:t>
            </a:r>
          </a:p>
        </p:txBody>
      </p:sp>
      <p:sp>
        <p:nvSpPr>
          <p:cNvPr id="20" name="TextBox 19"/>
          <p:cNvSpPr txBox="1"/>
          <p:nvPr/>
        </p:nvSpPr>
        <p:spPr>
          <a:xfrm>
            <a:off x="9372600" y="6126480"/>
            <a:ext cx="3767328" cy="1170432"/>
          </a:xfrm>
          <a:prstGeom prst="rect">
            <a:avLst/>
          </a:prstGeom>
          <a:noFill/>
          <a:effectLst/>
        </p:spPr>
        <p:txBody>
          <a:bodyPr wrap="none" lIns="0" rIns="0" tIns="0" bIns="0" anchor="t">
            <a:noAutofit/>
          </a:bodyPr>
          <a:lstStyle/>
          <a:p>
            <a:pPr algn="l">
              <a:lnSpc>
                <a:spcPts val="2562"/>
              </a:lnSpc>
              <a:spcBef>
                <a:spcPts val="0"/>
              </a:spcBef>
              <a:spcAft>
                <a:spcPts val="0"/>
              </a:spcAft>
              <a:defRPr sz="2050" b="0">
                <a:solidFill>
                  <a:srgbClr val="D9E6E7"/>
                </a:solidFill>
                <a:latin typeface="Lato"/>
              </a:defRPr>
            </a:pPr>
            <a:r>
              <a:t>A permissible alternative</a:t>
            </a:r>
          </a:p>
          <a:p>
            <a:pPr algn="l">
              <a:lnSpc>
                <a:spcPts val="2562"/>
              </a:lnSpc>
              <a:spcBef>
                <a:spcPts val="0"/>
              </a:spcBef>
              <a:spcAft>
                <a:spcPts val="0"/>
              </a:spcAft>
              <a:defRPr sz="2050" b="0">
                <a:solidFill>
                  <a:srgbClr val="D9E6E7"/>
                </a:solidFill>
                <a:latin typeface="Lato"/>
              </a:defRPr>
            </a:pPr>
            <a:r>
              <a:t>must still clear its final</a:t>
            </a:r>
          </a:p>
          <a:p>
            <a:pPr algn="l">
              <a:lnSpc>
                <a:spcPts val="2562"/>
              </a:lnSpc>
              <a:spcBef>
                <a:spcPts val="0"/>
              </a:spcBef>
              <a:spcAft>
                <a:spcPts val="0"/>
              </a:spcAft>
              <a:defRPr sz="2050" b="0">
                <a:solidFill>
                  <a:srgbClr val="D9E6E7"/>
                </a:solidFill>
                <a:latin typeface="Lato"/>
              </a:defRPr>
            </a:pPr>
            <a:r>
              <a:t>credit and judgment gates.</a:t>
            </a:r>
          </a:p>
        </p:txBody>
      </p:sp>
      <p:sp>
        <p:nvSpPr>
          <p:cNvPr id="21" name="Rectangle 20"/>
          <p:cNvSpPr/>
          <p:nvPr/>
        </p:nvSpPr>
        <p:spPr>
          <a:xfrm>
            <a:off x="13670280" y="3886200"/>
            <a:ext cx="3703320" cy="50292"/>
          </a:xfrm>
          <a:prstGeom prst="rect">
            <a:avLst/>
          </a:prstGeom>
          <a:solidFill>
            <a:srgbClr val="A8C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70280" y="4160520"/>
            <a:ext cx="3749039" cy="36576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A8CFEA"/>
                </a:solidFill>
                <a:latin typeface="Lato"/>
              </a:defRPr>
            </a:pPr>
            <a:r>
              <a:t>IV  FOLLOW THE ACCOUNT</a:t>
            </a:r>
          </a:p>
        </p:txBody>
      </p:sp>
      <p:sp>
        <p:nvSpPr>
          <p:cNvPr id="23" name="TextBox 22"/>
          <p:cNvSpPr txBox="1"/>
          <p:nvPr/>
        </p:nvSpPr>
        <p:spPr>
          <a:xfrm>
            <a:off x="13670280" y="4681728"/>
            <a:ext cx="3776472" cy="1097280"/>
          </a:xfrm>
          <a:prstGeom prst="rect">
            <a:avLst/>
          </a:prstGeom>
          <a:noFill/>
          <a:effectLst/>
        </p:spPr>
        <p:txBody>
          <a:bodyPr wrap="none" lIns="0" rIns="0" tIns="0" bIns="0" anchor="t">
            <a:noAutofit/>
          </a:bodyPr>
          <a:lstStyle/>
          <a:p>
            <a:pPr algn="l">
              <a:lnSpc>
                <a:spcPts val="3136"/>
              </a:lnSpc>
              <a:spcBef>
                <a:spcPts val="0"/>
              </a:spcBef>
              <a:spcAft>
                <a:spcPts val="0"/>
              </a:spcAft>
              <a:defRPr sz="2800" b="0">
                <a:solidFill>
                  <a:srgbClr val="FAF8F2"/>
                </a:solidFill>
                <a:latin typeface="Noto Serif"/>
              </a:defRPr>
            </a:pPr>
            <a:r>
              <a:t>Funding starts</a:t>
            </a:r>
          </a:p>
          <a:p>
            <a:pPr algn="l">
              <a:lnSpc>
                <a:spcPts val="3136"/>
              </a:lnSpc>
              <a:spcBef>
                <a:spcPts val="0"/>
              </a:spcBef>
              <a:spcAft>
                <a:spcPts val="0"/>
              </a:spcAft>
              <a:defRPr sz="2800" b="0">
                <a:solidFill>
                  <a:srgbClr val="FAF8F2"/>
                </a:solidFill>
                <a:latin typeface="Noto Serif"/>
              </a:defRPr>
            </a:pPr>
            <a:r>
              <a:t>a new question.</a:t>
            </a:r>
          </a:p>
        </p:txBody>
      </p:sp>
      <p:sp>
        <p:nvSpPr>
          <p:cNvPr id="24" name="TextBox 23"/>
          <p:cNvSpPr txBox="1"/>
          <p:nvPr/>
        </p:nvSpPr>
        <p:spPr>
          <a:xfrm>
            <a:off x="13670280" y="6126480"/>
            <a:ext cx="3767328" cy="1170432"/>
          </a:xfrm>
          <a:prstGeom prst="rect">
            <a:avLst/>
          </a:prstGeom>
          <a:noFill/>
          <a:effectLst/>
        </p:spPr>
        <p:txBody>
          <a:bodyPr wrap="none" lIns="0" rIns="0" tIns="0" bIns="0" anchor="t">
            <a:noAutofit/>
          </a:bodyPr>
          <a:lstStyle/>
          <a:p>
            <a:pPr algn="l">
              <a:lnSpc>
                <a:spcPts val="2562"/>
              </a:lnSpc>
              <a:spcBef>
                <a:spcPts val="0"/>
              </a:spcBef>
              <a:spcAft>
                <a:spcPts val="0"/>
              </a:spcAft>
              <a:defRPr sz="2050" b="0">
                <a:solidFill>
                  <a:srgbClr val="D9E6E7"/>
                </a:solidFill>
                <a:latin typeface="Lato"/>
              </a:defRPr>
            </a:pPr>
            <a:r>
              <a:t>Monitor before acting.</a:t>
            </a:r>
          </a:p>
          <a:p>
            <a:pPr algn="l">
              <a:lnSpc>
                <a:spcPts val="2562"/>
              </a:lnSpc>
              <a:spcBef>
                <a:spcPts val="0"/>
              </a:spcBef>
              <a:spcAft>
                <a:spcPts val="0"/>
              </a:spcAft>
              <a:defRPr sz="2050" b="0">
                <a:solidFill>
                  <a:srgbClr val="D9E6E7"/>
                </a:solidFill>
                <a:latin typeface="Lato"/>
              </a:defRPr>
            </a:pPr>
            <a:r>
              <a:t>Reconcile events and balances.</a:t>
            </a:r>
          </a:p>
          <a:p>
            <a:pPr algn="l">
              <a:lnSpc>
                <a:spcPts val="2562"/>
              </a:lnSpc>
              <a:spcBef>
                <a:spcPts val="0"/>
              </a:spcBef>
              <a:spcAft>
                <a:spcPts val="0"/>
              </a:spcAft>
              <a:defRPr sz="2050" b="0">
                <a:solidFill>
                  <a:srgbClr val="D9E6E7"/>
                </a:solidFill>
                <a:latin typeface="Lato"/>
              </a:defRPr>
            </a:pPr>
            <a:r>
              <a:t>Explain what remains.</a:t>
            </a:r>
          </a:p>
        </p:txBody>
      </p:sp>
      <p:sp>
        <p:nvSpPr>
          <p:cNvPr id="25" name="TextBox 24"/>
          <p:cNvSpPr txBox="1"/>
          <p:nvPr/>
        </p:nvSpPr>
        <p:spPr>
          <a:xfrm>
            <a:off x="731520" y="7754112"/>
            <a:ext cx="16824960" cy="658368"/>
          </a:xfrm>
          <a:prstGeom prst="rect">
            <a:avLst/>
          </a:prstGeom>
          <a:noFill/>
          <a:effectLst/>
        </p:spPr>
        <p:txBody>
          <a:bodyPr wrap="none" lIns="0" rIns="0" tIns="0" bIns="0" anchor="t">
            <a:noAutofit/>
          </a:bodyPr>
          <a:lstStyle/>
          <a:p>
            <a:pPr algn="ctr">
              <a:lnSpc>
                <a:spcPts val="3190"/>
              </a:lnSpc>
              <a:spcBef>
                <a:spcPts val="0"/>
              </a:spcBef>
              <a:spcAft>
                <a:spcPts val="0"/>
              </a:spcAft>
              <a:defRPr sz="2750" b="0">
                <a:solidFill>
                  <a:srgbClr val="F1CF83"/>
                </a:solidFill>
                <a:latin typeface="Noto Serif"/>
              </a:defRPr>
            </a:pPr>
            <a:r>
              <a:t>Do not stop at the outcome. Teach the reason behind it.</a:t>
            </a:r>
          </a:p>
        </p:txBody>
      </p:sp>
      <p:sp>
        <p:nvSpPr>
          <p:cNvPr id="26" name="Rounded Rectangle 25"/>
          <p:cNvSpPr/>
          <p:nvPr/>
        </p:nvSpPr>
        <p:spPr>
          <a:xfrm>
            <a:off x="731520" y="8750808"/>
            <a:ext cx="16824960" cy="2057400"/>
          </a:xfrm>
          <a:prstGeom prst="roundRect">
            <a:avLst>
              <a:gd name="adj" fmla="val 6000"/>
            </a:avLst>
          </a:prstGeom>
          <a:solidFill>
            <a:srgbClr val="FA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9015984"/>
            <a:ext cx="7680960" cy="27432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147D77"/>
                </a:solidFill>
                <a:latin typeface="Lato"/>
              </a:defRPr>
            </a:pPr>
            <a:r>
              <a:t>FINAL TRY IT</a:t>
            </a:r>
          </a:p>
        </p:txBody>
      </p:sp>
      <p:sp>
        <p:nvSpPr>
          <p:cNvPr id="28" name="TextBox 27"/>
          <p:cNvSpPr txBox="1"/>
          <p:nvPr/>
        </p:nvSpPr>
        <p:spPr>
          <a:xfrm>
            <a:off x="1005840" y="9528048"/>
            <a:ext cx="8229600" cy="950976"/>
          </a:xfrm>
          <a:prstGeom prst="rect">
            <a:avLst/>
          </a:prstGeom>
          <a:noFill/>
          <a:effectLst/>
        </p:spPr>
        <p:txBody>
          <a:bodyPr wrap="none" lIns="0" rIns="0" tIns="0" bIns="0" anchor="t">
            <a:noAutofit/>
          </a:bodyPr>
          <a:lstStyle/>
          <a:p>
            <a:pPr algn="l">
              <a:lnSpc>
                <a:spcPts val="2760"/>
              </a:lnSpc>
              <a:spcBef>
                <a:spcPts val="0"/>
              </a:spcBef>
              <a:spcAft>
                <a:spcPts val="0"/>
              </a:spcAft>
              <a:defRPr sz="2300" b="0">
                <a:solidFill>
                  <a:srgbClr val="203B4C"/>
                </a:solidFill>
                <a:latin typeface="Lato"/>
              </a:defRPr>
            </a:pPr>
            <a:r>
              <a:t>Choose one merchant case. Explain its outcome</a:t>
            </a:r>
          </a:p>
          <a:p>
            <a:pPr algn="l">
              <a:lnSpc>
                <a:spcPts val="2760"/>
              </a:lnSpc>
              <a:spcBef>
                <a:spcPts val="0"/>
              </a:spcBef>
              <a:spcAft>
                <a:spcPts val="0"/>
              </a:spcAft>
              <a:defRPr sz="2300" b="0">
                <a:solidFill>
                  <a:srgbClr val="203B4C"/>
                </a:solidFill>
                <a:latin typeface="Lato"/>
              </a:defRPr>
            </a:pPr>
            <a:r>
              <a:t>without saying “because the model said so.”</a:t>
            </a:r>
          </a:p>
        </p:txBody>
      </p:sp>
      <p:sp>
        <p:nvSpPr>
          <p:cNvPr id="29" name="Rectangle 28"/>
          <p:cNvSpPr/>
          <p:nvPr/>
        </p:nvSpPr>
        <p:spPr>
          <a:xfrm>
            <a:off x="9784080" y="9034272"/>
            <a:ext cx="22860" cy="1426464"/>
          </a:xfrm>
          <a:prstGeom prst="rect">
            <a:avLst/>
          </a:prstGeom>
          <a:solidFill>
            <a:srgbClr val="C9D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04120" y="9015984"/>
            <a:ext cx="7132320" cy="274320"/>
          </a:xfrm>
          <a:prstGeom prst="rect">
            <a:avLst/>
          </a:prstGeom>
          <a:noFill/>
          <a:effectLst/>
        </p:spPr>
        <p:txBody>
          <a:bodyPr wrap="none" lIns="0" rIns="0" tIns="0" bIns="0" anchor="t">
            <a:noAutofit/>
          </a:bodyPr>
          <a:lstStyle/>
          <a:p>
            <a:pPr algn="l">
              <a:lnSpc>
                <a:spcPts val="1565"/>
              </a:lnSpc>
              <a:spcBef>
                <a:spcPts val="0"/>
              </a:spcBef>
              <a:spcAft>
                <a:spcPts val="0"/>
              </a:spcAft>
              <a:defRPr sz="1350" b="1">
                <a:solidFill>
                  <a:srgbClr val="147D77"/>
                </a:solidFill>
                <a:latin typeface="Lato"/>
              </a:defRPr>
            </a:pPr>
            <a:r>
              <a:t>ANSWER / TEACH-BACK CHECK</a:t>
            </a:r>
          </a:p>
        </p:txBody>
      </p:sp>
      <p:sp>
        <p:nvSpPr>
          <p:cNvPr id="31" name="TextBox 30"/>
          <p:cNvSpPr txBox="1"/>
          <p:nvPr/>
        </p:nvSpPr>
        <p:spPr>
          <a:xfrm>
            <a:off x="10104120" y="9528048"/>
            <a:ext cx="7132320" cy="950976"/>
          </a:xfrm>
          <a:prstGeom prst="rect">
            <a:avLst/>
          </a:prstGeom>
          <a:noFill/>
          <a:effectLst/>
        </p:spPr>
        <p:txBody>
          <a:bodyPr wrap="none" lIns="0" rIns="0" tIns="0" bIns="0" anchor="t">
            <a:noAutofit/>
          </a:bodyPr>
          <a:lstStyle/>
          <a:p>
            <a:pPr algn="l">
              <a:lnSpc>
                <a:spcPts val="2760"/>
              </a:lnSpc>
              <a:spcBef>
                <a:spcPts val="0"/>
              </a:spcBef>
              <a:spcAft>
                <a:spcPts val="0"/>
              </a:spcAft>
              <a:defRPr sz="2300" b="0">
                <a:solidFill>
                  <a:srgbClr val="203B4C"/>
                </a:solidFill>
                <a:latin typeface="Lato"/>
              </a:defRPr>
            </a:pPr>
            <a:r>
              <a:t>Name the inputs, the binding rule, the</a:t>
            </a:r>
          </a:p>
          <a:p>
            <a:pPr algn="l">
              <a:lnSpc>
                <a:spcPts val="2760"/>
              </a:lnSpc>
              <a:spcBef>
                <a:spcPts val="0"/>
              </a:spcBef>
              <a:spcAft>
                <a:spcPts val="0"/>
              </a:spcAft>
              <a:defRPr sz="2300" b="0">
                <a:solidFill>
                  <a:srgbClr val="203B4C"/>
                </a:solidFill>
                <a:latin typeface="Lato"/>
              </a:defRPr>
            </a:pPr>
            <a:r>
              <a:t>permitted action and the account evidence.</a:t>
            </a:r>
          </a:p>
        </p:txBody>
      </p:sp>
      <p:sp>
        <p:nvSpPr>
          <p:cNvPr id="32" name="TextBox 31"/>
          <p:cNvSpPr txBox="1"/>
          <p:nvPr/>
        </p:nvSpPr>
        <p:spPr>
          <a:xfrm>
            <a:off x="777240" y="11109960"/>
            <a:ext cx="16779240" cy="457200"/>
          </a:xfrm>
          <a:prstGeom prst="rect">
            <a:avLst/>
          </a:prstGeom>
          <a:noFill/>
          <a:effectLst/>
        </p:spPr>
        <p:txBody>
          <a:bodyPr wrap="none" lIns="0" rIns="0" tIns="0" bIns="0" anchor="t">
            <a:noAutofit/>
          </a:bodyPr>
          <a:lstStyle/>
          <a:p>
            <a:pPr algn="ctr">
              <a:lnSpc>
                <a:spcPts val="2145"/>
              </a:lnSpc>
              <a:spcBef>
                <a:spcPts val="0"/>
              </a:spcBef>
              <a:spcAft>
                <a:spcPts val="0"/>
              </a:spcAft>
              <a:defRPr sz="1850" b="0">
                <a:solidFill>
                  <a:srgbClr val="A8DDD3"/>
                </a:solidFill>
                <a:latin typeface="Lato"/>
              </a:defRPr>
            </a:pPr>
            <a:r>
              <a:t>Start with the merchant. Test the structure. Respect authority. Follow the account.</a:t>
            </a:r>
          </a:p>
        </p:txBody>
      </p:sp>
      <p:sp>
        <p:nvSpPr>
          <p:cNvPr id="33" name="TextBox 32"/>
          <p:cNvSpPr txBox="1"/>
          <p:nvPr/>
        </p:nvSpPr>
        <p:spPr>
          <a:xfrm>
            <a:off x="685800" y="11824106"/>
            <a:ext cx="10032796" cy="241401"/>
          </a:xfrm>
          <a:prstGeom prst="rect">
            <a:avLst/>
          </a:prstGeom>
          <a:noFill/>
          <a:effectLst/>
        </p:spPr>
        <p:txBody>
          <a:bodyPr wrap="none" lIns="0" rIns="0" tIns="0" bIns="0" anchor="t">
            <a:noAutofit/>
          </a:bodyPr>
          <a:lstStyle/>
          <a:p>
            <a:pPr algn="l">
              <a:lnSpc>
                <a:spcPts val="1276"/>
              </a:lnSpc>
              <a:spcBef>
                <a:spcPts val="0"/>
              </a:spcBef>
              <a:spcAft>
                <a:spcPts val="0"/>
              </a:spcAft>
              <a:defRPr sz="1100" b="0">
                <a:solidFill>
                  <a:srgbClr val="C2D5DD"/>
                </a:solidFill>
                <a:latin typeface="Lato"/>
              </a:defRPr>
            </a:pPr>
            <a:r>
              <a:t>Andrew R. Goad · Synthetic MSBF · Non-production · No real funds</a:t>
            </a:r>
          </a:p>
        </p:txBody>
      </p:sp>
      <p:sp>
        <p:nvSpPr>
          <p:cNvPr id="34" name="TextBox 33"/>
          <p:cNvSpPr txBox="1"/>
          <p:nvPr/>
        </p:nvSpPr>
        <p:spPr>
          <a:xfrm>
            <a:off x="10795406" y="11824106"/>
            <a:ext cx="6806793" cy="241401"/>
          </a:xfrm>
          <a:prstGeom prst="rect">
            <a:avLst/>
          </a:prstGeom>
          <a:noFill/>
          <a:effectLst/>
        </p:spPr>
        <p:txBody>
          <a:bodyPr wrap="none" lIns="0" rIns="0" tIns="0" bIns="0" anchor="t">
            <a:noAutofit/>
          </a:bodyPr>
          <a:lstStyle/>
          <a:p>
            <a:pPr algn="r">
              <a:lnSpc>
                <a:spcPts val="1276"/>
              </a:lnSpc>
              <a:spcBef>
                <a:spcPts val="0"/>
              </a:spcBef>
              <a:spcAft>
                <a:spcPts val="0"/>
              </a:spcAft>
              <a:defRPr sz="1100" b="0">
                <a:solidFill>
                  <a:srgbClr val="C2D5DD"/>
                </a:solidFill>
                <a:latin typeface="Lato"/>
              </a:defRPr>
            </a:pPr>
            <a:r>
              <a:t>Teaching synthesis of lessons 01–22 | 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the Mechanics Behind Merchant POS Lending</dc:title>
  <dc:subject>22-lesson source-grounded merchant-finance masterclass</dc:subject>
  <dc:creator>Andrew R. Goad</dc:creator>
  <cp:keywords>MSBF; merchant finance; classroom; synthetic; R7</cp:keywords>
  <dc:description>R8: page-local cover legend and evidence-card color; appended closing synthesis; original lessons retained.</dc:description>
  <cp:lastModifiedBy>Steve Canny</cp:lastModifiedBy>
  <cp:revision>1</cp:revision>
  <dcterms:created xsi:type="dcterms:W3CDTF">2013-01-27T09:14:16Z</dcterms:created>
  <dcterms:modified xsi:type="dcterms:W3CDTF">2013-01-27T09:15:58Z</dcterms:modified>
  <cp:category/>
</cp:coreProperties>
</file>