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</p:sldIdLst>
  <p:notesMasterIdLst>
    <p:notesMasterId r:id="rId5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notesMaster" Target="notesMasters/notesMaster1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WHITE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6537960"/>
            <a:ext cx="11539728" cy="0"/>
          </a:xfrm>
          <a:prstGeom prst="line">
            <a:avLst/>
          </a:prstGeom>
          <a:noFill/>
          <a:ln w="8890">
            <a:solidFill>
              <a:srgbClr val="CBD6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6574536"/>
            <a:ext cx="8869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E7A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MSBF Merchant Credit Intelligence | Initial 750-Merchant Cohort R3 | Module 2 v2.1.0-rc2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9262872" y="657453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E7A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Deterministic synthetic evidence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6576" y="655624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E7A81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DARK">
    <p:bg>
      <p:bgPr>
        <a:solidFill>
          <a:srgbClr val="1832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6537960"/>
            <a:ext cx="11539728" cy="0"/>
          </a:xfrm>
          <a:prstGeom prst="line">
            <a:avLst/>
          </a:prstGeom>
          <a:noFill/>
          <a:ln w="8890">
            <a:solidFill>
              <a:srgbClr val="5B71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6574536"/>
            <a:ext cx="8869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C7D3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MSBF Merchant Credit Intelligence | Initial 750-Merchant Cohort R3 | Module 2 v2.1.0-rc2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9262872" y="657453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C7D3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Deterministic synthetic evidence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6576" y="655624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C7D3D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6576" y="655624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E7A81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ohort_deck_assets/cover_montage.png">    </p:cNvPr>
          <p:cNvPicPr>
            <a:picLocks noChangeAspect="1"/>
          </p:cNvPicPr>
          <p:nvPr/>
        </p:nvPicPr>
        <p:blipFill>
          <a:blip r:embed="rId1">
            <a:alphaModFix amt="42000"/>
          </a:blip>
          <a:stretch>
            <a:fillRect/>
          </a:stretch>
        </p:blipFill>
        <p:spPr>
          <a:xfrm>
            <a:off x="0" y="0"/>
            <a:ext cx="12191695" cy="65379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537960"/>
          </a:xfrm>
          <a:prstGeom prst="rect">
            <a:avLst/>
          </a:prstGeom>
          <a:solidFill>
            <a:srgbClr val="18324B">
              <a:alpha val="82000"/>
            </a:srgbClr>
          </a:solidFill>
          <a:ln w="12700">
            <a:solidFill>
              <a:srgbClr val="18324B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66928" y="566928"/>
            <a:ext cx="109728" cy="5074920"/>
          </a:xfrm>
          <a:prstGeom prst="rect">
            <a:avLst/>
          </a:prstGeom>
          <a:solidFill>
            <a:srgbClr val="009C95"/>
          </a:solidFill>
          <a:ln w="12700">
            <a:solidFill>
              <a:srgbClr val="009C9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77824" y="685800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10" kern="0" dirty="0">
                <a:solidFill>
                  <a:srgbClr val="2DB5AD"/>
                </a:solidFill>
              </a:rPr>
              <a:t>MSBF MERCHANT CREDIT INTELLIGENCE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68680" y="1188720"/>
            <a:ext cx="804672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</a:rPr>
              <a:t>Initial 750-Merchant</a:t>
            </a:r>
            <a:endParaRPr lang="en-US" sz="3700" dirty="0"/>
          </a:p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</a:rPr>
              <a:t>Cohort Overview</a:t>
            </a:r>
            <a:endParaRPr lang="en-US" sz="3700" dirty="0"/>
          </a:p>
        </p:txBody>
      </p:sp>
      <p:sp>
        <p:nvSpPr>
          <p:cNvPr id="7" name="Text 4"/>
          <p:cNvSpPr/>
          <p:nvPr/>
        </p:nvSpPr>
        <p:spPr>
          <a:xfrm>
            <a:off x="896112" y="274320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8E3E8"/>
                </a:solidFill>
              </a:rPr>
              <a:t>Decisioning, Portfolio &amp; Servicing Intelligence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96112" y="324612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Comprehensive Module 2 analysis supported by governed Power BI evidence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96112" y="3977640"/>
            <a:ext cx="2971800" cy="420624"/>
          </a:xfrm>
          <a:prstGeom prst="roundRect">
            <a:avLst>
              <a:gd name="adj" fmla="val 8696"/>
            </a:avLst>
          </a:prstGeom>
          <a:solidFill>
            <a:srgbClr val="009C95"/>
          </a:solidFill>
          <a:ln w="12700">
            <a:solidFill>
              <a:srgbClr val="009C9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33272" y="4096512"/>
            <a:ext cx="2697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</a:rPr>
              <a:t>MODULE 2 | v2.1.0-rc2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905256" y="47091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E3E8"/>
                </a:solidFill>
              </a:rPr>
              <a:t>Observed-source cutoff: 2026-07-23 | Cohort report R3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8E3E8"/>
                </a:solidFill>
              </a:rPr>
              <a:t>Synthetic-forward lifecycle: through 2026-11-22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6576" y="655624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C7D3D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009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OVERVIEW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402336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832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Baseline supports a broader governed decision frontier; Recession Energy is sharply selective, and funded paths remain operationally controlled at endpoint</a:t>
            </a:r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29768" y="1051560"/>
            <a:ext cx="108813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E7A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Five conclusions capture the full application-to-servicing story.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38912" y="1417320"/>
            <a:ext cx="2212848" cy="1280160"/>
          </a:xfrm>
          <a:prstGeom prst="roundRect">
            <a:avLst>
              <a:gd name="adj" fmla="val 3571"/>
            </a:avLst>
          </a:prstGeom>
          <a:solidFill>
            <a:srgbClr val="E7F5F4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" y="1417320"/>
            <a:ext cx="64008" cy="1280160"/>
          </a:xfrm>
          <a:prstGeom prst="rect">
            <a:avLst/>
          </a:prstGeom>
          <a:solidFill>
            <a:srgbClr val="009C95"/>
          </a:solidFill>
          <a:ln w="12700">
            <a:solidFill>
              <a:srgbClr val="009C9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153619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E7A81"/>
                </a:solidFill>
              </a:rPr>
              <a:t>FIXED COHORT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603504" y="182880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8324B"/>
                </a:solidFill>
              </a:rPr>
              <a:t>750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03504" y="23134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E7A81"/>
                </a:solidFill>
              </a:rPr>
              <a:t>1,500 application-scenario paths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2761488" y="1417320"/>
            <a:ext cx="2212848" cy="1280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61488" y="1417320"/>
            <a:ext cx="64008" cy="1280160"/>
          </a:xfrm>
          <a:prstGeom prst="rect">
            <a:avLst/>
          </a:prstGeom>
          <a:solidFill>
            <a:srgbClr val="009C95"/>
          </a:solidFill>
          <a:ln w="12700">
            <a:solidFill>
              <a:srgbClr val="009C9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0" y="153619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E7A81"/>
                </a:solidFill>
              </a:rPr>
              <a:t>BASELINE SUPPORTABLE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2926080" y="182880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8324B"/>
                </a:solidFill>
              </a:rPr>
              <a:t>40.0%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926080" y="23134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E7A81"/>
                </a:solidFill>
              </a:rPr>
              <a:t>300 paths; 103 authorized</a:t>
            </a:r>
            <a:endParaRPr lang="en-US" sz="720" dirty="0"/>
          </a:p>
        </p:txBody>
      </p:sp>
      <p:sp>
        <p:nvSpPr>
          <p:cNvPr id="15" name="Shape 13"/>
          <p:cNvSpPr/>
          <p:nvPr/>
        </p:nvSpPr>
        <p:spPr>
          <a:xfrm>
            <a:off x="5084064" y="1417320"/>
            <a:ext cx="2212848" cy="1280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84064" y="1417320"/>
            <a:ext cx="64008" cy="1280160"/>
          </a:xfrm>
          <a:prstGeom prst="rect">
            <a:avLst/>
          </a:prstGeom>
          <a:solidFill>
            <a:srgbClr val="384B55"/>
          </a:solidFill>
          <a:ln w="12700">
            <a:solidFill>
              <a:srgbClr val="384B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48656" y="153619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E7A81"/>
                </a:solidFill>
              </a:rPr>
              <a:t>STRESS SUPPORTABLE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5248656" y="182880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8324B"/>
                </a:solidFill>
              </a:rPr>
              <a:t>10.7%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248656" y="23134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E7A81"/>
                </a:solidFill>
              </a:rPr>
              <a:t>80 paths; 27 authorized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7406640" y="1417320"/>
            <a:ext cx="2212848" cy="1280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06640" y="1417320"/>
            <a:ext cx="64008" cy="1280160"/>
          </a:xfrm>
          <a:prstGeom prst="rect">
            <a:avLst/>
          </a:prstGeom>
          <a:solidFill>
            <a:srgbClr val="D19A00"/>
          </a:solidFill>
          <a:ln w="12700">
            <a:solidFill>
              <a:srgbClr val="D19A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71232" y="153619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E7A81"/>
                </a:solidFill>
              </a:rPr>
              <a:t>BASELINE FUNDING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7571232" y="182880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8324B"/>
                </a:solidFill>
              </a:rPr>
              <a:t>$1.385M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571232" y="23134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E7A81"/>
                </a:solidFill>
              </a:rPr>
              <a:t>103 synthetic funded accounts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9729216" y="1417320"/>
            <a:ext cx="2029968" cy="1280160"/>
          </a:xfrm>
          <a:prstGeom prst="roundRect">
            <a:avLst>
              <a:gd name="adj" fmla="val 3571"/>
            </a:avLst>
          </a:prstGeom>
          <a:solidFill>
            <a:srgbClr val="FCEBEA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729216" y="1417320"/>
            <a:ext cx="64008" cy="1280160"/>
          </a:xfrm>
          <a:prstGeom prst="rect">
            <a:avLst/>
          </a:prstGeom>
          <a:solidFill>
            <a:srgbClr val="D95C59"/>
          </a:solidFill>
          <a:ln w="12700">
            <a:solidFill>
              <a:srgbClr val="D95C5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93808" y="153619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E7A81"/>
                </a:solidFill>
              </a:rPr>
              <a:t>OUTCOME DIFFERS IN STRESS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9893808" y="182880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8324B"/>
                </a:solidFill>
              </a:rPr>
              <a:t>31.5%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9893808" y="22860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E7A81"/>
                </a:solidFill>
              </a:rPr>
              <a:t>236 of 750 matched pairs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6E7A81"/>
                </a:solidFill>
              </a:rPr>
              <a:t>Baseline vs. Recession Energy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438912" y="2971800"/>
            <a:ext cx="3657600" cy="260604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8912" y="2971800"/>
            <a:ext cx="54864" cy="2606040"/>
          </a:xfrm>
          <a:prstGeom prst="rect">
            <a:avLst/>
          </a:prstGeom>
          <a:solidFill>
            <a:srgbClr val="009C95"/>
          </a:solidFill>
          <a:ln w="12700">
            <a:solidFill>
              <a:srgbClr val="009C9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" y="3099816"/>
            <a:ext cx="3346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8324B"/>
                </a:solidFill>
              </a:rPr>
              <a:t>Decision resilience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21792" y="3447288"/>
            <a:ext cx="3346704" cy="1993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Every Recession Energy authorization was retained from the Baseline-authorized population. No merchant became newly authorized under stress. The stress scenario therefore constrains the decision frontier rather than creating artificial upside.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270248" y="2971800"/>
            <a:ext cx="3657600" cy="260604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270248" y="2971800"/>
            <a:ext cx="54864" cy="2606040"/>
          </a:xfrm>
          <a:prstGeom prst="rect">
            <a:avLst/>
          </a:prstGeom>
          <a:solidFill>
            <a:srgbClr val="384B55"/>
          </a:solidFill>
          <a:ln w="12700">
            <a:solidFill>
              <a:srgbClr val="384B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53128" y="3099816"/>
            <a:ext cx="3346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8324B"/>
                </a:solidFill>
              </a:rPr>
              <a:t>Economics under stress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453128" y="3447288"/>
            <a:ext cx="3346704" cy="1993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Funded amount contracts 75.2%, supportable rate declines 29.3 percentage points, comparative expected-loss rate rises 2.0 points, and risk-adjusted contribution falls 79.7%.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101584" y="2971800"/>
            <a:ext cx="3657600" cy="260604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101584" y="2971800"/>
            <a:ext cx="54864" cy="2606040"/>
          </a:xfrm>
          <a:prstGeom prst="rect">
            <a:avLst/>
          </a:prstGeom>
          <a:solidFill>
            <a:srgbClr val="D19A00"/>
          </a:solidFill>
          <a:ln w="12700">
            <a:solidFill>
              <a:srgbClr val="D19A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84464" y="3099816"/>
            <a:ext cx="3346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8324B"/>
                </a:solidFill>
              </a:rPr>
              <a:t>Lifecycle and servicing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8284464" y="3447288"/>
            <a:ext cx="3346704" cy="1993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Baseline ends with 99 of 103 funded paths paid off, four severe-shortfall accounts, $7,823.28 attention exposure, $6,061.03 certified exposure, and zero unresolved exceptions. Stress ends with all 27 paths paid off.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38912" y="6062472"/>
            <a:ext cx="11320272" cy="365760"/>
          </a:xfrm>
          <a:prstGeom prst="roundRect">
            <a:avLst>
              <a:gd name="adj" fmla="val 10000"/>
            </a:avLst>
          </a:prstGeom>
          <a:solidFill>
            <a:srgbClr val="EAF5F8"/>
          </a:solidFill>
          <a:ln w="7620">
            <a:solidFill>
              <a:srgbClr val="CBD6D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3504" y="608990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E7A81"/>
                </a:solidFill>
              </a:rPr>
              <a:t>Comparison: final governed decision category for the same merchant/application, Baseline vs. Recession Energy (page 14). Alternative synthetic scenarios—not sequential outcomes, forecasts or a software-version comparison.</a:t>
            </a:r>
            <a:endParaRPr lang="en-US" sz="7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6576" y="655624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E7A81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009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BASE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420624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832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source data, analytical figures and Power BI views support this report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29768" y="877824"/>
            <a:ext cx="108813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E7A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750 synthetic merchants, two alternative scenarios: source records supply the calculations; screenshots demonstrate report coverage.</a:t>
            </a:r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2148840" cy="1188720"/>
          </a:xfrm>
          <a:prstGeom prst="roundRect">
            <a:avLst>
              <a:gd name="adj" fmla="val 3846"/>
            </a:avLst>
          </a:prstGeom>
          <a:solidFill>
            <a:srgbClr val="E7F5F4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89888"/>
            <a:ext cx="64008" cy="1188720"/>
          </a:xfrm>
          <a:prstGeom prst="rect">
            <a:avLst/>
          </a:prstGeom>
          <a:solidFill>
            <a:srgbClr val="009C95"/>
          </a:solidFill>
          <a:ln w="12700">
            <a:solidFill>
              <a:srgbClr val="009C9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508760"/>
            <a:ext cx="1856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E7A81"/>
                </a:solidFill>
              </a:rPr>
              <a:t>POWER BI SCREENSHOTS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621792" y="1792224"/>
            <a:ext cx="18562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8324B"/>
                </a:solidFill>
              </a:rPr>
              <a:t>94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21792" y="2276856"/>
            <a:ext cx="1856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E7A81"/>
                </a:solidFill>
              </a:rPr>
              <a:t>Retained images—not merchants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2724912" y="1389888"/>
            <a:ext cx="214884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24912" y="1389888"/>
            <a:ext cx="64008" cy="1188720"/>
          </a:xfrm>
          <a:prstGeom prst="rect">
            <a:avLst/>
          </a:prstGeom>
          <a:solidFill>
            <a:srgbClr val="009C95"/>
          </a:solidFill>
          <a:ln w="12700">
            <a:solidFill>
              <a:srgbClr val="009C9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89504" y="1508760"/>
            <a:ext cx="1856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E7A81"/>
                </a:solidFill>
              </a:rPr>
              <a:t>P01 COMMAND CENTER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2889504" y="1792224"/>
            <a:ext cx="18562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8324B"/>
                </a:solidFill>
              </a:rPr>
              <a:t>32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889504" y="2276856"/>
            <a:ext cx="1856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E7A81"/>
                </a:solidFill>
              </a:rPr>
              <a:t>Full portfolio + industry + source</a:t>
            </a:r>
            <a:endParaRPr lang="en-US" sz="720" dirty="0"/>
          </a:p>
        </p:txBody>
      </p:sp>
      <p:sp>
        <p:nvSpPr>
          <p:cNvPr id="15" name="Shape 13"/>
          <p:cNvSpPr/>
          <p:nvPr/>
        </p:nvSpPr>
        <p:spPr>
          <a:xfrm>
            <a:off x="4992624" y="1389888"/>
            <a:ext cx="214884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92624" y="1389888"/>
            <a:ext cx="64008" cy="1188720"/>
          </a:xfrm>
          <a:prstGeom prst="rect">
            <a:avLst/>
          </a:prstGeom>
          <a:solidFill>
            <a:srgbClr val="009C95"/>
          </a:solidFill>
          <a:ln w="12700">
            <a:solidFill>
              <a:srgbClr val="009C9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57216" y="1508760"/>
            <a:ext cx="1856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E7A81"/>
                </a:solidFill>
              </a:rPr>
              <a:t>P02 COHORT LIFECYCLE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5157216" y="1792224"/>
            <a:ext cx="18562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8324B"/>
                </a:solidFill>
              </a:rPr>
              <a:t>32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157216" y="2276856"/>
            <a:ext cx="1856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E7A81"/>
                </a:solidFill>
              </a:rPr>
              <a:t>Full cohort + industry + source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7260336" y="1389888"/>
            <a:ext cx="214884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60336" y="1389888"/>
            <a:ext cx="64008" cy="1188720"/>
          </a:xfrm>
          <a:prstGeom prst="rect">
            <a:avLst/>
          </a:prstGeom>
          <a:solidFill>
            <a:srgbClr val="D19A00"/>
          </a:solidFill>
          <a:ln w="12700">
            <a:solidFill>
              <a:srgbClr val="D19A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24928" y="1508760"/>
            <a:ext cx="1856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E7A81"/>
                </a:solidFill>
              </a:rPr>
              <a:t>P03 APPLICATION JOURNEY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7424928" y="1792224"/>
            <a:ext cx="18562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8324B"/>
                </a:solidFill>
              </a:rPr>
              <a:t>28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424928" y="2276856"/>
            <a:ext cx="1856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E7A81"/>
                </a:solidFill>
              </a:rPr>
              <a:t>Decision and narrative branches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9528048" y="1389888"/>
            <a:ext cx="2212848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528048" y="1389888"/>
            <a:ext cx="64008" cy="1188720"/>
          </a:xfrm>
          <a:prstGeom prst="rect">
            <a:avLst/>
          </a:prstGeom>
          <a:solidFill>
            <a:srgbClr val="D95C59"/>
          </a:solidFill>
          <a:ln w="12700">
            <a:solidFill>
              <a:srgbClr val="D95C5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92640" y="15087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E7A81"/>
                </a:solidFill>
              </a:rPr>
              <a:t>P04 SERVICING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9692640" y="1792224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8324B"/>
                </a:solidFill>
              </a:rPr>
              <a:t>2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9692640" y="227685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E7A81"/>
                </a:solidFill>
              </a:rPr>
              <a:t>Baseline and Recession Energy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457200" y="2834640"/>
            <a:ext cx="5440680" cy="292608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2834640"/>
            <a:ext cx="54864" cy="2926080"/>
          </a:xfrm>
          <a:prstGeom prst="rect">
            <a:avLst/>
          </a:prstGeom>
          <a:solidFill>
            <a:srgbClr val="009C95"/>
          </a:solidFill>
          <a:ln w="12700">
            <a:solidFill>
              <a:srgbClr val="009C9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2962656"/>
            <a:ext cx="5129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8324B"/>
                </a:solidFill>
              </a:rPr>
              <a:t>What the evidence covers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0080" y="3310128"/>
            <a:ext cx="5129784" cy="2286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  <a:spcAft>
                <a:spcPts val="500"/>
              </a:spcAft>
            </a:pPr>
            <a:r>
              <a:rPr lang="en-US" sz="900" dirty="0">
                <a:solidFill>
                  <a:srgbClr val="2F3B42"/>
                </a:solidFill>
              </a:rPr>
              <a:t>Population: 750 matched merchant/application pairs, each with one Baseline and one Recession Energy path (1,500 paths).</a:t>
            </a:r>
            <a:endParaRPr lang="en-US" sz="900" dirty="0"/>
          </a:p>
          <a:p>
            <a:pPr indent="0" marL="0">
              <a:buNone/>
              <a:spcAft>
                <a:spcPts val="500"/>
              </a:spcAft>
            </a:pPr>
            <a:r>
              <a:rPr lang="en-US" sz="900" dirty="0">
                <a:solidFill>
                  <a:srgbClr val="2F3B42"/>
                </a:solidFill>
              </a:rPr>
              <a:t>Calculations: charts and metrics use source-derived records, not measurements estimated from screenshots.</a:t>
            </a:r>
            <a:endParaRPr lang="en-US" sz="900" dirty="0"/>
          </a:p>
          <a:p>
            <a:pPr indent="0" marL="0">
              <a:buNone/>
              <a:spcAft>
                <a:spcPts val="500"/>
              </a:spcAft>
            </a:pPr>
            <a:r>
              <a:rPr lang="en-US" sz="900" dirty="0">
                <a:solidFill>
                  <a:srgbClr val="2F3B42"/>
                </a:solidFill>
              </a:rPr>
              <a:t>Coverage: P01/P02 show full portfolios plus industry and acquisition-source slices. P03 examples cover authorization, review and the separate decline reasons.</a:t>
            </a:r>
            <a:endParaRPr lang="en-US" sz="900" dirty="0"/>
          </a:p>
          <a:p>
            <a:pPr indent="0" marL="0">
              <a:buNone/>
              <a:spcAft>
                <a:spcPts val="500"/>
              </a:spcAft>
            </a:pPr>
            <a:r>
              <a:rPr lang="en-US" sz="900" dirty="0">
                <a:solidFill>
                  <a:srgbClr val="2F3B42"/>
                </a:solidFill>
              </a:rPr>
              <a:t>Controls: P04 scenarios, account selections, tooltips, alt text, tab order and seven-result QA; P03 narrative and monitoring QA are retained.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108192" y="2834640"/>
            <a:ext cx="5623560" cy="292608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08192" y="2834640"/>
            <a:ext cx="54864" cy="2926080"/>
          </a:xfrm>
          <a:prstGeom prst="rect">
            <a:avLst/>
          </a:prstGeom>
          <a:solidFill>
            <a:srgbClr val="384B55"/>
          </a:solidFill>
          <a:ln w="12700">
            <a:solidFill>
              <a:srgbClr val="384B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91072" y="2962656"/>
            <a:ext cx="5312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8324B"/>
                </a:solidFill>
              </a:rPr>
              <a:t>What the acceptance references mean</a:t>
            </a:r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291072" y="3310128"/>
            <a:ext cx="5312664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  <a:spcAft>
                <a:spcPts val="400"/>
              </a:spcAft>
            </a:pPr>
            <a:r>
              <a:rPr lang="en-US" sz="880" dirty="0">
                <a:solidFill>
                  <a:srgbClr val="2F3B42"/>
                </a:solidFill>
              </a:rPr>
              <a:t>PBIX is the Power BI report file. R3 identifies its support package; canonical R7 identifies its documented source/reference state.</a:t>
            </a:r>
            <a:endParaRPr lang="en-US" sz="880"/>
          </a:p>
          <a:p>
            <a:pPr indent="0" marL="0">
              <a:buNone/>
              <a:spcAft>
                <a:spcPts val="400"/>
              </a:spcAft>
            </a:pPr>
            <a:r>
              <a:rPr lang="en-US" sz="880" dirty="0">
                <a:solidFill>
                  <a:srgbClr val="2F3B42"/>
                </a:solidFill>
              </a:rPr>
              <a:t>IA-D-R17-PBI-001 = ACCEPT for Power BI. Cohort-report review is separate.</a:t>
            </a:r>
            <a:endParaRPr lang="en-US" sz="880"/>
          </a:p>
          <a:p>
            <a:pPr indent="0" marL="0">
              <a:buNone/>
              <a:spcAft>
                <a:spcPts val="400"/>
              </a:spcAft>
            </a:pPr>
            <a:r>
              <a:rPr lang="en-US" sz="880" dirty="0">
                <a:solidFill>
                  <a:srgbClr val="2F3B42"/>
                </a:solidFill>
              </a:rPr>
              <a:t>IA-PBI-PUB-HANDOFF-001 = AUTHORIZED for controlled handoff only—not live publication.</a:t>
            </a:r>
            <a:endParaRPr lang="en-US" sz="880"/>
          </a:p>
          <a:p>
            <a:pPr indent="0" marL="0">
              <a:buNone/>
              <a:spcAft>
                <a:spcPts val="400"/>
              </a:spcAft>
            </a:pPr>
            <a:r>
              <a:rPr lang="en-US" sz="880" dirty="0">
                <a:solidFill>
                  <a:srgbClr val="2F3B42"/>
                </a:solidFill>
              </a:rPr>
              <a:t>DataModel unchanged; owner-approved capture reuse accepted.</a:t>
            </a:r>
            <a:endParaRPr lang="en-US" sz="880"/>
          </a:p>
          <a:p>
            <a:pPr indent="0" marL="0">
              <a:buNone/>
              <a:spcAft>
                <a:spcPts val="400"/>
              </a:spcAft>
            </a:pPr>
            <a:r>
              <a:rPr lang="en-US" sz="880" dirty="0">
                <a:solidFill>
                  <a:srgbClr val="2F3B42"/>
                </a:solidFill>
              </a:rPr>
              <a:t>File: MSBF_Merchant_Credit_Intelligence_M2_v2.1.0-rc2.pbix</a:t>
            </a:r>
            <a:endParaRPr lang="en-US" sz="880"/>
          </a:p>
          <a:p>
            <a:pPr indent="0" marL="0">
              <a:buNone/>
              <a:spcAft>
                <a:spcPts val="400"/>
              </a:spcAft>
            </a:pPr>
            <a:r>
              <a:rPr lang="en-US" sz="880" dirty="0">
                <a:solidFill>
                  <a:srgbClr val="2F3B42"/>
                </a:solidFill>
              </a:rPr>
              <a:t>SHA-256: ca46e8551860...047b5294e4</a:t>
            </a:r>
            <a:endParaRPr lang="en-US" sz="880"/>
          </a:p>
          <a:p>
            <a:pPr indent="0" marL="0">
              <a:buNone/>
              <a:spcAft>
                <a:spcPts val="400"/>
              </a:spcAft>
            </a:pPr>
            <a:r>
              <a:rPr lang="en-US" sz="880" dirty="0">
                <a:solidFill>
                  <a:srgbClr val="2F3B42"/>
                </a:solidFill>
              </a:rPr>
              <a:t>The private carrier retains source bytes, scripts, keys, hashes and figure identities.</a:t>
            </a:r>
            <a:endParaRPr lang="en-US" sz="880"/>
          </a:p>
        </p:txBody>
      </p:sp>
      <p:sp>
        <p:nvSpPr>
          <p:cNvPr id="38" name="Shape 36"/>
          <p:cNvSpPr/>
          <p:nvPr/>
        </p:nvSpPr>
        <p:spPr>
          <a:xfrm>
            <a:off x="438912" y="6062472"/>
            <a:ext cx="11320272" cy="365760"/>
          </a:xfrm>
          <a:prstGeom prst="roundRect">
            <a:avLst>
              <a:gd name="adj" fmla="val 10000"/>
            </a:avLst>
          </a:prstGeom>
          <a:solidFill>
            <a:srgbClr val="EAF5F8"/>
          </a:solidFill>
          <a:ln w="7620">
            <a:solidFill>
              <a:srgbClr val="CBD6D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3504" y="608076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E7A81"/>
                </a:solidFill>
              </a:rPr>
              <a:t>Matched-scenario comparison: “changed” means a different final decision category for the same merchant/application—not a change over time, between software versions or across strategy profiles.</a:t>
            </a:r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6576" y="655624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E7A81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009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 AND AUTHORITY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420624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832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this cohort overview does - and does not - claim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29768" y="877824"/>
            <a:ext cx="108813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E7A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analysis is a governed synthetic decisioning and lifecycle evaluation through Module 2.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3246120" cy="416052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417320"/>
            <a:ext cx="54864" cy="4160520"/>
          </a:xfrm>
          <a:prstGeom prst="rect">
            <a:avLst/>
          </a:prstGeom>
          <a:solidFill>
            <a:srgbClr val="009C95"/>
          </a:solidFill>
          <a:ln w="12700">
            <a:solidFill>
              <a:srgbClr val="009C9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45336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8324B"/>
                </a:solidFill>
              </a:rPr>
              <a:t>In scope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85800" y="1892808"/>
            <a:ext cx="2935224" cy="3547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- Fixed 750-merchant population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- Two governed scenarios per merchant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- Application evidence and seven final outcomes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- Requested and proposed structures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- Synthetic funding and 120-day monitoring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- Intervention, setup, servicing execution, reconciliation, and certification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- Industry and acquisition-source segmentation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087368" y="1417320"/>
            <a:ext cx="3246120" cy="416052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87368" y="1417320"/>
            <a:ext cx="54864" cy="4160520"/>
          </a:xfrm>
          <a:prstGeom prst="rect">
            <a:avLst/>
          </a:prstGeom>
          <a:solidFill>
            <a:srgbClr val="D19A00"/>
          </a:solidFill>
          <a:ln w="12700">
            <a:solidFill>
              <a:srgbClr val="D19A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70248" y="1545336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8324B"/>
                </a:solidFill>
              </a:rPr>
              <a:t>Authority and timing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270248" y="1892808"/>
            <a:ext cx="2935224" cy="3547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- R26 is the accepted Module 2 / G3-v2 technical successor baseline; Module 1 / G2 remains accepted</a:t>
            </a:r>
            <a:endParaRPr lang="en-US"/>
          </a:p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- IA-D-R17-PBI-001 = ACCEPT for the final Power BI candidate</a:t>
            </a:r>
            <a:endParaRPr lang="en-US"/>
          </a:p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- IA-PBI-PUB-HANDOFF-001 authorizes handoff only</a:t>
            </a:r>
            <a:endParaRPr lang="en-US"/>
          </a:p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- Public Module 2 / G3 v2.0.0 remains controlling public authority until supersession and GitHub publication are separately authorized and executed</a:t>
            </a:r>
            <a:endParaRPr lang="en-US"/>
          </a:p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- P01-P04 are frozen; P05/P06 remain excluded</a:t>
            </a:r>
            <a:endParaRPr lang="en-US"/>
          </a:p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- Source cutoff: 2026-07-23; synthetic endpoint: 2026-11-22</a:t>
            </a:r>
            <a:endParaRPr lang="en-US"/>
          </a:p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- This overview does not itself execute publication</a:t>
            </a:r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671816" y="1417320"/>
            <a:ext cx="3246120" cy="416052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71816" y="1417320"/>
            <a:ext cx="54864" cy="4160520"/>
          </a:xfrm>
          <a:prstGeom prst="rect">
            <a:avLst/>
          </a:prstGeom>
          <a:solidFill>
            <a:srgbClr val="D95C59"/>
          </a:solidFill>
          <a:ln w="12700">
            <a:solidFill>
              <a:srgbClr val="D95C5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54696" y="1545336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8324B"/>
                </a:solidFill>
              </a:rPr>
              <a:t>Out of scope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854696" y="1892808"/>
            <a:ext cx="2935224" cy="3547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- No real customers or production servicing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- No causal or treatment-effect claims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- No audited profitability or CECL conclusion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- No forecast of future losses or collections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- No inference that Recession Energy occurs after Baseline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- No public-release authorization implied by this overview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38912" y="6062472"/>
            <a:ext cx="11320272" cy="365760"/>
          </a:xfrm>
          <a:prstGeom prst="roundRect">
            <a:avLst>
              <a:gd name="adj" fmla="val 10000"/>
            </a:avLst>
          </a:prstGeom>
          <a:solidFill>
            <a:srgbClr val="EAF5F8"/>
          </a:solidFill>
          <a:ln w="7620">
            <a:solidFill>
              <a:srgbClr val="CBD6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" y="6163056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E7A81"/>
                </a:solidFill>
              </a:rPr>
              <a:t>All dollar amounts, dates, outcomes, and account trajectories are deterministic synthetic evidence designed to evaluate architecture, strategy, governance, and analytical consumption.</a:t>
            </a:r>
            <a:endParaRPr lang="en-US" sz="7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6576" y="655624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E7A81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009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COHORT ARCHITECTURE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420624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832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fixed cohort expands into decision, funding, monitoring, and servicing evidence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29768" y="877824"/>
            <a:ext cx="108813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E7A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ApplicationScenarioKey preserves exact scenario identity through every downstream stage.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1691640" cy="1874520"/>
          </a:xfrm>
          <a:prstGeom prst="roundRect">
            <a:avLst>
              <a:gd name="adj" fmla="val 3243"/>
            </a:avLst>
          </a:prstGeom>
          <a:solidFill>
            <a:srgbClr val="E7F5F4"/>
          </a:solidFill>
          <a:ln w="12700">
            <a:solidFill>
              <a:srgbClr val="CBD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1993392"/>
            <a:ext cx="1435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10" kern="0" dirty="0">
                <a:solidFill>
                  <a:srgbClr val="009C95"/>
                </a:solidFill>
              </a:rPr>
              <a:t>APPLICATION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12648" y="2395728"/>
            <a:ext cx="14721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8324B"/>
                </a:solidFill>
              </a:rPr>
              <a:t>750 merchants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8324B"/>
                </a:solidFill>
              </a:rPr>
              <a:t>1,500 paths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21792" y="3191256"/>
            <a:ext cx="1453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E7A81"/>
                </a:solidFill>
              </a:rPr>
              <a:t>Profile, request, evidence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267712" y="2487168"/>
            <a:ext cx="256032" cy="502920"/>
          </a:xfrm>
          <a:prstGeom prst="chevron">
            <a:avLst/>
          </a:prstGeom>
          <a:solidFill>
            <a:srgbClr val="AEBAC1"/>
          </a:solidFill>
          <a:ln w="12700">
            <a:solidFill>
              <a:srgbClr val="AEBAC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87752" y="1828800"/>
            <a:ext cx="1691640" cy="187452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CBD6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15768" y="1993392"/>
            <a:ext cx="1435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10" kern="0" dirty="0">
                <a:solidFill>
                  <a:srgbClr val="009C95"/>
                </a:solidFill>
              </a:rPr>
              <a:t>DECISION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697480" y="2395728"/>
            <a:ext cx="14721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8324B"/>
                </a:solidFill>
              </a:rPr>
              <a:t>7 outcomes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8324B"/>
                </a:solidFill>
              </a:rPr>
              <a:t>1,500 final rows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706624" y="3191256"/>
            <a:ext cx="1453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E7A81"/>
                </a:solidFill>
              </a:rPr>
              <a:t>Requested/proposed terms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352544" y="2487168"/>
            <a:ext cx="256032" cy="502920"/>
          </a:xfrm>
          <a:prstGeom prst="chevron">
            <a:avLst/>
          </a:prstGeom>
          <a:solidFill>
            <a:srgbClr val="AEBAC1"/>
          </a:solidFill>
          <a:ln w="12700">
            <a:solidFill>
              <a:srgbClr val="AEBAC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72584" y="1828800"/>
            <a:ext cx="1691640" cy="1874520"/>
          </a:xfrm>
          <a:prstGeom prst="roundRect">
            <a:avLst>
              <a:gd name="adj" fmla="val 3243"/>
            </a:avLst>
          </a:prstGeom>
          <a:solidFill>
            <a:srgbClr val="E7F5F4"/>
          </a:solidFill>
          <a:ln w="12700">
            <a:solidFill>
              <a:srgbClr val="CBD6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993392"/>
            <a:ext cx="1435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10" kern="0" dirty="0">
                <a:solidFill>
                  <a:srgbClr val="009C95"/>
                </a:solidFill>
              </a:rPr>
              <a:t>FUNDING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782312" y="2395728"/>
            <a:ext cx="14721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8324B"/>
                </a:solidFill>
              </a:rPr>
              <a:t>130 funded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8324B"/>
                </a:solidFill>
              </a:rPr>
              <a:t>scenario paths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91456" y="3191256"/>
            <a:ext cx="1453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E7A81"/>
                </a:solidFill>
              </a:rPr>
              <a:t>Physical funding date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437376" y="2487168"/>
            <a:ext cx="256032" cy="502920"/>
          </a:xfrm>
          <a:prstGeom prst="chevron">
            <a:avLst/>
          </a:prstGeom>
          <a:solidFill>
            <a:srgbClr val="AEBAC1"/>
          </a:solidFill>
          <a:ln w="12700">
            <a:solidFill>
              <a:srgbClr val="AEBAC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57416" y="1828800"/>
            <a:ext cx="1691640" cy="187452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CBD6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85432" y="1993392"/>
            <a:ext cx="1435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10" kern="0" dirty="0">
                <a:solidFill>
                  <a:srgbClr val="009C95"/>
                </a:solidFill>
              </a:rPr>
              <a:t>MONITORING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867144" y="2395728"/>
            <a:ext cx="14721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8324B"/>
                </a:solidFill>
              </a:rPr>
              <a:t>15,600 daily rows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8324B"/>
                </a:solidFill>
              </a:rPr>
              <a:t>120 days each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876288" y="3191256"/>
            <a:ext cx="1453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E7A81"/>
                </a:solidFill>
              </a:rPr>
              <a:t>Status, pace, alerts, runoff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8522208" y="2487168"/>
            <a:ext cx="256032" cy="502920"/>
          </a:xfrm>
          <a:prstGeom prst="chevron">
            <a:avLst/>
          </a:prstGeom>
          <a:solidFill>
            <a:srgbClr val="AEBAC1"/>
          </a:solidFill>
          <a:ln w="12700">
            <a:solidFill>
              <a:srgbClr val="AEBAC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842248" y="1828800"/>
            <a:ext cx="1691640" cy="1874520"/>
          </a:xfrm>
          <a:prstGeom prst="roundRect">
            <a:avLst>
              <a:gd name="adj" fmla="val 3243"/>
            </a:avLst>
          </a:prstGeom>
          <a:solidFill>
            <a:srgbClr val="E7F5F4"/>
          </a:solidFill>
          <a:ln w="12700">
            <a:solidFill>
              <a:srgbClr val="D19A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70264" y="1993392"/>
            <a:ext cx="1435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10" kern="0" dirty="0">
                <a:solidFill>
                  <a:srgbClr val="009C95"/>
                </a:solidFill>
              </a:rPr>
              <a:t>SERVICING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8951976" y="2395728"/>
            <a:ext cx="14721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8324B"/>
                </a:solidFill>
              </a:rPr>
              <a:t>130 rows per stage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8324B"/>
                </a:solidFill>
              </a:rPr>
              <a:t>M2.6-M2.10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8961120" y="3191256"/>
            <a:ext cx="1453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E7A81"/>
                </a:solidFill>
              </a:rPr>
              <a:t>Intervention to certification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02920" y="4160520"/>
            <a:ext cx="544068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4160520"/>
            <a:ext cx="54864" cy="1188720"/>
          </a:xfrm>
          <a:prstGeom prst="rect">
            <a:avLst/>
          </a:prstGeom>
          <a:solidFill>
            <a:srgbClr val="009C95"/>
          </a:solidFill>
          <a:ln w="12700">
            <a:solidFill>
              <a:srgbClr val="009C9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4288536"/>
            <a:ext cx="5129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8324B"/>
                </a:solidFill>
              </a:rPr>
              <a:t>Scenario identity control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85800" y="4636008"/>
            <a:ext cx="512978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Baseline and Recession Energy stay separated at application-scenario grain; downstream lifecycle evidence exists only when the exact path is authorized and physically funded.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172200" y="4160520"/>
            <a:ext cx="553212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72200" y="4160520"/>
            <a:ext cx="54864" cy="1188720"/>
          </a:xfrm>
          <a:prstGeom prst="rect">
            <a:avLst/>
          </a:prstGeom>
          <a:solidFill>
            <a:srgbClr val="D19A00"/>
          </a:solidFill>
          <a:ln w="12700">
            <a:solidFill>
              <a:srgbClr val="D19A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55080" y="4288536"/>
            <a:ext cx="5221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8324B"/>
                </a:solidFill>
              </a:rPr>
              <a:t>Reconciliation control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355080" y="4636008"/>
            <a:ext cx="522122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Intervention, setup, execution, certification, and portfolio-performance tables each contain 130 unique keys, matching funded-lifecycle and monitoring membership.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38912" y="6062472"/>
            <a:ext cx="11320272" cy="365760"/>
          </a:xfrm>
          <a:prstGeom prst="roundRect">
            <a:avLst>
              <a:gd name="adj" fmla="val 10000"/>
            </a:avLst>
          </a:prstGeom>
          <a:solidFill>
            <a:srgbClr val="EAF5F8"/>
          </a:solidFill>
          <a:ln w="7620">
            <a:solidFill>
              <a:srgbClr val="CBD6D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3504" y="6163056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E7A81"/>
                </a:solidFill>
              </a:rPr>
              <a:t>Current QA: 130 unique keys across every M2.6-M2.10 stage; 15,600 monitoring rows; zero P03 operational reconciliation failures.</a:t>
            </a:r>
            <a:endParaRPr lang="en-US" sz="7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6576" y="655624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E7A81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009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COHORT PROFILE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420624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832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750 merchants span eight industries, multiple size tiers, relationship stages, and sourcing channels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29768" y="877824"/>
            <a:ext cx="108813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E7A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population is broad enough to expose segment, source, and scenario differences without being dominated by one segment.</a:t>
            </a:r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93192" y="1280160"/>
            <a:ext cx="5660136" cy="213969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pic>
        <p:nvPicPr>
          <p:cNvPr id="6" name="Image 0" descr="/mnt/data/cohort_deck_assets/composition_indust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6917" y="1298448"/>
            <a:ext cx="4472687" cy="2103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3438144"/>
            <a:ext cx="5623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6E7A81"/>
                </a:solidFill>
              </a:rPr>
              <a:t>Source: R1DimApplicationScenario - fixed cohort composition</a:t>
            </a:r>
            <a:endParaRPr lang="en-US" sz="650" dirty="0"/>
          </a:p>
        </p:txBody>
      </p:sp>
      <p:sp>
        <p:nvSpPr>
          <p:cNvPr id="8" name="Shape 5"/>
          <p:cNvSpPr/>
          <p:nvPr/>
        </p:nvSpPr>
        <p:spPr>
          <a:xfrm>
            <a:off x="6181344" y="1280160"/>
            <a:ext cx="2734056" cy="213969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pic>
        <p:nvPicPr>
          <p:cNvPr id="9" name="Image 1" descr="/mnt/data/cohort_deck_assets/composition_siz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632" y="1612600"/>
            <a:ext cx="2697480" cy="147481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9015984" y="1280160"/>
            <a:ext cx="2734056" cy="213969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pic>
        <p:nvPicPr>
          <p:cNvPr id="11" name="Image 2" descr="/mnt/data/cohort_deck_assets/composition_relationshi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4272" y="1644393"/>
            <a:ext cx="2697480" cy="141123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93192" y="3685032"/>
            <a:ext cx="5660136" cy="200253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pic>
        <p:nvPicPr>
          <p:cNvPr id="13" name="Image 3" descr="/mnt/data/cohort_deck_assets/composition_channe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1608" y="3703320"/>
            <a:ext cx="3743304" cy="196596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6199632" y="3703320"/>
            <a:ext cx="5532120" cy="19659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6199632" y="3703320"/>
            <a:ext cx="54864" cy="1965960"/>
          </a:xfrm>
          <a:prstGeom prst="rect">
            <a:avLst/>
          </a:prstGeom>
          <a:solidFill>
            <a:srgbClr val="009C95"/>
          </a:solidFill>
          <a:ln w="12700">
            <a:solidFill>
              <a:srgbClr val="009C95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6382512" y="3831336"/>
            <a:ext cx="5221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8324B"/>
                </a:solidFill>
              </a:rPr>
              <a:t>Composition readout</a:t>
            </a:r>
            <a:endParaRPr lang="en-US" sz="1050" dirty="0"/>
          </a:p>
        </p:txBody>
      </p:sp>
      <p:sp>
        <p:nvSpPr>
          <p:cNvPr id="17" name="Text 11"/>
          <p:cNvSpPr/>
          <p:nvPr/>
        </p:nvSpPr>
        <p:spPr>
          <a:xfrm>
            <a:off x="6382512" y="4178808"/>
            <a:ext cx="5221224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- Retail and restaurant are the largest industries at 120 merchants each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- 70.0% of merchants are Micro or Small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- 55.1% are new relationships; 24.9% are returning-good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- Processor direct is the largest channel at 34.0%, followed by digital direct at 20.0% and bank relationship at 18.0%</a:t>
            </a:r>
            <a:endParaRPr lang="en-US" sz="900" dirty="0"/>
          </a:p>
        </p:txBody>
      </p:sp>
      <p:sp>
        <p:nvSpPr>
          <p:cNvPr id="18" name="Shape 12"/>
          <p:cNvSpPr/>
          <p:nvPr/>
        </p:nvSpPr>
        <p:spPr>
          <a:xfrm>
            <a:off x="438912" y="6062472"/>
            <a:ext cx="11320272" cy="365760"/>
          </a:xfrm>
          <a:prstGeom prst="roundRect">
            <a:avLst>
              <a:gd name="adj" fmla="val 10000"/>
            </a:avLst>
          </a:prstGeom>
          <a:solidFill>
            <a:srgbClr val="EAF5F8"/>
          </a:solidFill>
          <a:ln w="7620">
            <a:solidFill>
              <a:srgbClr val="CBD6DB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603504" y="608076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E7A81"/>
                </a:solidFill>
              </a:rPr>
              <a:t>Parent channel -&gt; normalized source family: Processor Direct -&gt; Processor Embedded; Bank Relationship -&gt; Relationship; Digital Direct -&gt; Paid / Owned / Organic; Strategic Partner -&gt; Strategic Partner; Broker Network -&gt; Broker or Lead.</a:t>
            </a:r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6576" y="655624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E7A81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009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EVIDENCE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420624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832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Requests are right-skewed, while evidence quality is generally strong but verification friction is common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29768" y="877824"/>
            <a:ext cx="108813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E7A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availability is a first-order driver of stress outcomes.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20624" y="1280160"/>
            <a:ext cx="7488936" cy="309981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pic>
        <p:nvPicPr>
          <p:cNvPr id="6" name="Image 0" descr="/mnt/data/cohort_deck_assets/evidence_pro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392484"/>
            <a:ext cx="7452360" cy="287516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38912" y="4398264"/>
            <a:ext cx="7452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6E7A81"/>
                </a:solidFill>
              </a:rPr>
              <a:t>Evidence tiers, verification dispositions, processor continuity, and feature completeness</a:t>
            </a:r>
            <a:endParaRPr lang="en-US" sz="650" dirty="0"/>
          </a:p>
        </p:txBody>
      </p:sp>
      <p:sp>
        <p:nvSpPr>
          <p:cNvPr id="8" name="Shape 5"/>
          <p:cNvSpPr/>
          <p:nvPr/>
        </p:nvSpPr>
        <p:spPr>
          <a:xfrm>
            <a:off x="8119872" y="1399032"/>
            <a:ext cx="3648456" cy="227685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pic>
        <p:nvPicPr>
          <p:cNvPr id="9" name="Image 1" descr="/mnt/data/cohort_deck_assets/request_horizon_distribu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1492236"/>
            <a:ext cx="3611880" cy="20904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138160" y="3694176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6E7A81"/>
                </a:solidFill>
              </a:rPr>
              <a:t>Requested horizon mix</a:t>
            </a:r>
            <a:endParaRPr lang="en-US" sz="650" dirty="0"/>
          </a:p>
        </p:txBody>
      </p:sp>
      <p:sp>
        <p:nvSpPr>
          <p:cNvPr id="11" name="Shape 7"/>
          <p:cNvSpPr/>
          <p:nvPr/>
        </p:nvSpPr>
        <p:spPr>
          <a:xfrm>
            <a:off x="502920" y="4617720"/>
            <a:ext cx="214884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02920" y="4617720"/>
            <a:ext cx="64008" cy="1051560"/>
          </a:xfrm>
          <a:prstGeom prst="rect">
            <a:avLst/>
          </a:prstGeom>
          <a:solidFill>
            <a:srgbClr val="009C95"/>
          </a:solidFill>
          <a:ln w="12700">
            <a:solidFill>
              <a:srgbClr val="009C95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67512" y="4736592"/>
            <a:ext cx="1856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E7A81"/>
                </a:solidFill>
              </a:rPr>
              <a:t>MEDIAN REQUEST</a:t>
            </a:r>
            <a:endParaRPr lang="en-US" sz="820" dirty="0"/>
          </a:p>
        </p:txBody>
      </p:sp>
      <p:sp>
        <p:nvSpPr>
          <p:cNvPr id="14" name="Text 10"/>
          <p:cNvSpPr/>
          <p:nvPr/>
        </p:nvSpPr>
        <p:spPr>
          <a:xfrm>
            <a:off x="667512" y="5029200"/>
            <a:ext cx="1856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8324B"/>
                </a:solidFill>
              </a:rPr>
              <a:t>$9.9K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667512" y="5285232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E7A81"/>
                </a:solidFill>
              </a:rPr>
              <a:t>Mean $25.4K; max $150K</a:t>
            </a:r>
            <a:endParaRPr lang="en-US" sz="720" dirty="0"/>
          </a:p>
        </p:txBody>
      </p:sp>
      <p:sp>
        <p:nvSpPr>
          <p:cNvPr id="16" name="Shape 12"/>
          <p:cNvSpPr/>
          <p:nvPr/>
        </p:nvSpPr>
        <p:spPr>
          <a:xfrm>
            <a:off x="2788920" y="4617720"/>
            <a:ext cx="214884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788920" y="4617720"/>
            <a:ext cx="64008" cy="1051560"/>
          </a:xfrm>
          <a:prstGeom prst="rect">
            <a:avLst/>
          </a:prstGeom>
          <a:solidFill>
            <a:srgbClr val="009C95"/>
          </a:solidFill>
          <a:ln w="12700">
            <a:solidFill>
              <a:srgbClr val="009C95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953512" y="4736592"/>
            <a:ext cx="1856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E7A81"/>
                </a:solidFill>
              </a:rPr>
              <a:t>MEDIAN SALES</a:t>
            </a:r>
            <a:endParaRPr lang="en-US" sz="820" dirty="0"/>
          </a:p>
        </p:txBody>
      </p:sp>
      <p:sp>
        <p:nvSpPr>
          <p:cNvPr id="19" name="Text 15"/>
          <p:cNvSpPr/>
          <p:nvPr/>
        </p:nvSpPr>
        <p:spPr>
          <a:xfrm>
            <a:off x="2953512" y="5029200"/>
            <a:ext cx="1856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8324B"/>
                </a:solidFill>
              </a:rPr>
              <a:t>$690K</a:t>
            </a:r>
            <a:endParaRPr lang="en-US" sz="2200" dirty="0"/>
          </a:p>
        </p:txBody>
      </p:sp>
      <p:sp>
        <p:nvSpPr>
          <p:cNvPr id="20" name="Text 16"/>
          <p:cNvSpPr/>
          <p:nvPr/>
        </p:nvSpPr>
        <p:spPr>
          <a:xfrm>
            <a:off x="2953512" y="5404104"/>
            <a:ext cx="1856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E7A81"/>
                </a:solidFill>
              </a:rPr>
              <a:t>663 merchant profiles with eligible-sales evidence</a:t>
            </a:r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5074920" y="4617720"/>
            <a:ext cx="214884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074920" y="4617720"/>
            <a:ext cx="64008" cy="1051560"/>
          </a:xfrm>
          <a:prstGeom prst="rect">
            <a:avLst/>
          </a:prstGeom>
          <a:solidFill>
            <a:srgbClr val="D19A00"/>
          </a:solidFill>
          <a:ln w="12700">
            <a:solidFill>
              <a:srgbClr val="D19A0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239512" y="4736592"/>
            <a:ext cx="1856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E7A81"/>
                </a:solidFill>
              </a:rPr>
              <a:t>MEDIAN LIQUIDITY</a:t>
            </a:r>
            <a:endParaRPr lang="en-US" sz="820" dirty="0"/>
          </a:p>
        </p:txBody>
      </p:sp>
      <p:sp>
        <p:nvSpPr>
          <p:cNvPr id="24" name="Text 20"/>
          <p:cNvSpPr/>
          <p:nvPr/>
        </p:nvSpPr>
        <p:spPr>
          <a:xfrm>
            <a:off x="5239512" y="5029200"/>
            <a:ext cx="1856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8324B"/>
                </a:solidFill>
              </a:rPr>
              <a:t>$33.9K</a:t>
            </a:r>
            <a:endParaRPr lang="en-US" sz="2200" dirty="0"/>
          </a:p>
        </p:txBody>
      </p:sp>
      <p:sp>
        <p:nvSpPr>
          <p:cNvPr id="25" name="Text 21"/>
          <p:cNvSpPr/>
          <p:nvPr/>
        </p:nvSpPr>
        <p:spPr>
          <a:xfrm>
            <a:off x="5239512" y="5404104"/>
            <a:ext cx="1856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E7A81"/>
                </a:solidFill>
              </a:rPr>
              <a:t>675 merchant profiles with balance evidence</a:t>
            </a:r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7360920" y="4617720"/>
            <a:ext cx="214884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360920" y="4617720"/>
            <a:ext cx="64008" cy="1051560"/>
          </a:xfrm>
          <a:prstGeom prst="rect">
            <a:avLst/>
          </a:prstGeom>
          <a:solidFill>
            <a:srgbClr val="009C95"/>
          </a:solidFill>
          <a:ln w="12700">
            <a:solidFill>
              <a:srgbClr val="009C95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7525512" y="4736592"/>
            <a:ext cx="1856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E7A81"/>
                </a:solidFill>
              </a:rPr>
              <a:t>HIGH CONFIDENCE</a:t>
            </a:r>
            <a:endParaRPr lang="en-US" sz="820" dirty="0"/>
          </a:p>
        </p:txBody>
      </p:sp>
      <p:sp>
        <p:nvSpPr>
          <p:cNvPr id="29" name="Text 25"/>
          <p:cNvSpPr/>
          <p:nvPr/>
        </p:nvSpPr>
        <p:spPr>
          <a:xfrm>
            <a:off x="7525512" y="5029200"/>
            <a:ext cx="1856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8324B"/>
                </a:solidFill>
              </a:rPr>
              <a:t>83.3%</a:t>
            </a:r>
            <a:endParaRPr lang="en-US" sz="2200" dirty="0"/>
          </a:p>
        </p:txBody>
      </p:sp>
      <p:sp>
        <p:nvSpPr>
          <p:cNvPr id="30" name="Text 26"/>
          <p:cNvSpPr/>
          <p:nvPr/>
        </p:nvSpPr>
        <p:spPr>
          <a:xfrm>
            <a:off x="7525512" y="5285232"/>
            <a:ext cx="1856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E7A81"/>
                </a:solidFill>
              </a:rPr>
              <a:t>625 merchant profiles</a:t>
            </a:r>
            <a:endParaRPr lang="en-US" sz="720" dirty="0"/>
          </a:p>
        </p:txBody>
      </p:sp>
      <p:sp>
        <p:nvSpPr>
          <p:cNvPr id="31" name="Shape 27"/>
          <p:cNvSpPr/>
          <p:nvPr/>
        </p:nvSpPr>
        <p:spPr>
          <a:xfrm>
            <a:off x="9646920" y="4617720"/>
            <a:ext cx="2103120" cy="1051560"/>
          </a:xfrm>
          <a:prstGeom prst="roundRect">
            <a:avLst>
              <a:gd name="adj" fmla="val 4348"/>
            </a:avLst>
          </a:prstGeom>
          <a:solidFill>
            <a:srgbClr val="FCEBEA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9646920" y="4617720"/>
            <a:ext cx="64008" cy="1051560"/>
          </a:xfrm>
          <a:prstGeom prst="rect">
            <a:avLst/>
          </a:prstGeom>
          <a:solidFill>
            <a:srgbClr val="D95C59"/>
          </a:solidFill>
          <a:ln w="12700">
            <a:solidFill>
              <a:srgbClr val="D95C59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9811512" y="4736592"/>
            <a:ext cx="1810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E7A81"/>
                </a:solidFill>
              </a:rPr>
              <a:t>VERIFICATION REVIEW</a:t>
            </a:r>
            <a:endParaRPr lang="en-US" sz="820" dirty="0"/>
          </a:p>
        </p:txBody>
      </p:sp>
      <p:sp>
        <p:nvSpPr>
          <p:cNvPr id="34" name="Text 30"/>
          <p:cNvSpPr/>
          <p:nvPr/>
        </p:nvSpPr>
        <p:spPr>
          <a:xfrm>
            <a:off x="9811512" y="5029200"/>
            <a:ext cx="1810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8324B"/>
                </a:solidFill>
              </a:rPr>
              <a:t>49.9%</a:t>
            </a:r>
            <a:endParaRPr lang="en-US" sz="2200" dirty="0"/>
          </a:p>
        </p:txBody>
      </p:sp>
      <p:sp>
        <p:nvSpPr>
          <p:cNvPr id="35" name="Text 31"/>
          <p:cNvSpPr/>
          <p:nvPr/>
        </p:nvSpPr>
        <p:spPr>
          <a:xfrm>
            <a:off x="9811512" y="5285232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E7A81"/>
                </a:solidFill>
              </a:rPr>
              <a:t>374 merchant profiles</a:t>
            </a:r>
            <a:endParaRPr lang="en-US" sz="720" dirty="0"/>
          </a:p>
        </p:txBody>
      </p:sp>
      <p:sp>
        <p:nvSpPr>
          <p:cNvPr id="36" name="Shape 32"/>
          <p:cNvSpPr/>
          <p:nvPr/>
        </p:nvSpPr>
        <p:spPr>
          <a:xfrm>
            <a:off x="438912" y="6062472"/>
            <a:ext cx="11320272" cy="365760"/>
          </a:xfrm>
          <a:prstGeom prst="roundRect">
            <a:avLst>
              <a:gd name="adj" fmla="val 10000"/>
            </a:avLst>
          </a:prstGeom>
          <a:solidFill>
            <a:srgbClr val="EAF5F8"/>
          </a:solidFill>
          <a:ln w="7620">
            <a:solidFill>
              <a:srgbClr val="CBD6DB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603504" y="6163056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E7A81"/>
                </a:solidFill>
              </a:rPr>
              <a:t>The request distribution is skewed: median $9.9K versus mean $25.4K. Evidence confidence is high overall, but nearly half of the cohort requires some verification review.</a:t>
            </a:r>
            <a:endParaRPr lang="en-US" sz="7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6576" y="655624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E7A81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537960"/>
          </a:xfrm>
          <a:prstGeom prst="rect">
            <a:avLst/>
          </a:prstGeom>
          <a:solidFill>
            <a:srgbClr val="009C95"/>
          </a:solidFill>
          <a:ln w="12700">
            <a:solidFill>
              <a:srgbClr val="009C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585216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009C95"/>
                </a:solidFill>
              </a:rPr>
              <a:t>01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640080" y="20574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Decisioning and scenario resilience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67512" y="2944368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4E0E6"/>
                </a:solidFill>
              </a:rPr>
              <a:t>How evidence, structure search, policy controls, and stress floors shape the final decision frontier.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6576" y="655624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C7D3D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009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DECISIONING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420624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832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Seven outcomes separate authorization, review, and decline reasons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29768" y="877824"/>
            <a:ext cx="108813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E7A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framework avoids compressing all non-approvals into one undifferentiated rejection population.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3337560" cy="4251960"/>
          </a:xfrm>
          <a:prstGeom prst="roundRect">
            <a:avLst>
              <a:gd name="adj" fmla="val 1370"/>
            </a:avLst>
          </a:prstGeom>
          <a:solidFill>
            <a:srgbClr val="E7F5F4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417320"/>
            <a:ext cx="54864" cy="4251960"/>
          </a:xfrm>
          <a:prstGeom prst="rect">
            <a:avLst/>
          </a:prstGeom>
          <a:solidFill>
            <a:srgbClr val="009C95"/>
          </a:solidFill>
          <a:ln w="12700">
            <a:solidFill>
              <a:srgbClr val="009C9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45336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8324B"/>
                </a:solidFill>
              </a:rPr>
              <a:t>AUTHORIZED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85800" y="1892808"/>
            <a:ext cx="3026664" cy="3639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Approve as requested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Counteroffer authorized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Downstream effect: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- Physical funding record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- 120-day monitoring path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- Lifecycle, servicing, and certification evidence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69664" y="1417320"/>
            <a:ext cx="3337560" cy="4251960"/>
          </a:xfrm>
          <a:prstGeom prst="roundRect">
            <a:avLst>
              <a:gd name="adj" fmla="val 1370"/>
            </a:avLst>
          </a:prstGeom>
          <a:solidFill>
            <a:srgbClr val="FBF4DF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69664" y="1417320"/>
            <a:ext cx="54864" cy="4251960"/>
          </a:xfrm>
          <a:prstGeom prst="rect">
            <a:avLst/>
          </a:prstGeom>
          <a:solidFill>
            <a:srgbClr val="D19A00"/>
          </a:solidFill>
          <a:ln w="12700">
            <a:solidFill>
              <a:srgbClr val="D19A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52544" y="1545336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8324B"/>
                </a:solidFill>
              </a:rPr>
              <a:t>REVIEW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352544" y="1892808"/>
            <a:ext cx="3026664" cy="3639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Counteroffer review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Manual underwriting review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Downstream effect: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- Proposed/supportable structure may exist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- Specialist judgment required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- No funding or account lifecycle until authorized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836408" y="1417320"/>
            <a:ext cx="3337560" cy="4251960"/>
          </a:xfrm>
          <a:prstGeom prst="roundRect">
            <a:avLst>
              <a:gd name="adj" fmla="val 1370"/>
            </a:avLst>
          </a:prstGeom>
          <a:solidFill>
            <a:srgbClr val="FCEBEA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36408" y="1417320"/>
            <a:ext cx="54864" cy="4251960"/>
          </a:xfrm>
          <a:prstGeom prst="rect">
            <a:avLst/>
          </a:prstGeom>
          <a:solidFill>
            <a:srgbClr val="D95C59"/>
          </a:solidFill>
          <a:ln w="12700">
            <a:solidFill>
              <a:srgbClr val="D95C5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19288" y="1545336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8324B"/>
                </a:solidFill>
              </a:rPr>
              <a:t>DECLINED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019288" y="1892808"/>
            <a:ext cx="3026664" cy="3639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Evidence decline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No feasible structure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Policy hard stop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Downstream effect: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- No funding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- No monitoring or servicing evidence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- Distinct reason preserved for interpretation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38912" y="6062472"/>
            <a:ext cx="11320272" cy="365760"/>
          </a:xfrm>
          <a:prstGeom prst="roundRect">
            <a:avLst>
              <a:gd name="adj" fmla="val 10000"/>
            </a:avLst>
          </a:prstGeom>
          <a:solidFill>
            <a:srgbClr val="EAF5F8"/>
          </a:solidFill>
          <a:ln w="7620">
            <a:solidFill>
              <a:srgbClr val="CBD6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" y="6163056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E7A81"/>
                </a:solidFill>
              </a:rPr>
              <a:t>Supportable path rate = authorized paths + governed review paths. It is broader than the authorized-offer rate and should not be read as an approval rate.</a:t>
            </a:r>
            <a:endParaRPr lang="en-US" sz="7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6576" y="655624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E7A81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009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BI EVIDENCE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420624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832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Baseline command center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29768" y="877824"/>
            <a:ext cx="108813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E7A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primary portfolio view reconciles decisions, funding, risk-adjusted economics, endpoint state, and active attention.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84632" y="1243584"/>
            <a:ext cx="11237976" cy="506577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pic>
        <p:nvPicPr>
          <p:cNvPr id="6" name="Image 0" descr="/mnt/data/_owner_evidence/owner_evidence/captures/Power_BI_Presentation_Capture/Cohort_Command_Center/Merchant_Financing_Cohort_Command_Center_Bas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0952" y="1261872"/>
            <a:ext cx="8705335" cy="5029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327648"/>
            <a:ext cx="11201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6E7A81"/>
                </a:solidFill>
              </a:rPr>
              <a:t>Power BI P01 - Baseline, observation date 2026-11-22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6576" y="655624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E7A81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009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BI EVIDENCE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420624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832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Recession Energy command center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29768" y="877824"/>
            <a:ext cx="108813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E7A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Stress sharply narrows the supportable frontier while preserving clean endpoint reconciliation.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84632" y="1243584"/>
            <a:ext cx="11237976" cy="506577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pic>
        <p:nvPicPr>
          <p:cNvPr id="6" name="Image 0" descr="/mnt/data/_owner_evidence/owner_evidence/captures/Power_BI_Presentation_Capture/Cohort_Command_Center/Merchant_Financing_Cohort_Command_Center_Recession_Energ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3328" y="1261872"/>
            <a:ext cx="8720583" cy="5029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327648"/>
            <a:ext cx="11201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6E7A81"/>
                </a:solidFill>
              </a:rPr>
              <a:t>Power BI P01 - Recession Energy, observation date 2026-11-22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6576" y="655624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E7A81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009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COMPARISON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420624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832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Stress reduces access and economics without creating false improvements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29768" y="877824"/>
            <a:ext cx="108813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E7A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750 merchants are evaluated under both scenarios.</a:t>
            </a:r>
            <a:endParaRPr lang="en-US" sz="10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17320"/>
          <a:ext cx="7498080" cy="4434840"/>
        </p:xfrm>
        <a:graphic>
          <a:graphicData uri="http://schemas.openxmlformats.org/drawingml/2006/table">
            <a:tbl>
              <a:tblPr/>
              <a:tblGrid>
                <a:gridCol w="2834640"/>
                <a:gridCol w="1463040"/>
                <a:gridCol w="1645920"/>
                <a:gridCol w="137160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2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BASELINE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C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RECESSION ENERGY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4B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CHANGE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24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Authorized paths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-76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Supportable paths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Funded amount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$1.385M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$344.2K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-$1.041M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Authorized-offer rate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13.7%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-10.1 pp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Supportable rate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40.0%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10.7%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-29.3 pp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Comparative EL rate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+2.0 pp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Risk-adjusted contribution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$147.98K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$30.03K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-79.7%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Endpoint exposure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$7.82K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-$7.82K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366760" y="1417320"/>
            <a:ext cx="3337560" cy="1874520"/>
          </a:xfrm>
          <a:prstGeom prst="roundRect">
            <a:avLst>
              <a:gd name="adj" fmla="val 2439"/>
            </a:avLst>
          </a:prstGeom>
          <a:solidFill>
            <a:srgbClr val="FCEBEA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366760" y="1417320"/>
            <a:ext cx="54864" cy="1874520"/>
          </a:xfrm>
          <a:prstGeom prst="rect">
            <a:avLst/>
          </a:prstGeom>
          <a:solidFill>
            <a:srgbClr val="D95C59"/>
          </a:solidFill>
          <a:ln w="12700">
            <a:solidFill>
              <a:srgbClr val="D95C5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1545336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8324B"/>
                </a:solidFill>
              </a:rPr>
              <a:t>Access contraction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549640" y="1892808"/>
            <a:ext cx="3026664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Authorized paths fall 73.8%; funded dollars fall 75.2%. The supportable frontier contracts even more broadly from 300 to 80 paths.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8366760" y="3520440"/>
            <a:ext cx="3337560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366760" y="3520440"/>
            <a:ext cx="54864" cy="1874520"/>
          </a:xfrm>
          <a:prstGeom prst="rect">
            <a:avLst/>
          </a:prstGeom>
          <a:solidFill>
            <a:srgbClr val="384B55"/>
          </a:solidFill>
          <a:ln w="12700">
            <a:solidFill>
              <a:srgbClr val="384B5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49640" y="3648456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8324B"/>
                </a:solidFill>
              </a:rPr>
              <a:t>Economics shift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549640" y="3995928"/>
            <a:ext cx="3026664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Expected-loss rate rises while risk-adjusted contribution falls nearly 80%. The smaller stress cohort is economically weaker, not merely smaller.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38912" y="6062472"/>
            <a:ext cx="11320272" cy="365760"/>
          </a:xfrm>
          <a:prstGeom prst="roundRect">
            <a:avLst>
              <a:gd name="adj" fmla="val 10000"/>
            </a:avLst>
          </a:prstGeom>
          <a:solidFill>
            <a:srgbClr val="EAF5F8"/>
          </a:solidFill>
          <a:ln w="7620">
            <a:solidFill>
              <a:srgbClr val="CBD6D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3504" y="6163056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E7A81"/>
                </a:solidFill>
              </a:rPr>
              <a:t>All 27 stress authorizations were already authorized in Baseline; stress produced zero new authorized paths.</a:t>
            </a:r>
            <a:endParaRPr lang="en-US" sz="7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6576" y="655624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E7A81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009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DISTRIBUTION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420624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832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Stress shifts the cohort from review and approval toward evidence decline and no-feasible outcomes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29768" y="877824"/>
            <a:ext cx="108813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E7A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hard stops remain invariant at 117 paths.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84632" y="1280160"/>
            <a:ext cx="7488936" cy="456285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pic>
        <p:nvPicPr>
          <p:cNvPr id="6" name="Image 0" descr="/mnt/data/cohort_deck_assets/decision_outcome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80036"/>
            <a:ext cx="7452360" cy="356310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5861304"/>
            <a:ext cx="7452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6E7A81"/>
                </a:solidFill>
              </a:rPr>
              <a:t>Source: R1FactFinalDecision</a:t>
            </a:r>
            <a:endParaRPr lang="en-US" sz="650" dirty="0"/>
          </a:p>
        </p:txBody>
      </p:sp>
      <p:sp>
        <p:nvSpPr>
          <p:cNvPr id="8" name="Shape 5"/>
          <p:cNvSpPr/>
          <p:nvPr/>
        </p:nvSpPr>
        <p:spPr>
          <a:xfrm>
            <a:off x="8183880" y="1417320"/>
            <a:ext cx="3520440" cy="1234440"/>
          </a:xfrm>
          <a:prstGeom prst="roundRect">
            <a:avLst>
              <a:gd name="adj" fmla="val 3704"/>
            </a:avLst>
          </a:prstGeom>
          <a:solidFill>
            <a:srgbClr val="FCEBEA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183880" y="1417320"/>
            <a:ext cx="54864" cy="1234440"/>
          </a:xfrm>
          <a:prstGeom prst="rect">
            <a:avLst/>
          </a:prstGeom>
          <a:solidFill>
            <a:srgbClr val="D95C59"/>
          </a:solidFill>
          <a:ln w="12700">
            <a:solidFill>
              <a:srgbClr val="D95C5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366760" y="1545336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8324B"/>
                </a:solidFill>
              </a:rPr>
              <a:t>Largest shift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366760" y="1892808"/>
            <a:ext cx="3209544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Evidence declines increase from 43 to 191, a rise of 148 paths.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8183880" y="2834640"/>
            <a:ext cx="352044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183880" y="2834640"/>
            <a:ext cx="54864" cy="1234440"/>
          </a:xfrm>
          <a:prstGeom prst="rect">
            <a:avLst/>
          </a:prstGeom>
          <a:solidFill>
            <a:srgbClr val="384B55"/>
          </a:solidFill>
          <a:ln w="12700">
            <a:solidFill>
              <a:srgbClr val="384B5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66760" y="2962656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8324B"/>
                </a:solidFill>
              </a:rPr>
              <a:t>No-feasible expansion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366760" y="3310128"/>
            <a:ext cx="3209544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No-feasible outcomes rise from 290 to 362 as stressed capacity and the non-improvement floor eliminate candidates.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8183880" y="4251960"/>
            <a:ext cx="3520440" cy="1234440"/>
          </a:xfrm>
          <a:prstGeom prst="roundRect">
            <a:avLst>
              <a:gd name="adj" fmla="val 3704"/>
            </a:avLst>
          </a:prstGeom>
          <a:solidFill>
            <a:srgbClr val="FBF4DF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183880" y="4251960"/>
            <a:ext cx="54864" cy="1234440"/>
          </a:xfrm>
          <a:prstGeom prst="rect">
            <a:avLst/>
          </a:prstGeom>
          <a:solidFill>
            <a:srgbClr val="D19A00"/>
          </a:solidFill>
          <a:ln w="12700">
            <a:solidFill>
              <a:srgbClr val="D19A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66760" y="4379976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8324B"/>
                </a:solidFill>
              </a:rPr>
              <a:t>Review population contracts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8366760" y="4727448"/>
            <a:ext cx="3209544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Counteroffer review falls from 174 to 38 because many Baseline-reviewable paths become evidence declines or no-feasible under stress.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38912" y="6062472"/>
            <a:ext cx="11320272" cy="365760"/>
          </a:xfrm>
          <a:prstGeom prst="roundRect">
            <a:avLst>
              <a:gd name="adj" fmla="val 10000"/>
            </a:avLst>
          </a:prstGeom>
          <a:solidFill>
            <a:srgbClr val="EAF5F8"/>
          </a:solidFill>
          <a:ln w="7620">
            <a:solidFill>
              <a:srgbClr val="CBD6D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03504" y="6163056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E7A81"/>
                </a:solidFill>
              </a:rPr>
              <a:t>The hard-stop population remains 117 in both scenarios, confirming that non-remediable policy boundaries do not soften or worsen merely because scenario assumptions change.</a:t>
            </a:r>
            <a:endParaRPr lang="en-US" sz="7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6576" y="655624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E7A81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009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 MIGRATION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420624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832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236 merchants change governed outcome under Recession Energy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29768" y="877824"/>
            <a:ext cx="108813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E7A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heatmap shows where the fixed Baseline population moves under stress.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84632" y="1280160"/>
            <a:ext cx="6757416" cy="474573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pic>
        <p:nvPicPr>
          <p:cNvPr id="6" name="Image 0" descr="/mnt/data/cohort_deck_assets/outcome_transition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006" y="1298448"/>
            <a:ext cx="5696668" cy="47091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044184"/>
            <a:ext cx="6720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6E7A81"/>
                </a:solidFill>
              </a:rPr>
              <a:t>Rows = Baseline outcome; columns = Recession Energy outcome</a:t>
            </a:r>
            <a:endParaRPr lang="en-US" sz="650" dirty="0"/>
          </a:p>
        </p:txBody>
      </p:sp>
      <p:sp>
        <p:nvSpPr>
          <p:cNvPr id="8" name="Shape 5"/>
          <p:cNvSpPr/>
          <p:nvPr/>
        </p:nvSpPr>
        <p:spPr>
          <a:xfrm>
            <a:off x="7543800" y="1417320"/>
            <a:ext cx="1828800" cy="1051560"/>
          </a:xfrm>
          <a:prstGeom prst="roundRect">
            <a:avLst>
              <a:gd name="adj" fmla="val 4348"/>
            </a:avLst>
          </a:prstGeom>
          <a:solidFill>
            <a:srgbClr val="E7F5F4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543800" y="1417320"/>
            <a:ext cx="64008" cy="1051560"/>
          </a:xfrm>
          <a:prstGeom prst="rect">
            <a:avLst/>
          </a:prstGeom>
          <a:solidFill>
            <a:srgbClr val="009C95"/>
          </a:solidFill>
          <a:ln w="12700">
            <a:solidFill>
              <a:srgbClr val="009C9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08392" y="1536192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E7A81"/>
                </a:solidFill>
              </a:rPr>
              <a:t>UNCHANGED</a:t>
            </a:r>
            <a:endParaRPr lang="en-US" sz="820" dirty="0"/>
          </a:p>
        </p:txBody>
      </p:sp>
      <p:sp>
        <p:nvSpPr>
          <p:cNvPr id="11" name="Text 8"/>
          <p:cNvSpPr/>
          <p:nvPr/>
        </p:nvSpPr>
        <p:spPr>
          <a:xfrm>
            <a:off x="7708392" y="1755648"/>
            <a:ext cx="1536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8324B"/>
                </a:solidFill>
              </a:rPr>
              <a:t>514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708392" y="2231136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E7A81"/>
                </a:solidFill>
              </a:rPr>
              <a:t>68.5% of merchants</a:t>
            </a:r>
            <a:endParaRPr lang="en-US" sz="720" dirty="0"/>
          </a:p>
        </p:txBody>
      </p:sp>
      <p:sp>
        <p:nvSpPr>
          <p:cNvPr id="13" name="Shape 10"/>
          <p:cNvSpPr/>
          <p:nvPr/>
        </p:nvSpPr>
        <p:spPr>
          <a:xfrm>
            <a:off x="9582912" y="1417320"/>
            <a:ext cx="1828800" cy="1051560"/>
          </a:xfrm>
          <a:prstGeom prst="roundRect">
            <a:avLst>
              <a:gd name="adj" fmla="val 4348"/>
            </a:avLst>
          </a:prstGeom>
          <a:solidFill>
            <a:srgbClr val="FCEBEA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582912" y="1417320"/>
            <a:ext cx="64008" cy="1051560"/>
          </a:xfrm>
          <a:prstGeom prst="rect">
            <a:avLst/>
          </a:prstGeom>
          <a:solidFill>
            <a:srgbClr val="D95C59"/>
          </a:solidFill>
          <a:ln w="12700">
            <a:solidFill>
              <a:srgbClr val="D95C5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747504" y="1536192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E7A81"/>
                </a:solidFill>
              </a:rPr>
              <a:t>CHANGED</a:t>
            </a:r>
            <a:endParaRPr lang="en-US" sz="820" dirty="0"/>
          </a:p>
        </p:txBody>
      </p:sp>
      <p:sp>
        <p:nvSpPr>
          <p:cNvPr id="16" name="Text 13"/>
          <p:cNvSpPr/>
          <p:nvPr/>
        </p:nvSpPr>
        <p:spPr>
          <a:xfrm>
            <a:off x="9747504" y="1755648"/>
            <a:ext cx="15361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8324B"/>
                </a:solidFill>
              </a:rPr>
              <a:t>236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9747504" y="2231136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E7A81"/>
                </a:solidFill>
              </a:rPr>
              <a:t>31.5% of merchants</a:t>
            </a:r>
            <a:endParaRPr lang="en-US" sz="720" dirty="0"/>
          </a:p>
        </p:txBody>
      </p:sp>
      <p:sp>
        <p:nvSpPr>
          <p:cNvPr id="18" name="Shape 15"/>
          <p:cNvSpPr/>
          <p:nvPr/>
        </p:nvSpPr>
        <p:spPr>
          <a:xfrm>
            <a:off x="7543800" y="2743200"/>
            <a:ext cx="3867912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543800" y="2743200"/>
            <a:ext cx="54864" cy="1005840"/>
          </a:xfrm>
          <a:prstGeom prst="rect">
            <a:avLst/>
          </a:prstGeom>
          <a:solidFill>
            <a:srgbClr val="D95C59"/>
          </a:solidFill>
          <a:ln w="12700">
            <a:solidFill>
              <a:srgbClr val="D95C5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726680" y="2871216"/>
            <a:ext cx="3557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8324B"/>
                </a:solidFill>
              </a:rPr>
              <a:t>Most common migration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7726680" y="3218688"/>
            <a:ext cx="355701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88 counteroffer-review paths become evidence declines.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7543800" y="3886200"/>
            <a:ext cx="3867912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543800" y="3886200"/>
            <a:ext cx="54864" cy="1005840"/>
          </a:xfrm>
          <a:prstGeom prst="rect">
            <a:avLst/>
          </a:prstGeom>
          <a:solidFill>
            <a:srgbClr val="384B55"/>
          </a:solidFill>
          <a:ln w="12700">
            <a:solidFill>
              <a:srgbClr val="384B5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726680" y="4014216"/>
            <a:ext cx="3557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8324B"/>
                </a:solidFill>
              </a:rPr>
              <a:t>Second-largest migration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7726680" y="4361688"/>
            <a:ext cx="355701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51 counteroffer-review paths become no-feasible structures.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7543800" y="5029200"/>
            <a:ext cx="3867912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543800" y="5029200"/>
            <a:ext cx="54864" cy="1005840"/>
          </a:xfrm>
          <a:prstGeom prst="rect">
            <a:avLst/>
          </a:prstGeom>
          <a:solidFill>
            <a:srgbClr val="D19A00"/>
          </a:solidFill>
          <a:ln w="12700">
            <a:solidFill>
              <a:srgbClr val="D19A0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726680" y="5157216"/>
            <a:ext cx="3557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8324B"/>
                </a:solidFill>
              </a:rPr>
              <a:t>Authorized-path sensitivity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7726680" y="5504688"/>
            <a:ext cx="355701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47 Baseline approvals become evidence declines; 11 become manual-review paths; 9 become no-feasible.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6576" y="655624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E7A81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009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CONTROL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420624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832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stress non-improvement floor prevents artificial scenario improvements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29768" y="877824"/>
            <a:ext cx="108813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E7A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Stress may preserve or worsen a path relative to its matched Baseline route; it cannot manufacture a more favorable decision.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2194560" cy="1234440"/>
          </a:xfrm>
          <a:prstGeom prst="roundRect">
            <a:avLst>
              <a:gd name="adj" fmla="val 3704"/>
            </a:avLst>
          </a:prstGeom>
          <a:solidFill>
            <a:srgbClr val="FBF4DF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463040"/>
            <a:ext cx="64008" cy="1234440"/>
          </a:xfrm>
          <a:prstGeom prst="rect">
            <a:avLst/>
          </a:prstGeom>
          <a:solidFill>
            <a:srgbClr val="D19A00"/>
          </a:solidFill>
          <a:ln w="12700">
            <a:solidFill>
              <a:srgbClr val="D19A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581912"/>
            <a:ext cx="1901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E7A81"/>
                </a:solidFill>
              </a:rPr>
              <a:t>FLOOR APPLIED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667512" y="1874520"/>
            <a:ext cx="1901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8324B"/>
                </a:solidFill>
              </a:rPr>
              <a:t>169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67512" y="2313432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E7A81"/>
                </a:solidFill>
              </a:rPr>
              <a:t>22.5% of merchant paths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2880360" y="1463040"/>
            <a:ext cx="2194560" cy="1234440"/>
          </a:xfrm>
          <a:prstGeom prst="roundRect">
            <a:avLst>
              <a:gd name="adj" fmla="val 3704"/>
            </a:avLst>
          </a:prstGeom>
          <a:solidFill>
            <a:srgbClr val="FCEBEA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80360" y="1463040"/>
            <a:ext cx="64008" cy="1234440"/>
          </a:xfrm>
          <a:prstGeom prst="rect">
            <a:avLst/>
          </a:prstGeom>
          <a:solidFill>
            <a:srgbClr val="D95C59"/>
          </a:solidFill>
          <a:ln w="12700">
            <a:solidFill>
              <a:srgbClr val="D95C5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44952" y="1581912"/>
            <a:ext cx="1901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E7A81"/>
                </a:solidFill>
              </a:rPr>
              <a:t>OUTCOME CHANGES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3044952" y="1874520"/>
            <a:ext cx="1901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8324B"/>
                </a:solidFill>
              </a:rPr>
              <a:t>166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044952" y="2313432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E7A81"/>
                </a:solidFill>
              </a:rPr>
              <a:t>Governed result changed</a:t>
            </a:r>
            <a:endParaRPr lang="en-US" sz="720" dirty="0"/>
          </a:p>
        </p:txBody>
      </p:sp>
      <p:sp>
        <p:nvSpPr>
          <p:cNvPr id="15" name="Shape 13"/>
          <p:cNvSpPr/>
          <p:nvPr/>
        </p:nvSpPr>
        <p:spPr>
          <a:xfrm>
            <a:off x="5257800" y="1463040"/>
            <a:ext cx="2194560" cy="1234440"/>
          </a:xfrm>
          <a:prstGeom prst="roundRect">
            <a:avLst>
              <a:gd name="adj" fmla="val 3704"/>
            </a:avLst>
          </a:prstGeom>
          <a:solidFill>
            <a:srgbClr val="E7F5F4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57800" y="1463040"/>
            <a:ext cx="64008" cy="1234440"/>
          </a:xfrm>
          <a:prstGeom prst="rect">
            <a:avLst/>
          </a:prstGeom>
          <a:solidFill>
            <a:srgbClr val="009C95"/>
          </a:solidFill>
          <a:ln w="12700">
            <a:solidFill>
              <a:srgbClr val="009C9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22392" y="1581912"/>
            <a:ext cx="1901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E7A81"/>
                </a:solidFill>
              </a:rPr>
              <a:t>CANDIDATE CHANGES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5422392" y="1874520"/>
            <a:ext cx="1901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8324B"/>
                </a:solidFill>
              </a:rPr>
              <a:t>39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422392" y="2313432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E7A81"/>
                </a:solidFill>
              </a:rPr>
              <a:t>Selected/reselected candidate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7635240" y="1463040"/>
            <a:ext cx="219456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35240" y="1463040"/>
            <a:ext cx="64008" cy="1234440"/>
          </a:xfrm>
          <a:prstGeom prst="rect">
            <a:avLst/>
          </a:prstGeom>
          <a:solidFill>
            <a:srgbClr val="009C95"/>
          </a:solidFill>
          <a:ln w="12700">
            <a:solidFill>
              <a:srgbClr val="009C9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99832" y="1581912"/>
            <a:ext cx="1901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E7A81"/>
                </a:solidFill>
              </a:rPr>
              <a:t>STRESS-ONLY AUTH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7799832" y="1874520"/>
            <a:ext cx="1901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8324B"/>
                </a:solidFill>
              </a:rPr>
              <a:t>0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799832" y="2313432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E7A81"/>
                </a:solidFill>
              </a:rPr>
              <a:t>No artificial upside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10012680" y="1463040"/>
            <a:ext cx="169164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012680" y="1463040"/>
            <a:ext cx="64008" cy="1234440"/>
          </a:xfrm>
          <a:prstGeom prst="rect">
            <a:avLst/>
          </a:prstGeom>
          <a:solidFill>
            <a:srgbClr val="384B55"/>
          </a:solidFill>
          <a:ln w="12700">
            <a:solidFill>
              <a:srgbClr val="384B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177272" y="1581912"/>
            <a:ext cx="1399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E7A81"/>
                </a:solidFill>
              </a:rPr>
              <a:t>RETAINED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10177272" y="1874520"/>
            <a:ext cx="1399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8324B"/>
                </a:solidFill>
              </a:rPr>
              <a:t>27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0177272" y="2313432"/>
            <a:ext cx="1399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E7A81"/>
                </a:solidFill>
              </a:rPr>
              <a:t>All stress auth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868680" y="3246120"/>
            <a:ext cx="2834640" cy="914400"/>
          </a:xfrm>
          <a:prstGeom prst="chevron">
            <a:avLst/>
          </a:prstGeom>
          <a:solidFill>
            <a:srgbClr val="009C95"/>
          </a:solidFill>
          <a:ln w="12700">
            <a:solidFill>
              <a:srgbClr val="009C9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05840" y="343814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131 paths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Baseline-route non-improvement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886200" y="3246120"/>
            <a:ext cx="2834640" cy="914400"/>
          </a:xfrm>
          <a:prstGeom prst="chevron">
            <a:avLst/>
          </a:prstGeom>
          <a:solidFill>
            <a:srgbClr val="D19A00"/>
          </a:solidFill>
          <a:ln w="12700">
            <a:solidFill>
              <a:srgbClr val="D19A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23360" y="343814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28 paths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Term floor - no eligible candidate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903720" y="3246120"/>
            <a:ext cx="2834640" cy="914400"/>
          </a:xfrm>
          <a:prstGeom prst="chevron">
            <a:avLst/>
          </a:prstGeom>
          <a:solidFill>
            <a:srgbClr val="384B55"/>
          </a:solidFill>
          <a:ln w="12700">
            <a:solidFill>
              <a:srgbClr val="384B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40880" y="343814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10 paths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Term floor - reselection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85800" y="4617720"/>
            <a:ext cx="107442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5800" y="4617720"/>
            <a:ext cx="54864" cy="914400"/>
          </a:xfrm>
          <a:prstGeom prst="rect">
            <a:avLst/>
          </a:prstGeom>
          <a:solidFill>
            <a:srgbClr val="009C95"/>
          </a:solidFill>
          <a:ln w="12700">
            <a:solidFill>
              <a:srgbClr val="009C9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68680" y="4745736"/>
            <a:ext cx="10433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8324B"/>
                </a:solidFill>
              </a:rPr>
              <a:t>Control conclusion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68680" y="5093208"/>
            <a:ext cx="10433304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The floor is a governance constraint, not a post-hoc reporting adjustment. It operates at matched application-scenario identity and is visible in P03 narratives such as merchant 082.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6576" y="655624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E7A81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139" name="R2 interpretation note"/>
          <p:cNvSpPr/>
          <p:nvPr/>
        </p:nvSpPr>
        <p:spPr>
          <a:xfrm>
            <a:off x="502920" y="5806440"/>
            <a:ext cx="111099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E7A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Outcome-change and candidate-change counts are separate, overlapping control dimensions and are not additive.</a:t>
            </a:r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009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AUTHORIZATION RETENTION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420624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832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Only 27 of 103 Baseline-authorized paths remain authorized under stress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29768" y="877824"/>
            <a:ext cx="108813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E7A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Stress eliminates 76 authorizations and creates none.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76072" y="1490472"/>
            <a:ext cx="6803136" cy="245973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pic>
        <p:nvPicPr>
          <p:cNvPr id="6" name="Image 0" descr="/mnt/data/cohort_deck_assets/funding_authorization_reten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4790" y="1508760"/>
            <a:ext cx="6525699" cy="24231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3968496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6E7A81"/>
                </a:solidFill>
              </a:rPr>
              <a:t>Authorization overlap at exact merchant identity</a:t>
            </a:r>
            <a:endParaRPr lang="en-US" sz="650" dirty="0"/>
          </a:p>
        </p:txBody>
      </p:sp>
      <p:sp>
        <p:nvSpPr>
          <p:cNvPr id="8" name="Shape 5"/>
          <p:cNvSpPr/>
          <p:nvPr/>
        </p:nvSpPr>
        <p:spPr>
          <a:xfrm>
            <a:off x="576072" y="3867912"/>
            <a:ext cx="6803136" cy="191109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pic>
        <p:nvPicPr>
          <p:cNvPr id="9" name="Image 1" descr="/mnt/data/cohort_deck_assets/authorized_transition_breakdow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9126" y="3886200"/>
            <a:ext cx="4697028" cy="18745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94360" y="5797296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6E7A81"/>
                </a:solidFill>
              </a:rPr>
              <a:t>Where Baseline-authorized paths move under stress</a:t>
            </a:r>
            <a:endParaRPr lang="en-US" sz="650" dirty="0"/>
          </a:p>
        </p:txBody>
      </p:sp>
      <p:sp>
        <p:nvSpPr>
          <p:cNvPr id="11" name="Shape 7"/>
          <p:cNvSpPr/>
          <p:nvPr/>
        </p:nvSpPr>
        <p:spPr>
          <a:xfrm>
            <a:off x="7635240" y="1508760"/>
            <a:ext cx="1828800" cy="1097280"/>
          </a:xfrm>
          <a:prstGeom prst="roundRect">
            <a:avLst>
              <a:gd name="adj" fmla="val 4167"/>
            </a:avLst>
          </a:prstGeom>
          <a:solidFill>
            <a:srgbClr val="E7F5F4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635240" y="1508760"/>
            <a:ext cx="64008" cy="1097280"/>
          </a:xfrm>
          <a:prstGeom prst="rect">
            <a:avLst/>
          </a:prstGeom>
          <a:solidFill>
            <a:srgbClr val="009C95"/>
          </a:solidFill>
          <a:ln w="12700">
            <a:solidFill>
              <a:srgbClr val="009C95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799832" y="1627632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E7A81"/>
                </a:solidFill>
              </a:rPr>
              <a:t>COUNT RETENTION</a:t>
            </a:r>
            <a:endParaRPr lang="en-US" sz="820" dirty="0"/>
          </a:p>
        </p:txBody>
      </p:sp>
      <p:sp>
        <p:nvSpPr>
          <p:cNvPr id="14" name="Text 10"/>
          <p:cNvSpPr/>
          <p:nvPr/>
        </p:nvSpPr>
        <p:spPr>
          <a:xfrm>
            <a:off x="7799832" y="1920240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8324B"/>
                </a:solidFill>
              </a:rPr>
              <a:t>26.2%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7799832" y="2221992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E7A81"/>
                </a:solidFill>
              </a:rPr>
              <a:t>27 / 103 paths</a:t>
            </a:r>
            <a:endParaRPr lang="en-US" sz="720" dirty="0"/>
          </a:p>
        </p:txBody>
      </p:sp>
      <p:sp>
        <p:nvSpPr>
          <p:cNvPr id="16" name="Shape 12"/>
          <p:cNvSpPr/>
          <p:nvPr/>
        </p:nvSpPr>
        <p:spPr>
          <a:xfrm>
            <a:off x="9710928" y="1508760"/>
            <a:ext cx="182880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9710928" y="1508760"/>
            <a:ext cx="64008" cy="1097280"/>
          </a:xfrm>
          <a:prstGeom prst="rect">
            <a:avLst/>
          </a:prstGeom>
          <a:solidFill>
            <a:srgbClr val="384B55"/>
          </a:solidFill>
          <a:ln w="12700">
            <a:solidFill>
              <a:srgbClr val="384B55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875520" y="1627632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E7A81"/>
                </a:solidFill>
              </a:rPr>
              <a:t>DOLLAR RETENTION</a:t>
            </a:r>
            <a:endParaRPr lang="en-US" sz="820" dirty="0"/>
          </a:p>
        </p:txBody>
      </p:sp>
      <p:sp>
        <p:nvSpPr>
          <p:cNvPr id="19" name="Text 15"/>
          <p:cNvSpPr/>
          <p:nvPr/>
        </p:nvSpPr>
        <p:spPr>
          <a:xfrm>
            <a:off x="9875520" y="1920240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8324B"/>
                </a:solidFill>
              </a:rPr>
              <a:t>24.8%</a:t>
            </a:r>
            <a:endParaRPr lang="en-US" sz="2200" dirty="0"/>
          </a:p>
        </p:txBody>
      </p:sp>
      <p:sp>
        <p:nvSpPr>
          <p:cNvPr id="20" name="Text 16"/>
          <p:cNvSpPr/>
          <p:nvPr/>
        </p:nvSpPr>
        <p:spPr>
          <a:xfrm>
            <a:off x="9875520" y="2221992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E7A81"/>
                </a:solidFill>
              </a:rPr>
              <a:t>$344.2K / $1.385M</a:t>
            </a:r>
            <a:endParaRPr lang="en-US" sz="720" dirty="0"/>
          </a:p>
        </p:txBody>
      </p:sp>
      <p:sp>
        <p:nvSpPr>
          <p:cNvPr id="21" name="Shape 17"/>
          <p:cNvSpPr/>
          <p:nvPr/>
        </p:nvSpPr>
        <p:spPr>
          <a:xfrm>
            <a:off x="7635240" y="2880360"/>
            <a:ext cx="3904488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7635240" y="2880360"/>
            <a:ext cx="54864" cy="1234440"/>
          </a:xfrm>
          <a:prstGeom prst="rect">
            <a:avLst/>
          </a:prstGeom>
          <a:solidFill>
            <a:srgbClr val="D19A00"/>
          </a:solidFill>
          <a:ln w="12700">
            <a:solidFill>
              <a:srgbClr val="D19A0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818120" y="3008376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8324B"/>
                </a:solidFill>
              </a:rPr>
              <a:t>Baseline approvals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7818120" y="3355848"/>
            <a:ext cx="3593592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Only 23 of 92 remain approve-as-requested. Two become counteroffer-authorized; the rest move to review or decline.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7635240" y="4343400"/>
            <a:ext cx="3904488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7635240" y="4343400"/>
            <a:ext cx="54864" cy="1234440"/>
          </a:xfrm>
          <a:prstGeom prst="rect">
            <a:avLst/>
          </a:prstGeom>
          <a:solidFill>
            <a:srgbClr val="D95C59"/>
          </a:solidFill>
          <a:ln w="12700">
            <a:solidFill>
              <a:srgbClr val="D95C59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818120" y="4471416"/>
            <a:ext cx="3593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8324B"/>
                </a:solidFill>
              </a:rPr>
              <a:t>Baseline counteroffers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7818120" y="4818888"/>
            <a:ext cx="3593592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Only 2 of 11 remain counteroffer-authorized; four become evidence declines and four become no-feasible.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6576" y="655624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E7A81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009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 SEARCH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420624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832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engine completed every required search and preserved no-feasible proof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29768" y="877824"/>
            <a:ext cx="108813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E7A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volume falls under stress, while no-feasible outcomes rise because stress-floor inheritance also governs matched routes.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2331720" cy="1234440"/>
          </a:xfrm>
          <a:prstGeom prst="roundRect">
            <a:avLst>
              <a:gd name="adj" fmla="val 3704"/>
            </a:avLst>
          </a:prstGeom>
          <a:solidFill>
            <a:srgbClr val="E7F5F4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463040"/>
            <a:ext cx="64008" cy="1234440"/>
          </a:xfrm>
          <a:prstGeom prst="rect">
            <a:avLst/>
          </a:prstGeom>
          <a:solidFill>
            <a:srgbClr val="009C95"/>
          </a:solidFill>
          <a:ln w="12700">
            <a:solidFill>
              <a:srgbClr val="009C9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581912"/>
            <a:ext cx="2039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E7A81"/>
                </a:solidFill>
              </a:rPr>
              <a:t>BASELINE SEARCHES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667512" y="1874520"/>
            <a:ext cx="20391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8324B"/>
                </a:solidFill>
              </a:rPr>
              <a:t>495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67512" y="2313432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E7A81"/>
                </a:solidFill>
              </a:rPr>
              <a:t>495 attempted and complete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2971800" y="1463040"/>
            <a:ext cx="233172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71800" y="1463040"/>
            <a:ext cx="64008" cy="1234440"/>
          </a:xfrm>
          <a:prstGeom prst="rect">
            <a:avLst/>
          </a:prstGeom>
          <a:solidFill>
            <a:srgbClr val="009C95"/>
          </a:solidFill>
          <a:ln w="12700">
            <a:solidFill>
              <a:srgbClr val="009C9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36392" y="1581912"/>
            <a:ext cx="2039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E7A81"/>
                </a:solidFill>
              </a:rPr>
              <a:t>BASELINE CANDIDATES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3136392" y="1874520"/>
            <a:ext cx="20391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8324B"/>
                </a:solidFill>
              </a:rPr>
              <a:t>4,120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136392" y="2313432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E7A81"/>
                </a:solidFill>
              </a:rPr>
              <a:t>Median 7; max 34</a:t>
            </a:r>
            <a:endParaRPr lang="en-US" sz="720" dirty="0"/>
          </a:p>
        </p:txBody>
      </p:sp>
      <p:sp>
        <p:nvSpPr>
          <p:cNvPr id="15" name="Shape 13"/>
          <p:cNvSpPr/>
          <p:nvPr/>
        </p:nvSpPr>
        <p:spPr>
          <a:xfrm>
            <a:off x="5440680" y="1463040"/>
            <a:ext cx="233172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40680" y="1463040"/>
            <a:ext cx="64008" cy="1234440"/>
          </a:xfrm>
          <a:prstGeom prst="rect">
            <a:avLst/>
          </a:prstGeom>
          <a:solidFill>
            <a:srgbClr val="384B55"/>
          </a:solidFill>
          <a:ln w="12700">
            <a:solidFill>
              <a:srgbClr val="384B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05272" y="1581912"/>
            <a:ext cx="2039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E7A81"/>
                </a:solidFill>
              </a:rPr>
              <a:t>STRESS SEARCHES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5605272" y="1874520"/>
            <a:ext cx="20391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8324B"/>
                </a:solidFill>
              </a:rPr>
              <a:t>285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605272" y="2313432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E7A81"/>
                </a:solidFill>
              </a:rPr>
              <a:t>285 attempted and complete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7909560" y="1463040"/>
            <a:ext cx="233172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09560" y="1463040"/>
            <a:ext cx="64008" cy="1234440"/>
          </a:xfrm>
          <a:prstGeom prst="rect">
            <a:avLst/>
          </a:prstGeom>
          <a:solidFill>
            <a:srgbClr val="384B55"/>
          </a:solidFill>
          <a:ln w="12700">
            <a:solidFill>
              <a:srgbClr val="384B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74152" y="1581912"/>
            <a:ext cx="2039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E7A81"/>
                </a:solidFill>
              </a:rPr>
              <a:t>STRESS CANDIDATES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8074152" y="1874520"/>
            <a:ext cx="20391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8324B"/>
                </a:solidFill>
              </a:rPr>
              <a:t>2,399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074152" y="2313432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E7A81"/>
                </a:solidFill>
              </a:rPr>
              <a:t>Median 7; max 34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10378440" y="1463040"/>
            <a:ext cx="1325880" cy="1234440"/>
          </a:xfrm>
          <a:prstGeom prst="roundRect">
            <a:avLst>
              <a:gd name="adj" fmla="val 3704"/>
            </a:avLst>
          </a:prstGeom>
          <a:solidFill>
            <a:srgbClr val="FBF4DF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378440" y="1463040"/>
            <a:ext cx="64008" cy="1234440"/>
          </a:xfrm>
          <a:prstGeom prst="rect">
            <a:avLst/>
          </a:prstGeom>
          <a:solidFill>
            <a:srgbClr val="D19A00"/>
          </a:solidFill>
          <a:ln w="12700">
            <a:solidFill>
              <a:srgbClr val="D19A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543032" y="1581912"/>
            <a:ext cx="1033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E7A81"/>
                </a:solidFill>
              </a:rPr>
              <a:t>PROOF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10543032" y="1874520"/>
            <a:ext cx="1033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8324B"/>
                </a:solidFill>
              </a:rPr>
              <a:t>100%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0543032" y="2313432"/>
            <a:ext cx="1033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E7A81"/>
                </a:solidFill>
              </a:rPr>
              <a:t>All no-feasible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502920" y="3063240"/>
            <a:ext cx="544068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" y="3063240"/>
            <a:ext cx="54864" cy="2148840"/>
          </a:xfrm>
          <a:prstGeom prst="rect">
            <a:avLst/>
          </a:prstGeom>
          <a:solidFill>
            <a:srgbClr val="009C95"/>
          </a:solidFill>
          <a:ln w="12700">
            <a:solidFill>
              <a:srgbClr val="009C9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3191256"/>
            <a:ext cx="5129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8324B"/>
                </a:solidFill>
              </a:rPr>
              <a:t>Baseline search population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85800" y="3538728"/>
            <a:ext cx="5129784" cy="1536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495 paths required expanded search. The engine evaluated 4,120 governed alternatives and produced 290 no-feasible outcomes with corresponding proofs.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172200" y="3063240"/>
            <a:ext cx="5532120" cy="214884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72200" y="3063240"/>
            <a:ext cx="54864" cy="2148840"/>
          </a:xfrm>
          <a:prstGeom prst="rect">
            <a:avLst/>
          </a:prstGeom>
          <a:solidFill>
            <a:srgbClr val="384B55"/>
          </a:solidFill>
          <a:ln w="12700">
            <a:solidFill>
              <a:srgbClr val="384B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55080" y="3191256"/>
            <a:ext cx="5221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8324B"/>
                </a:solidFill>
              </a:rPr>
              <a:t>Stress search population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355080" y="3538728"/>
            <a:ext cx="5221224" cy="1536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285 paths required direct stress search, but 362 paths ultimately carry no-feasible proof because approved non-improvement-floor routes can inherit a matched Baseline no-feasible conclusion.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38912" y="6062472"/>
            <a:ext cx="11320272" cy="365760"/>
          </a:xfrm>
          <a:prstGeom prst="roundRect">
            <a:avLst>
              <a:gd name="adj" fmla="val 10000"/>
            </a:avLst>
          </a:prstGeom>
          <a:solidFill>
            <a:srgbClr val="EAF5F8"/>
          </a:solidFill>
          <a:ln w="7620">
            <a:solidFill>
              <a:srgbClr val="CBD6D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3504" y="6163056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E7A81"/>
                </a:solidFill>
              </a:rPr>
              <a:t>A no-feasible outcome is a governed search conclusion, not a generic decline label: the architecture preserves candidate evaluation and proof availability.</a:t>
            </a:r>
            <a:endParaRPr lang="en-US" sz="7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6576" y="655624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E7A81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009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PROPOSED STRUCTURES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420624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832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Supportable paths use multiple remediation patterns - not only amount cuts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29768" y="877824"/>
            <a:ext cx="108813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E7A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selected paths preserve the full requested amount; policy-adjusted terms remain targeted.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84632" y="1399032"/>
            <a:ext cx="7626096" cy="332841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pic>
        <p:nvPicPr>
          <p:cNvPr id="6" name="Image 0" descr="/mnt/data/cohort_deck_assets/structure_type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7719" y="1417320"/>
            <a:ext cx="7399922" cy="3291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4745736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6E7A81"/>
                </a:solidFill>
              </a:rPr>
              <a:t>Supportable paths by selected-structure treatment</a:t>
            </a:r>
            <a:endParaRPr lang="en-US" sz="650" dirty="0"/>
          </a:p>
        </p:txBody>
      </p:sp>
      <p:sp>
        <p:nvSpPr>
          <p:cNvPr id="8" name="Shape 5"/>
          <p:cNvSpPr/>
          <p:nvPr/>
        </p:nvSpPr>
        <p:spPr>
          <a:xfrm>
            <a:off x="8366760" y="1508760"/>
            <a:ext cx="3063240" cy="1097280"/>
          </a:xfrm>
          <a:prstGeom prst="roundRect">
            <a:avLst>
              <a:gd name="adj" fmla="val 4167"/>
            </a:avLst>
          </a:prstGeom>
          <a:solidFill>
            <a:srgbClr val="E7F5F4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366760" y="1508760"/>
            <a:ext cx="64008" cy="1097280"/>
          </a:xfrm>
          <a:prstGeom prst="rect">
            <a:avLst/>
          </a:prstGeom>
          <a:solidFill>
            <a:srgbClr val="009C95"/>
          </a:solidFill>
          <a:ln w="12700">
            <a:solidFill>
              <a:srgbClr val="009C9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31352" y="1627632"/>
            <a:ext cx="2770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E7A81"/>
                </a:solidFill>
              </a:rPr>
              <a:t>BASELINE FULL REQUEST</a:t>
            </a:r>
            <a:endParaRPr lang="en-US" sz="820" dirty="0"/>
          </a:p>
        </p:txBody>
      </p:sp>
      <p:sp>
        <p:nvSpPr>
          <p:cNvPr id="11" name="Text 8"/>
          <p:cNvSpPr/>
          <p:nvPr/>
        </p:nvSpPr>
        <p:spPr>
          <a:xfrm>
            <a:off x="8531352" y="1920240"/>
            <a:ext cx="2770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8324B"/>
                </a:solidFill>
              </a:rPr>
              <a:t>115 / 300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531352" y="2221992"/>
            <a:ext cx="2770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E7A81"/>
                </a:solidFill>
              </a:rPr>
              <a:t>38.3% of supportable paths</a:t>
            </a:r>
            <a:endParaRPr lang="en-US" sz="720" dirty="0"/>
          </a:p>
        </p:txBody>
      </p:sp>
      <p:sp>
        <p:nvSpPr>
          <p:cNvPr id="13" name="Shape 10"/>
          <p:cNvSpPr/>
          <p:nvPr/>
        </p:nvSpPr>
        <p:spPr>
          <a:xfrm>
            <a:off x="8366760" y="2788920"/>
            <a:ext cx="306324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366760" y="2788920"/>
            <a:ext cx="64008" cy="1097280"/>
          </a:xfrm>
          <a:prstGeom prst="rect">
            <a:avLst/>
          </a:prstGeom>
          <a:solidFill>
            <a:srgbClr val="384B55"/>
          </a:solidFill>
          <a:ln w="12700">
            <a:solidFill>
              <a:srgbClr val="384B5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531352" y="2907792"/>
            <a:ext cx="2770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E7A81"/>
                </a:solidFill>
              </a:rPr>
              <a:t>STRESS FULL REQUEST</a:t>
            </a:r>
            <a:endParaRPr lang="en-US" sz="820" dirty="0"/>
          </a:p>
        </p:txBody>
      </p:sp>
      <p:sp>
        <p:nvSpPr>
          <p:cNvPr id="16" name="Text 13"/>
          <p:cNvSpPr/>
          <p:nvPr/>
        </p:nvSpPr>
        <p:spPr>
          <a:xfrm>
            <a:off x="8531352" y="3200400"/>
            <a:ext cx="2770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8324B"/>
                </a:solidFill>
              </a:rPr>
              <a:t>38 / 80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8531352" y="3502152"/>
            <a:ext cx="2770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E7A81"/>
                </a:solidFill>
              </a:rPr>
              <a:t>47.5% of supportable paths</a:t>
            </a:r>
            <a:endParaRPr lang="en-US" sz="720" dirty="0"/>
          </a:p>
        </p:txBody>
      </p:sp>
      <p:sp>
        <p:nvSpPr>
          <p:cNvPr id="18" name="Shape 15"/>
          <p:cNvSpPr/>
          <p:nvPr/>
        </p:nvSpPr>
        <p:spPr>
          <a:xfrm>
            <a:off x="8366760" y="4114800"/>
            <a:ext cx="306324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366760" y="4114800"/>
            <a:ext cx="54864" cy="1234440"/>
          </a:xfrm>
          <a:prstGeom prst="rect">
            <a:avLst/>
          </a:prstGeom>
          <a:solidFill>
            <a:srgbClr val="D19A00"/>
          </a:solidFill>
          <a:ln w="12700">
            <a:solidFill>
              <a:srgbClr val="D19A0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549640" y="4242816"/>
            <a:ext cx="2752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18324B"/>
                </a:solidFill>
              </a:rPr>
              <a:t>Selected-structure amount ratio</a:t>
            </a:r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549640" y="4590288"/>
            <a:ext cx="275234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Median selected amount relative to request is 100% in both scenarios. Means are 90.6% in Baseline and 91.5% in Recession Energy. Review-only structures are included; no funding is implied.</a:t>
            </a:r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438912" y="6062472"/>
            <a:ext cx="11320272" cy="365760"/>
          </a:xfrm>
          <a:prstGeom prst="roundRect">
            <a:avLst>
              <a:gd name="adj" fmla="val 10000"/>
            </a:avLst>
          </a:prstGeom>
          <a:solidFill>
            <a:srgbClr val="EAF5F8"/>
          </a:solidFill>
          <a:ln w="7620">
            <a:solidFill>
              <a:srgbClr val="CBD6D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03504" y="6163056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E7A81"/>
                </a:solidFill>
              </a:rPr>
              <a:t>Baseline supportable structure mix: 115 requested, 44 amount reduction, 82 remittance adjustment, 59 combined restructure. Stress: 38, 17, 19, and 6.</a:t>
            </a:r>
            <a:endParaRPr lang="en-US" sz="7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6576" y="655624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E7A81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537960"/>
          </a:xfrm>
          <a:prstGeom prst="rect">
            <a:avLst/>
          </a:prstGeom>
          <a:solidFill>
            <a:srgbClr val="009C95"/>
          </a:solidFill>
          <a:ln w="12700">
            <a:solidFill>
              <a:srgbClr val="009C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585216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009C95"/>
                </a:solidFill>
              </a:rPr>
              <a:t>02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640080" y="20574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Segment performance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67512" y="2944368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4E0E6"/>
                </a:solidFill>
              </a:rPr>
              <a:t>Where funding, supportability, risk, and contribution concentrate across acquisition sources and industries.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6576" y="655624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C7D3D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009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ACQUISITION SOURCE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420624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832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Funding is concentrated in Processor Embedded and Relationship channels in Baseline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29768" y="877824"/>
            <a:ext cx="108813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E7A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Strategic Partner becomes the largest funded-dollar source under stress.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84632" y="1307592"/>
            <a:ext cx="7351776" cy="460857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pic>
        <p:nvPicPr>
          <p:cNvPr id="6" name="Image 0" descr="/mnt/data/cohort_deck_assets/acquisition_funding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94515"/>
            <a:ext cx="7315200" cy="363472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5934456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6E7A81"/>
                </a:solidFill>
              </a:rPr>
              <a:t>Funded amount by source and scenario</a:t>
            </a:r>
            <a:endParaRPr lang="en-US" sz="650" dirty="0"/>
          </a:p>
        </p:txBody>
      </p:sp>
      <p:sp>
        <p:nvSpPr>
          <p:cNvPr id="8" name="Shape 5"/>
          <p:cNvSpPr/>
          <p:nvPr/>
        </p:nvSpPr>
        <p:spPr>
          <a:xfrm>
            <a:off x="8092440" y="1417320"/>
            <a:ext cx="361188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092440" y="1417320"/>
            <a:ext cx="54864" cy="1188720"/>
          </a:xfrm>
          <a:prstGeom prst="rect">
            <a:avLst/>
          </a:prstGeom>
          <a:solidFill>
            <a:srgbClr val="009C95"/>
          </a:solidFill>
          <a:ln w="12700">
            <a:solidFill>
              <a:srgbClr val="009C9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75320" y="1545336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8324B"/>
                </a:solidFill>
              </a:rPr>
              <a:t>Baseline concentration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275320" y="1892808"/>
            <a:ext cx="330098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Processor Embedded ($466K) and Relationship ($418K) account for 63.8% of Baseline funded dollars.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8092440" y="2788920"/>
            <a:ext cx="361188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092440" y="2788920"/>
            <a:ext cx="54864" cy="1188720"/>
          </a:xfrm>
          <a:prstGeom prst="rect">
            <a:avLst/>
          </a:prstGeom>
          <a:solidFill>
            <a:srgbClr val="384B55"/>
          </a:solidFill>
          <a:ln w="12700">
            <a:solidFill>
              <a:srgbClr val="384B5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75320" y="2916936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8324B"/>
                </a:solidFill>
              </a:rPr>
              <a:t>Stress leadership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275320" y="3264408"/>
            <a:ext cx="330098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Strategic Partner leads stress funding at $117.5K, followed by Processor Embedded at $99.9K and Relationship at $93.3K.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8092440" y="4160520"/>
            <a:ext cx="3611880" cy="1188720"/>
          </a:xfrm>
          <a:prstGeom prst="roundRect">
            <a:avLst>
              <a:gd name="adj" fmla="val 3846"/>
            </a:avLst>
          </a:prstGeom>
          <a:solidFill>
            <a:srgbClr val="FCEBEA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092440" y="4160520"/>
            <a:ext cx="54864" cy="1188720"/>
          </a:xfrm>
          <a:prstGeom prst="rect">
            <a:avLst/>
          </a:prstGeom>
          <a:solidFill>
            <a:srgbClr val="D95C59"/>
          </a:solidFill>
          <a:ln w="12700">
            <a:solidFill>
              <a:srgbClr val="D95C5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75320" y="4288536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8324B"/>
                </a:solidFill>
              </a:rPr>
              <a:t>Organic channel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8275320" y="4636008"/>
            <a:ext cx="330098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Organic produces four Baseline funded paths but no stress-funded paths; its supportable rate falls to 4.0%.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6576" y="655624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E7A81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  <p:sp>
        <p:nvSpPr>
          <p:cNvPr id="125" name="R2 interpretation note"/>
          <p:cNvSpPr/>
          <p:nvPr/>
        </p:nvSpPr>
        <p:spPr>
          <a:xfrm>
            <a:off x="502920" y="6291072"/>
            <a:ext cx="111099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E7A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Normalized acquisition-source families are shown; the accepted parent-channel crosswalk is on slide 6.</a:t>
            </a:r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009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ACQUISITION SOURCE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420624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832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Every source experiences a lower supportable rate under stress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29768" y="877824"/>
            <a:ext cx="108813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E7A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size of the decline varies materially by channel.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84632" y="1307592"/>
            <a:ext cx="7443216" cy="460857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pic>
        <p:nvPicPr>
          <p:cNvPr id="6" name="Image 0" descr="/mnt/data/cohort_deck_assets/acquisition_support_ra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02081"/>
            <a:ext cx="7406640" cy="361959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5934456"/>
            <a:ext cx="7406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6E7A81"/>
                </a:solidFill>
              </a:rPr>
              <a:t>Supportable path rate by acquisition source</a:t>
            </a:r>
            <a:endParaRPr lang="en-US" sz="650" dirty="0"/>
          </a:p>
        </p:txBody>
      </p:sp>
      <p:sp>
        <p:nvSpPr>
          <p:cNvPr id="8" name="Shape 5"/>
          <p:cNvSpPr/>
          <p:nvPr/>
        </p:nvSpPr>
        <p:spPr>
          <a:xfrm>
            <a:off x="8183880" y="1417320"/>
            <a:ext cx="352044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183880" y="1417320"/>
            <a:ext cx="54864" cy="1188720"/>
          </a:xfrm>
          <a:prstGeom prst="rect">
            <a:avLst/>
          </a:prstGeom>
          <a:solidFill>
            <a:srgbClr val="009C95"/>
          </a:solidFill>
          <a:ln w="12700">
            <a:solidFill>
              <a:srgbClr val="009C9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366760" y="1545336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8324B"/>
                </a:solidFill>
              </a:rPr>
              <a:t>Highest Baseline rate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366760" y="1892808"/>
            <a:ext cx="320954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Processor Embedded leads at 42.4%, followed by Relationship at 41.5%, Paid at 40.0%, and Strategic Partner at 39.2%.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8183880" y="2788920"/>
            <a:ext cx="352044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183880" y="2788920"/>
            <a:ext cx="54864" cy="1188720"/>
          </a:xfrm>
          <a:prstGeom prst="rect">
            <a:avLst/>
          </a:prstGeom>
          <a:solidFill>
            <a:srgbClr val="384B55"/>
          </a:solidFill>
          <a:ln w="12700">
            <a:solidFill>
              <a:srgbClr val="384B5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66760" y="2916936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8324B"/>
                </a:solidFill>
              </a:rPr>
              <a:t>Highest stress rate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366760" y="3264408"/>
            <a:ext cx="320954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Paid leads at 12.2%, followed by Relationship at 11.9%, Owned at 11.4%, and Processor Embedded at 11.4%.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8183880" y="4160520"/>
            <a:ext cx="3520440" cy="1188720"/>
          </a:xfrm>
          <a:prstGeom prst="roundRect">
            <a:avLst>
              <a:gd name="adj" fmla="val 3846"/>
            </a:avLst>
          </a:prstGeom>
          <a:solidFill>
            <a:srgbClr val="FBF4DF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183880" y="4160520"/>
            <a:ext cx="54864" cy="1188720"/>
          </a:xfrm>
          <a:prstGeom prst="rect">
            <a:avLst/>
          </a:prstGeom>
          <a:solidFill>
            <a:srgbClr val="D19A00"/>
          </a:solidFill>
          <a:ln w="12700">
            <a:solidFill>
              <a:srgbClr val="D19A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66760" y="4288536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8324B"/>
                </a:solidFill>
              </a:rPr>
              <a:t>Retention perspective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8366760" y="4636008"/>
            <a:ext cx="320954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Strategic Partner retains 8 of 16 Baseline-funded accounts and 67% of Baseline funded dollars - the strongest dollar retention among major channels.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6576" y="655624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E7A81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  <p:sp>
        <p:nvSpPr>
          <p:cNvPr id="125" name="R2 interpretation note"/>
          <p:cNvSpPr/>
          <p:nvPr/>
        </p:nvSpPr>
        <p:spPr>
          <a:xfrm>
            <a:off x="502920" y="6291072"/>
            <a:ext cx="111099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E7A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Normalized acquisition-source families are shown; the accepted parent-channel crosswalk is on slide 6.</a:t>
            </a:r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009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ACQUISITION SOURCE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420624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832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Source-level economics show different combinations of volume, resilience, and risk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29768" y="877824"/>
            <a:ext cx="108813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E7A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Normalized source families (crosswalk: slide 6). In this table, Stress = Recession Energy.</a:t>
            </a:r>
            <a:endParaRPr lang="en-US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7909560" cy="4297680"/>
        </p:xfrm>
        <a:graphic>
          <a:graphicData uri="http://schemas.openxmlformats.org/drawingml/2006/table">
            <a:tbl>
              <a:tblPr/>
              <a:tblGrid>
                <a:gridCol w="2011680"/>
                <a:gridCol w="1005840"/>
                <a:gridCol w="1005840"/>
                <a:gridCol w="1051560"/>
                <a:gridCol w="1051560"/>
                <a:gridCol w="868680"/>
                <a:gridCol w="86868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SOURCE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2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BASE FUNDED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C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STRESS FUNDED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4B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BASE SUPPORT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C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STRESS SUPPORT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4B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BASE EL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2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STRESS EL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24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Processor Embedded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$466K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$100K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42.4%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11.4%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10.7%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11.7%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Relationship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$418K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$93K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41.5%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11.9%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6.9%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8.6%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Strategic Partner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$174K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$118K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39.2%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7.5%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9.6%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13.7%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Broker or Lead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$137K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$19K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38.9%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11.1%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11.5%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13.7%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Paid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$86K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$10K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40.0%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12.2%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7.3%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7.2%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Owned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$65K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$5K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31.4%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11.4%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16.2%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21.3%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Organic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$40K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$0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28.0%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4.0%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8.4%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686800" y="1417320"/>
            <a:ext cx="297180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0" y="1417320"/>
            <a:ext cx="54864" cy="1143000"/>
          </a:xfrm>
          <a:prstGeom prst="rect">
            <a:avLst/>
          </a:prstGeom>
          <a:solidFill>
            <a:srgbClr val="009C95"/>
          </a:solidFill>
          <a:ln w="12700">
            <a:solidFill>
              <a:srgbClr val="009C9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869680" y="1545336"/>
            <a:ext cx="266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8324B"/>
                </a:solidFill>
              </a:rPr>
              <a:t>Relationship channel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869680" y="1892808"/>
            <a:ext cx="266090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Combines high Baseline volume with the lowest Baseline expected-loss rate among major sources.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8686800" y="2788920"/>
            <a:ext cx="297180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686800" y="2788920"/>
            <a:ext cx="54864" cy="1143000"/>
          </a:xfrm>
          <a:prstGeom prst="rect">
            <a:avLst/>
          </a:prstGeom>
          <a:solidFill>
            <a:srgbClr val="D19A00"/>
          </a:solidFill>
          <a:ln w="12700">
            <a:solidFill>
              <a:srgbClr val="D19A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869680" y="2916936"/>
            <a:ext cx="266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8324B"/>
                </a:solidFill>
              </a:rPr>
              <a:t>Strategic Partner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869680" y="3264408"/>
            <a:ext cx="266090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Shows the best funded-dollar resilience but a materially higher stress expected-loss rate.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8686800" y="4160520"/>
            <a:ext cx="2971800" cy="1143000"/>
          </a:xfrm>
          <a:prstGeom prst="roundRect">
            <a:avLst>
              <a:gd name="adj" fmla="val 4000"/>
            </a:avLst>
          </a:prstGeom>
          <a:solidFill>
            <a:srgbClr val="FCEBEA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686800" y="4160520"/>
            <a:ext cx="54864" cy="1143000"/>
          </a:xfrm>
          <a:prstGeom prst="rect">
            <a:avLst/>
          </a:prstGeom>
          <a:solidFill>
            <a:srgbClr val="D95C59"/>
          </a:solidFill>
          <a:ln w="12700">
            <a:solidFill>
              <a:srgbClr val="D95C5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869680" y="4288536"/>
            <a:ext cx="266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8324B"/>
                </a:solidFill>
              </a:rPr>
              <a:t>Owned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869680" y="4636008"/>
            <a:ext cx="266090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Small volume but the highest expected-loss rates in both scenarios; selection remains particularly conservative.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6576" y="655624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E7A81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  <p:sp>
        <p:nvSpPr>
          <p:cNvPr id="125" name="R2 interpretation note"/>
          <p:cNvSpPr/>
          <p:nvPr/>
        </p:nvSpPr>
        <p:spPr>
          <a:xfrm>
            <a:off x="502920" y="5879592"/>
            <a:ext cx="111099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E7A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 expected-loss rates describe scenario-specific selected funded cohorts. A lower aggregate rate under stress may reflect selection/composition, not matched-path improvement; the path-level stress non-improvement floor remains controlling.</a:t>
            </a:r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009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INDUSTRY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420624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832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Baseline industries occupy distinct risk-contribution positions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29768" y="877824"/>
            <a:ext cx="108813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E7A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Bubble size represents funded amount; axes show risk-adjusted contribution and comparative expected-loss rate.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84632" y="1261872"/>
            <a:ext cx="6665976" cy="483717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pic>
        <p:nvPicPr>
          <p:cNvPr id="6" name="Image 0" descr="/mnt/data/cohort_deck_assets/industry_risk_bas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38218"/>
            <a:ext cx="6629400" cy="46844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117336"/>
            <a:ext cx="6629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6E7A81"/>
                </a:solidFill>
              </a:rPr>
              <a:t>Baseline industry risk and economics</a:t>
            </a:r>
            <a:endParaRPr lang="en-US" sz="650" dirty="0"/>
          </a:p>
        </p:txBody>
      </p:sp>
      <p:sp>
        <p:nvSpPr>
          <p:cNvPr id="8" name="Shape 5"/>
          <p:cNvSpPr/>
          <p:nvPr/>
        </p:nvSpPr>
        <p:spPr>
          <a:xfrm>
            <a:off x="7406640" y="1417320"/>
            <a:ext cx="425196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406640" y="1417320"/>
            <a:ext cx="54864" cy="1143000"/>
          </a:xfrm>
          <a:prstGeom prst="rect">
            <a:avLst/>
          </a:prstGeom>
          <a:solidFill>
            <a:srgbClr val="AE78A9"/>
          </a:solidFill>
          <a:ln w="12700">
            <a:solidFill>
              <a:srgbClr val="AE78A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0" y="1545336"/>
            <a:ext cx="3941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8324B"/>
                </a:solidFill>
              </a:rPr>
              <a:t>Transportation &amp; Logistics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589520" y="1892808"/>
            <a:ext cx="39410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Highest Baseline funded amount ($337.4K) and contribution ($35.9K), with 11.1% expected loss.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7406640" y="2788920"/>
            <a:ext cx="425196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406640" y="2788920"/>
            <a:ext cx="54864" cy="1143000"/>
          </a:xfrm>
          <a:prstGeom prst="rect">
            <a:avLst/>
          </a:prstGeom>
          <a:solidFill>
            <a:srgbClr val="7DC6D8"/>
          </a:solidFill>
          <a:ln w="12700">
            <a:solidFill>
              <a:srgbClr val="7DC6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589520" y="2916936"/>
            <a:ext cx="3941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8324B"/>
                </a:solidFill>
              </a:rPr>
              <a:t>Professional Services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589520" y="3264408"/>
            <a:ext cx="39410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Highest supportable rate (58.0%) and 30 funded accounts; $314.8K funded with 7.3% expected loss.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7406640" y="4160520"/>
            <a:ext cx="425196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406640" y="4160520"/>
            <a:ext cx="54864" cy="1143000"/>
          </a:xfrm>
          <a:prstGeom prst="rect">
            <a:avLst/>
          </a:prstGeom>
          <a:solidFill>
            <a:srgbClr val="009C95"/>
          </a:solidFill>
          <a:ln w="12700">
            <a:solidFill>
              <a:srgbClr val="009C9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589520" y="4288536"/>
            <a:ext cx="3941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8324B"/>
                </a:solidFill>
              </a:rPr>
              <a:t>Healthcare Services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7589520" y="4636008"/>
            <a:ext cx="39410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Lowest Baseline expected-loss rate (6.25%) and a 43.9% supportable rate, though funded dollars are comparatively modest.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6576" y="655624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E7A81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009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INDUSTRY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420624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832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Stress preserves a narrow set of sector opportunities and widens risk dispersion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29768" y="877824"/>
            <a:ext cx="108813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E7A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Energy Services reaches the highest stress expected-loss rate; Transportation retains the most funded dollars.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84632" y="1261872"/>
            <a:ext cx="6665976" cy="483717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pic>
        <p:nvPicPr>
          <p:cNvPr id="6" name="Image 0" descr="/mnt/data/cohort_deck_assets/industry_risk_recession_energ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38218"/>
            <a:ext cx="6629400" cy="42272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5669280"/>
            <a:ext cx="6629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6E7A81"/>
                </a:solidFill>
              </a:rPr>
              <a:t>Recession Energy industry risk and economics</a:t>
            </a:r>
            <a:endParaRPr lang="en-US" sz="650" dirty="0"/>
          </a:p>
        </p:txBody>
      </p:sp>
      <p:sp>
        <p:nvSpPr>
          <p:cNvPr id="8" name="Shape 5"/>
          <p:cNvSpPr/>
          <p:nvPr/>
        </p:nvSpPr>
        <p:spPr>
          <a:xfrm>
            <a:off x="7406640" y="1417320"/>
            <a:ext cx="425196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406640" y="1417320"/>
            <a:ext cx="54864" cy="1143000"/>
          </a:xfrm>
          <a:prstGeom prst="rect">
            <a:avLst/>
          </a:prstGeom>
          <a:solidFill>
            <a:srgbClr val="AE78A9"/>
          </a:solidFill>
          <a:ln w="12700">
            <a:solidFill>
              <a:srgbClr val="AE78A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0" y="1545336"/>
            <a:ext cx="3941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8324B"/>
                </a:solidFill>
              </a:rPr>
              <a:t>Transportation &amp; Logistics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589520" y="1892808"/>
            <a:ext cx="39410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Retains 7 funded accounts and $139.5K - the largest stress funded amount and contribution ($11.1K).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7406640" y="2788920"/>
            <a:ext cx="425196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406640" y="2788920"/>
            <a:ext cx="54864" cy="1143000"/>
          </a:xfrm>
          <a:prstGeom prst="rect">
            <a:avLst/>
          </a:prstGeom>
          <a:solidFill>
            <a:srgbClr val="7DC6D8"/>
          </a:solidFill>
          <a:ln w="12700">
            <a:solidFill>
              <a:srgbClr val="7DC6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589520" y="2916936"/>
            <a:ext cx="3941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8324B"/>
                </a:solidFill>
              </a:rPr>
              <a:t>Professional Services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589520" y="3264408"/>
            <a:ext cx="39410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Highest stress supportable rate at 21.4%, but funded amount falls to $67.1K.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7406640" y="4160520"/>
            <a:ext cx="4251960" cy="1143000"/>
          </a:xfrm>
          <a:prstGeom prst="roundRect">
            <a:avLst>
              <a:gd name="adj" fmla="val 4000"/>
            </a:avLst>
          </a:prstGeom>
          <a:solidFill>
            <a:srgbClr val="FCEBEA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406640" y="4160520"/>
            <a:ext cx="54864" cy="1143000"/>
          </a:xfrm>
          <a:prstGeom prst="rect">
            <a:avLst/>
          </a:prstGeom>
          <a:solidFill>
            <a:srgbClr val="D95C59"/>
          </a:solidFill>
          <a:ln w="12700">
            <a:solidFill>
              <a:srgbClr val="D95C5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589520" y="4288536"/>
            <a:ext cx="3941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8324B"/>
                </a:solidFill>
              </a:rPr>
              <a:t>Energy Services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7589520" y="4636008"/>
            <a:ext cx="394106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Stress expected-loss rate rises to 21.6%, the highest sector result, while only two paths are funded.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6576" y="655624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E7A81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  <p:sp>
        <p:nvSpPr>
          <p:cNvPr id="125" name="R2 interpretation note"/>
          <p:cNvSpPr/>
          <p:nvPr/>
        </p:nvSpPr>
        <p:spPr>
          <a:xfrm>
            <a:off x="502920" y="5943600"/>
            <a:ext cx="1110996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E7A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 expected-loss rates describe scenario-specific selected funded cohorts. A lower aggregate rate under stress may reflect selection/composition, not matched-path improvement; the path-level stress non-improvement floor remains controlling.</a:t>
            </a:r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009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INDUSTRY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420624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832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Stress funding contraction is broad but uneven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29768" y="877824"/>
            <a:ext cx="108813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E7A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Transportation, Healthcare, and Restaurant retain a larger share of funded dollars than several other sectors.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84632" y="1261872"/>
            <a:ext cx="7443216" cy="460857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pic>
        <p:nvPicPr>
          <p:cNvPr id="6" name="Image 0" descr="/mnt/data/cohort_deck_assets/industry_funding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41849"/>
            <a:ext cx="7406640" cy="38486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5888736"/>
            <a:ext cx="7406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6E7A81"/>
                </a:solidFill>
              </a:rPr>
              <a:t>Funded amount by industry and scenario</a:t>
            </a:r>
            <a:endParaRPr lang="en-US" sz="650" dirty="0"/>
          </a:p>
        </p:txBody>
      </p:sp>
      <p:sp>
        <p:nvSpPr>
          <p:cNvPr id="8" name="Shape 5"/>
          <p:cNvSpPr/>
          <p:nvPr/>
        </p:nvSpPr>
        <p:spPr>
          <a:xfrm>
            <a:off x="8183880" y="1417320"/>
            <a:ext cx="347472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183880" y="1417320"/>
            <a:ext cx="54864" cy="1097280"/>
          </a:xfrm>
          <a:prstGeom prst="rect">
            <a:avLst/>
          </a:prstGeom>
          <a:solidFill>
            <a:srgbClr val="009C95"/>
          </a:solidFill>
          <a:ln w="12700">
            <a:solidFill>
              <a:srgbClr val="009C9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366760" y="1545336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8324B"/>
                </a:solidFill>
              </a:rPr>
              <a:t>Largest absolute base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366760" y="1892808"/>
            <a:ext cx="3163824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Transportation and Professional Services together represent 47.1% of Baseline funded dollars.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8183880" y="2743200"/>
            <a:ext cx="3474720" cy="1097280"/>
          </a:xfrm>
          <a:prstGeom prst="roundRect">
            <a:avLst>
              <a:gd name="adj" fmla="val 4167"/>
            </a:avLst>
          </a:prstGeom>
          <a:solidFill>
            <a:srgbClr val="FCEBEA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183880" y="2743200"/>
            <a:ext cx="54864" cy="1097280"/>
          </a:xfrm>
          <a:prstGeom prst="rect">
            <a:avLst/>
          </a:prstGeom>
          <a:solidFill>
            <a:srgbClr val="D95C59"/>
          </a:solidFill>
          <a:ln w="12700">
            <a:solidFill>
              <a:srgbClr val="D95C5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66760" y="2871216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8324B"/>
                </a:solidFill>
              </a:rPr>
              <a:t>Distinct stress dimensions</a:t>
            </a:r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366760" y="3218688"/>
            <a:ext cx="3163824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Energy carries the highest stress comparative expected-loss rate; Transportation retains the largest stress-funded amount. Interpret these industry dimensions separately.</a:t>
            </a:r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8183880" y="4069080"/>
            <a:ext cx="347472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183880" y="4069080"/>
            <a:ext cx="54864" cy="1097280"/>
          </a:xfrm>
          <a:prstGeom prst="rect">
            <a:avLst/>
          </a:prstGeom>
          <a:solidFill>
            <a:srgbClr val="384B55"/>
          </a:solidFill>
          <a:ln w="12700">
            <a:solidFill>
              <a:srgbClr val="384B5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66760" y="4197096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8324B"/>
                </a:solidFill>
              </a:rPr>
              <a:t>Portfolio implication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8366760" y="4544568"/>
            <a:ext cx="3163824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Sector diversification does not remove scenario sensitivity; the most resilient dollar concentrations still contract materially.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6576" y="655624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E7A81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537960"/>
          </a:xfrm>
          <a:prstGeom prst="rect">
            <a:avLst/>
          </a:prstGeom>
          <a:solidFill>
            <a:srgbClr val="009C95"/>
          </a:solidFill>
          <a:ln w="12700">
            <a:solidFill>
              <a:srgbClr val="009C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585216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009C95"/>
                </a:solidFill>
              </a:rPr>
              <a:t>03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640080" y="20574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Funded-cohort lifecycle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67512" y="2944368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4E0E6"/>
                </a:solidFill>
              </a:rPr>
              <a:t>How the authorized cohort runs off, pays against plan, generates alerts, and reaches its governed endpoint.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6576" y="655624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C7D3D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009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BI EVIDENCE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420624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832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Baseline cohort lifecycle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29768" y="877824"/>
            <a:ext cx="108813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E7A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funded cohort runs from activation through receivable runoff, remittance performance, monitoring, and payoff timing.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84632" y="1243584"/>
            <a:ext cx="11237976" cy="506577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pic>
        <p:nvPicPr>
          <p:cNvPr id="6" name="Image 0" descr="/mnt/data/_owner_evidence/owner_evidence/captures/Power_BI_Presentation_Capture/Cohort_Lifecycle/Merchant_Financing_Cohort_Lifecycle_Bas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2506" y="1261872"/>
            <a:ext cx="8722229" cy="5029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327648"/>
            <a:ext cx="11201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6E7A81"/>
                </a:solidFill>
              </a:rPr>
              <a:t>Power BI P02 - Baseline lifecycle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6576" y="655624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E7A81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009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BI EVIDENCE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420624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832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Recession Energy cohort lifecycle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29768" y="877824"/>
            <a:ext cx="108813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E7A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smaller stress-funded cohort reaches full payoff with no endpoint exposure or operational servicing population.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84632" y="1243584"/>
            <a:ext cx="11237976" cy="506577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pic>
        <p:nvPicPr>
          <p:cNvPr id="6" name="Image 0" descr="/mnt/data/_owner_evidence/owner_evidence/captures/Power_BI_Presentation_Capture/Cohort_Lifecycle/Merchant_Financing_Cohort_Lifecycle_Recession_Energ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1751" y="1261872"/>
            <a:ext cx="8743739" cy="5029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327648"/>
            <a:ext cx="11201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6E7A81"/>
                </a:solidFill>
              </a:rPr>
              <a:t>Power BI P02 - Recession Energy lifecycle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6576" y="655624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E7A81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009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LIFECYCLE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420624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832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Receivable runoff is steep in both funded cohorts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29768" y="877824"/>
            <a:ext cx="108813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E7A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 starts with a much larger repayment receivable and ends with four residual-exposure accounts.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84632" y="1353312"/>
            <a:ext cx="7717536" cy="451713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pic>
        <p:nvPicPr>
          <p:cNvPr id="6" name="Image 0" descr="/mnt/data/cohort_deck_assets/lifecycle_receivable_runo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39130"/>
            <a:ext cx="7680960" cy="3745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5888736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6E7A81"/>
                </a:solidFill>
              </a:rPr>
              <a:t>Daily receivable balance across the governed 120-day lifecycle</a:t>
            </a:r>
            <a:endParaRPr lang="en-US" sz="650" dirty="0"/>
          </a:p>
        </p:txBody>
      </p:sp>
      <p:sp>
        <p:nvSpPr>
          <p:cNvPr id="8" name="Shape 5"/>
          <p:cNvSpPr/>
          <p:nvPr/>
        </p:nvSpPr>
        <p:spPr>
          <a:xfrm>
            <a:off x="8458200" y="1508760"/>
            <a:ext cx="2971800" cy="1097280"/>
          </a:xfrm>
          <a:prstGeom prst="roundRect">
            <a:avLst>
              <a:gd name="adj" fmla="val 4167"/>
            </a:avLst>
          </a:prstGeom>
          <a:solidFill>
            <a:srgbClr val="FBF4DF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458200" y="1508760"/>
            <a:ext cx="64008" cy="1097280"/>
          </a:xfrm>
          <a:prstGeom prst="rect">
            <a:avLst/>
          </a:prstGeom>
          <a:solidFill>
            <a:srgbClr val="D19A00"/>
          </a:solidFill>
          <a:ln w="12700">
            <a:solidFill>
              <a:srgbClr val="D19A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22792" y="1627632"/>
            <a:ext cx="2679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E7A81"/>
                </a:solidFill>
              </a:rPr>
              <a:t>BASELINE ENDPOINT</a:t>
            </a:r>
            <a:endParaRPr lang="en-US" sz="820" dirty="0"/>
          </a:p>
        </p:txBody>
      </p:sp>
      <p:sp>
        <p:nvSpPr>
          <p:cNvPr id="11" name="Text 8"/>
          <p:cNvSpPr/>
          <p:nvPr/>
        </p:nvSpPr>
        <p:spPr>
          <a:xfrm>
            <a:off x="8622792" y="1920240"/>
            <a:ext cx="2679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8324B"/>
                </a:solidFill>
              </a:rPr>
              <a:t>$7,823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622792" y="2221992"/>
            <a:ext cx="2679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E7A81"/>
                </a:solidFill>
              </a:rPr>
              <a:t>4 adverse accounts</a:t>
            </a:r>
            <a:endParaRPr lang="en-US" sz="720" dirty="0"/>
          </a:p>
        </p:txBody>
      </p:sp>
      <p:sp>
        <p:nvSpPr>
          <p:cNvPr id="13" name="Shape 10"/>
          <p:cNvSpPr/>
          <p:nvPr/>
        </p:nvSpPr>
        <p:spPr>
          <a:xfrm>
            <a:off x="8458200" y="2880360"/>
            <a:ext cx="2971800" cy="1097280"/>
          </a:xfrm>
          <a:prstGeom prst="roundRect">
            <a:avLst>
              <a:gd name="adj" fmla="val 4167"/>
            </a:avLst>
          </a:prstGeom>
          <a:solidFill>
            <a:srgbClr val="E7F5F4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458200" y="2880360"/>
            <a:ext cx="64008" cy="1097280"/>
          </a:xfrm>
          <a:prstGeom prst="rect">
            <a:avLst/>
          </a:prstGeom>
          <a:solidFill>
            <a:srgbClr val="009C95"/>
          </a:solidFill>
          <a:ln w="12700">
            <a:solidFill>
              <a:srgbClr val="009C9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22792" y="2999232"/>
            <a:ext cx="2679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E7A81"/>
                </a:solidFill>
              </a:rPr>
              <a:t>STRESS ENDPOINT</a:t>
            </a:r>
            <a:endParaRPr lang="en-US" sz="820" dirty="0"/>
          </a:p>
        </p:txBody>
      </p:sp>
      <p:sp>
        <p:nvSpPr>
          <p:cNvPr id="16" name="Text 13"/>
          <p:cNvSpPr/>
          <p:nvPr/>
        </p:nvSpPr>
        <p:spPr>
          <a:xfrm>
            <a:off x="8622792" y="3291840"/>
            <a:ext cx="2679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8324B"/>
                </a:solidFill>
              </a:rPr>
              <a:t>$0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8622792" y="3593592"/>
            <a:ext cx="2679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E7A81"/>
                </a:solidFill>
              </a:rPr>
              <a:t>27 of 27 paid off</a:t>
            </a:r>
            <a:endParaRPr lang="en-US" sz="720" dirty="0"/>
          </a:p>
        </p:txBody>
      </p:sp>
      <p:sp>
        <p:nvSpPr>
          <p:cNvPr id="18" name="Shape 15"/>
          <p:cNvSpPr/>
          <p:nvPr/>
        </p:nvSpPr>
        <p:spPr>
          <a:xfrm>
            <a:off x="8458200" y="4251960"/>
            <a:ext cx="297180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458200" y="4251960"/>
            <a:ext cx="54864" cy="1097280"/>
          </a:xfrm>
          <a:prstGeom prst="rect">
            <a:avLst/>
          </a:prstGeom>
          <a:solidFill>
            <a:srgbClr val="384B55"/>
          </a:solidFill>
          <a:ln w="12700">
            <a:solidFill>
              <a:srgbClr val="384B5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41080" y="4379976"/>
            <a:ext cx="266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8324B"/>
                </a:solidFill>
              </a:rPr>
              <a:t>Interpretation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8641080" y="4727448"/>
            <a:ext cx="2660904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Runoff is deterministic synthetic-forward account evidence. It validates lifecycle mechanics and portfolio behavior; it is not a forecast of real collections.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6576" y="655624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E7A81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009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LIFECYCLE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420624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832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Cumulative remittance converges to plan after early overperformance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29768" y="877824"/>
            <a:ext cx="108813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E7A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Baseline cohort finishes slightly below 100%; the stress cohort closes at exactly 100%.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84632" y="1353312"/>
            <a:ext cx="7717536" cy="451713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pic>
        <p:nvPicPr>
          <p:cNvPr id="6" name="Image 0" descr="/mnt/data/cohort_deck_assets/lifecycle_remittance_fulfill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76624"/>
            <a:ext cx="7680960" cy="367051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5888736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6E7A81"/>
                </a:solidFill>
              </a:rPr>
              <a:t>Cumulative actual remittance divided by governed expected-to-date</a:t>
            </a:r>
            <a:endParaRPr lang="en-US" sz="650" dirty="0"/>
          </a:p>
        </p:txBody>
      </p:sp>
      <p:sp>
        <p:nvSpPr>
          <p:cNvPr id="8" name="Shape 5"/>
          <p:cNvSpPr/>
          <p:nvPr/>
        </p:nvSpPr>
        <p:spPr>
          <a:xfrm>
            <a:off x="8458200" y="1508760"/>
            <a:ext cx="297180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458200" y="1508760"/>
            <a:ext cx="54864" cy="1143000"/>
          </a:xfrm>
          <a:prstGeom prst="rect">
            <a:avLst/>
          </a:prstGeom>
          <a:solidFill>
            <a:srgbClr val="009C95"/>
          </a:solidFill>
          <a:ln w="12700">
            <a:solidFill>
              <a:srgbClr val="009C9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41080" y="1636776"/>
            <a:ext cx="266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8324B"/>
                </a:solidFill>
              </a:rPr>
              <a:t>Baseline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641080" y="1984248"/>
            <a:ext cx="266090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Starts above plan because early remittance is concentrated relative to expected-to-date, then converges to 99.5% at endpoint.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8458200" y="2926080"/>
            <a:ext cx="297180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458200" y="2926080"/>
            <a:ext cx="54864" cy="1143000"/>
          </a:xfrm>
          <a:prstGeom prst="rect">
            <a:avLst/>
          </a:prstGeom>
          <a:solidFill>
            <a:srgbClr val="384B55"/>
          </a:solidFill>
          <a:ln w="12700">
            <a:solidFill>
              <a:srgbClr val="384B5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41080" y="3054096"/>
            <a:ext cx="266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8324B"/>
                </a:solidFill>
              </a:rPr>
              <a:t>Recession Energy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641080" y="3401568"/>
            <a:ext cx="266090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The smaller funded cohort converges to 100.0% and carries no endpoint exposure.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8458200" y="4343400"/>
            <a:ext cx="297180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458200" y="4343400"/>
            <a:ext cx="54864" cy="1005840"/>
          </a:xfrm>
          <a:prstGeom prst="rect">
            <a:avLst/>
          </a:prstGeom>
          <a:solidFill>
            <a:srgbClr val="D19A00"/>
          </a:solidFill>
          <a:ln w="12700">
            <a:solidFill>
              <a:srgbClr val="D19A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641080" y="4471416"/>
            <a:ext cx="266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8324B"/>
                </a:solidFill>
              </a:rPr>
              <a:t>Control point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8641080" y="4818888"/>
            <a:ext cx="266090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Expected-to-date is reconstructed from canonical R1 monitoring semantics; it does not rely on the deprecated predecessor daily table.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6576" y="655624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E7A81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009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LIFECYCLE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420624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832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Operational alerts peak before declining to a four-account endpoint population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29768" y="877824"/>
            <a:ext cx="108813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E7A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 breadth and adverse status are related but distinct monitoring concepts.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84632" y="1307592"/>
            <a:ext cx="7717536" cy="456285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pic>
        <p:nvPicPr>
          <p:cNvPr id="6" name="Image 0" descr="/mnt/data/cohort_deck_assets/baseline_monitoring_bread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06147"/>
            <a:ext cx="7680960" cy="376574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5888736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6E7A81"/>
                </a:solidFill>
              </a:rPr>
              <a:t>Baseline monitoring breadth and adverse-status counts</a:t>
            </a:r>
            <a:endParaRPr lang="en-US" sz="650" dirty="0"/>
          </a:p>
        </p:txBody>
      </p:sp>
      <p:sp>
        <p:nvSpPr>
          <p:cNvPr id="8" name="Shape 5"/>
          <p:cNvSpPr/>
          <p:nvPr/>
        </p:nvSpPr>
        <p:spPr>
          <a:xfrm>
            <a:off x="8458200" y="1508760"/>
            <a:ext cx="2926080" cy="1051560"/>
          </a:xfrm>
          <a:prstGeom prst="roundRect">
            <a:avLst>
              <a:gd name="adj" fmla="val 4348"/>
            </a:avLst>
          </a:prstGeom>
          <a:solidFill>
            <a:srgbClr val="E7F5F4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458200" y="1508760"/>
            <a:ext cx="64008" cy="1051560"/>
          </a:xfrm>
          <a:prstGeom prst="rect">
            <a:avLst/>
          </a:prstGeom>
          <a:solidFill>
            <a:srgbClr val="009C95"/>
          </a:solidFill>
          <a:ln w="12700">
            <a:solidFill>
              <a:srgbClr val="009C9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22792" y="1627632"/>
            <a:ext cx="2633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E7A81"/>
                </a:solidFill>
              </a:rPr>
              <a:t>PEAK ALERTED</a:t>
            </a:r>
            <a:endParaRPr lang="en-US" sz="820" dirty="0"/>
          </a:p>
        </p:txBody>
      </p:sp>
      <p:sp>
        <p:nvSpPr>
          <p:cNvPr id="11" name="Text 8"/>
          <p:cNvSpPr/>
          <p:nvPr/>
        </p:nvSpPr>
        <p:spPr>
          <a:xfrm>
            <a:off x="8622792" y="1847088"/>
            <a:ext cx="26334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8324B"/>
                </a:solidFill>
              </a:rPr>
              <a:t>34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622792" y="2322576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E7A81"/>
                </a:solidFill>
              </a:rPr>
              <a:t>2026-08-20</a:t>
            </a:r>
            <a:endParaRPr lang="en-US" sz="720" dirty="0"/>
          </a:p>
        </p:txBody>
      </p:sp>
      <p:sp>
        <p:nvSpPr>
          <p:cNvPr id="13" name="Shape 10"/>
          <p:cNvSpPr/>
          <p:nvPr/>
        </p:nvSpPr>
        <p:spPr>
          <a:xfrm>
            <a:off x="8458200" y="2788920"/>
            <a:ext cx="292608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458200" y="2788920"/>
            <a:ext cx="64008" cy="1051560"/>
          </a:xfrm>
          <a:prstGeom prst="rect">
            <a:avLst/>
          </a:prstGeom>
          <a:solidFill>
            <a:srgbClr val="384B55"/>
          </a:solidFill>
          <a:ln w="12700">
            <a:solidFill>
              <a:srgbClr val="384B5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22792" y="2907792"/>
            <a:ext cx="2633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E7A81"/>
                </a:solidFill>
              </a:rPr>
              <a:t>PEAK ADVERSE</a:t>
            </a:r>
            <a:endParaRPr lang="en-US" sz="820" dirty="0"/>
          </a:p>
        </p:txBody>
      </p:sp>
      <p:sp>
        <p:nvSpPr>
          <p:cNvPr id="16" name="Text 13"/>
          <p:cNvSpPr/>
          <p:nvPr/>
        </p:nvSpPr>
        <p:spPr>
          <a:xfrm>
            <a:off x="8622792" y="3127248"/>
            <a:ext cx="26334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8324B"/>
                </a:solidFill>
              </a:rPr>
              <a:t>20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8622792" y="3602736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E7A81"/>
                </a:solidFill>
              </a:rPr>
              <a:t>2026-08-27</a:t>
            </a:r>
            <a:endParaRPr lang="en-US" sz="720" dirty="0"/>
          </a:p>
        </p:txBody>
      </p:sp>
      <p:sp>
        <p:nvSpPr>
          <p:cNvPr id="18" name="Shape 15"/>
          <p:cNvSpPr/>
          <p:nvPr/>
        </p:nvSpPr>
        <p:spPr>
          <a:xfrm>
            <a:off x="8458200" y="4069080"/>
            <a:ext cx="2926080" cy="1051560"/>
          </a:xfrm>
          <a:prstGeom prst="roundRect">
            <a:avLst>
              <a:gd name="adj" fmla="val 4348"/>
            </a:avLst>
          </a:prstGeom>
          <a:solidFill>
            <a:srgbClr val="FCEBEA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458200" y="4069080"/>
            <a:ext cx="64008" cy="1051560"/>
          </a:xfrm>
          <a:prstGeom prst="rect">
            <a:avLst/>
          </a:prstGeom>
          <a:solidFill>
            <a:srgbClr val="D95C59"/>
          </a:solidFill>
          <a:ln w="12700">
            <a:solidFill>
              <a:srgbClr val="D95C5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22792" y="4187952"/>
            <a:ext cx="2633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E7A81"/>
                </a:solidFill>
              </a:rPr>
              <a:t>ENDPOINT</a:t>
            </a:r>
            <a:endParaRPr lang="en-US" sz="820" dirty="0"/>
          </a:p>
        </p:txBody>
      </p:sp>
      <p:sp>
        <p:nvSpPr>
          <p:cNvPr id="21" name="Text 18"/>
          <p:cNvSpPr/>
          <p:nvPr/>
        </p:nvSpPr>
        <p:spPr>
          <a:xfrm>
            <a:off x="8622792" y="4407408"/>
            <a:ext cx="26334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8324B"/>
                </a:solidFill>
              </a:rPr>
              <a:t>4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8622792" y="4882896"/>
            <a:ext cx="2633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E7A81"/>
                </a:solidFill>
              </a:rPr>
              <a:t>All severe shortfall</a:t>
            </a:r>
            <a:endParaRPr lang="en-US" sz="720" dirty="0"/>
          </a:p>
        </p:txBody>
      </p:sp>
      <p:sp>
        <p:nvSpPr>
          <p:cNvPr id="23" name="Shape 20"/>
          <p:cNvSpPr/>
          <p:nvPr/>
        </p:nvSpPr>
        <p:spPr>
          <a:xfrm>
            <a:off x="438912" y="6062472"/>
            <a:ext cx="11320272" cy="365760"/>
          </a:xfrm>
          <a:prstGeom prst="roundRect">
            <a:avLst>
              <a:gd name="adj" fmla="val 10000"/>
            </a:avLst>
          </a:prstGeom>
          <a:solidFill>
            <a:srgbClr val="EAF5F8"/>
          </a:solidFill>
          <a:ln w="7620">
            <a:solidFill>
              <a:srgbClr val="CBD6D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03504" y="6163056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E7A81"/>
                </a:solidFill>
              </a:rPr>
              <a:t>Watch and raw alert conditions are not automatically equivalent to servicing action. P04 is intentionally based on governed endpoint states and downstream M2.6-M2.10 results.</a:t>
            </a:r>
            <a:endParaRPr lang="en-US" sz="7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6576" y="655624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E7A81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009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LIFECYCLE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420624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832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Most paid-off paths finish earlier than their selected horizon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29768" y="877824"/>
            <a:ext cx="108813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E7A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Negative days-versus-plan denotes earlier payoff in the deterministic lifecycle simulation.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84632" y="1307592"/>
            <a:ext cx="7214616" cy="456285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pic>
        <p:nvPicPr>
          <p:cNvPr id="6" name="Image 0" descr="/mnt/data/cohort_deck_assets/payoff_timing_by_horiz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80736"/>
            <a:ext cx="7178040" cy="361656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5888736"/>
            <a:ext cx="7178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6E7A81"/>
                </a:solidFill>
              </a:rPr>
              <a:t>Average payoff timing relative to the selected 30/60/90-day horizon</a:t>
            </a:r>
            <a:endParaRPr lang="en-US" sz="650" dirty="0"/>
          </a:p>
        </p:txBody>
      </p:sp>
      <p:sp>
        <p:nvSpPr>
          <p:cNvPr id="8" name="Shape 5"/>
          <p:cNvSpPr/>
          <p:nvPr/>
        </p:nvSpPr>
        <p:spPr>
          <a:xfrm>
            <a:off x="8001000" y="1463040"/>
            <a:ext cx="1691640" cy="1097280"/>
          </a:xfrm>
          <a:prstGeom prst="roundRect">
            <a:avLst>
              <a:gd name="adj" fmla="val 4167"/>
            </a:avLst>
          </a:prstGeom>
          <a:solidFill>
            <a:srgbClr val="E7F5F4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001000" y="1463040"/>
            <a:ext cx="64008" cy="1097280"/>
          </a:xfrm>
          <a:prstGeom prst="rect">
            <a:avLst/>
          </a:prstGeom>
          <a:solidFill>
            <a:srgbClr val="009C95"/>
          </a:solidFill>
          <a:ln w="12700">
            <a:solidFill>
              <a:srgbClr val="009C9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165592" y="1581912"/>
            <a:ext cx="1399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E7A81"/>
                </a:solidFill>
              </a:rPr>
              <a:t>BASELINE PAID OFF</a:t>
            </a:r>
            <a:endParaRPr lang="en-US" sz="820" dirty="0"/>
          </a:p>
        </p:txBody>
      </p:sp>
      <p:sp>
        <p:nvSpPr>
          <p:cNvPr id="11" name="Text 8"/>
          <p:cNvSpPr/>
          <p:nvPr/>
        </p:nvSpPr>
        <p:spPr>
          <a:xfrm>
            <a:off x="8165592" y="1874520"/>
            <a:ext cx="1399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8324B"/>
                </a:solidFill>
              </a:rPr>
              <a:t>99 / 103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165592" y="2176272"/>
            <a:ext cx="1399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E7A81"/>
                </a:solidFill>
              </a:rPr>
              <a:t>96.1%</a:t>
            </a:r>
            <a:endParaRPr lang="en-US" sz="720" dirty="0"/>
          </a:p>
        </p:txBody>
      </p:sp>
      <p:sp>
        <p:nvSpPr>
          <p:cNvPr id="13" name="Shape 10"/>
          <p:cNvSpPr/>
          <p:nvPr/>
        </p:nvSpPr>
        <p:spPr>
          <a:xfrm>
            <a:off x="9921240" y="1463040"/>
            <a:ext cx="169164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921240" y="1463040"/>
            <a:ext cx="64008" cy="1097280"/>
          </a:xfrm>
          <a:prstGeom prst="rect">
            <a:avLst/>
          </a:prstGeom>
          <a:solidFill>
            <a:srgbClr val="384B55"/>
          </a:solidFill>
          <a:ln w="12700">
            <a:solidFill>
              <a:srgbClr val="384B5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085832" y="1581912"/>
            <a:ext cx="1399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E7A81"/>
                </a:solidFill>
              </a:rPr>
              <a:t>STRESS PAID OFF</a:t>
            </a:r>
            <a:endParaRPr lang="en-US" sz="820" dirty="0"/>
          </a:p>
        </p:txBody>
      </p:sp>
      <p:sp>
        <p:nvSpPr>
          <p:cNvPr id="16" name="Text 13"/>
          <p:cNvSpPr/>
          <p:nvPr/>
        </p:nvSpPr>
        <p:spPr>
          <a:xfrm>
            <a:off x="10085832" y="1874520"/>
            <a:ext cx="1399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8324B"/>
                </a:solidFill>
              </a:rPr>
              <a:t>27 / 27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10085832" y="2176272"/>
            <a:ext cx="1399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E7A81"/>
                </a:solidFill>
              </a:rPr>
              <a:t>100%</a:t>
            </a:r>
            <a:endParaRPr lang="en-US" sz="720" dirty="0"/>
          </a:p>
        </p:txBody>
      </p:sp>
      <p:sp>
        <p:nvSpPr>
          <p:cNvPr id="18" name="Shape 15"/>
          <p:cNvSpPr/>
          <p:nvPr/>
        </p:nvSpPr>
        <p:spPr>
          <a:xfrm>
            <a:off x="8001000" y="2834640"/>
            <a:ext cx="361188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001000" y="2834640"/>
            <a:ext cx="54864" cy="1097280"/>
          </a:xfrm>
          <a:prstGeom prst="rect">
            <a:avLst/>
          </a:prstGeom>
          <a:solidFill>
            <a:srgbClr val="009C95"/>
          </a:solidFill>
          <a:ln w="12700">
            <a:solidFill>
              <a:srgbClr val="009C9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183880" y="2962656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8324B"/>
                </a:solidFill>
              </a:rPr>
              <a:t>Baseline timing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8183880" y="3310128"/>
            <a:ext cx="3300984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Mean payoff is 20.9 days earlier than plan; median is 23 days earlier.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8001000" y="4160520"/>
            <a:ext cx="361188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001000" y="4160520"/>
            <a:ext cx="54864" cy="1097280"/>
          </a:xfrm>
          <a:prstGeom prst="rect">
            <a:avLst/>
          </a:prstGeom>
          <a:solidFill>
            <a:srgbClr val="384B55"/>
          </a:solidFill>
          <a:ln w="12700">
            <a:solidFill>
              <a:srgbClr val="384B5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183880" y="4288536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8324B"/>
                </a:solidFill>
              </a:rPr>
              <a:t>Stress timing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8183880" y="4636008"/>
            <a:ext cx="330098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Mean payoff is 27.4 days earlier than plan; the payoff distribution remains earlier than plan through the 90th percentile.</a:t>
            </a:r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6576" y="655624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E7A81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537960"/>
          </a:xfrm>
          <a:prstGeom prst="rect">
            <a:avLst/>
          </a:prstGeom>
          <a:solidFill>
            <a:srgbClr val="009C95"/>
          </a:solidFill>
          <a:ln w="12700">
            <a:solidFill>
              <a:srgbClr val="009C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585216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009C95"/>
                </a:solidFill>
              </a:rPr>
              <a:t>04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640080" y="20574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Servicing and exceptions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67512" y="2944368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4E0E6"/>
                </a:solidFill>
              </a:rPr>
              <a:t>How the four Baseline attention accounts move from monitoring posture through intervention, execution, reconciliation, and certification.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6576" y="655624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C7D3D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009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BI EVIDENCE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420624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832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Baseline servicing and exceptions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29768" y="877824"/>
            <a:ext cx="108813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E7A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severe-shortfall accounts require attention; the page traces each through its governed servicing and certification chain.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84632" y="1243584"/>
            <a:ext cx="11237976" cy="506577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pic>
        <p:nvPicPr>
          <p:cNvPr id="6" name="Image 0" descr="/mnt/data/_owner_evidence/owner_evidence/captures/Power_BI_Presentation_Capture/Servicing_&amp;_Exceptions/Merchant_Servicing_&amp;_Exceptions_Bas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7863" y="1261872"/>
            <a:ext cx="8711514" cy="5029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327648"/>
            <a:ext cx="11201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6E7A81"/>
                </a:solidFill>
              </a:rPr>
              <a:t>Power BI P04 - Baseline servicing and exceptions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6576" y="655624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E7A81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009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BI EVIDENCE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420624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832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Recession Energy servicing and exceptions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29768" y="877824"/>
            <a:ext cx="108813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E7A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27 stress-funded paths are paid off at endpoint; no servicing or review population remains.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84632" y="1243584"/>
            <a:ext cx="11237976" cy="506577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pic>
        <p:nvPicPr>
          <p:cNvPr id="6" name="Image 0" descr="/mnt/data/_owner_evidence/owner_evidence/captures/Power_BI_Presentation_Capture/Servicing_&amp;_Exceptions/Merchant_Servicing_&amp;_Exceptions_Recession_Energ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2506" y="1261872"/>
            <a:ext cx="8722229" cy="5029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327648"/>
            <a:ext cx="11201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i="1" dirty="0">
                <a:solidFill>
                  <a:srgbClr val="6E7A81"/>
                </a:solidFill>
              </a:rPr>
              <a:t>Power BI P04 - Recession Energy servicing and exceptions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6576" y="655624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E7A81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009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SERVICING ARCHITECTURE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420624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832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four attention paths split into one active reassessment and three governance review holds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29768" y="877824"/>
            <a:ext cx="108813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E7A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downstream chain preserves distinct intervention, setup, execution, reconciliation, and endpoint states.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1874520" cy="406908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627632"/>
            <a:ext cx="1655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8324B"/>
                </a:solidFill>
              </a:rPr>
              <a:t>M2.6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18324B"/>
                </a:solidFill>
              </a:rPr>
              <a:t>INTERVENTION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493776" y="2331720"/>
            <a:ext cx="1618488" cy="1143000"/>
          </a:xfrm>
          <a:prstGeom prst="roundRect">
            <a:avLst>
              <a:gd name="adj" fmla="val 3200"/>
            </a:avLst>
          </a:prstGeom>
          <a:solidFill>
            <a:srgbClr val="E7F5F4"/>
          </a:solidFill>
          <a:ln w="8890">
            <a:solidFill>
              <a:srgbClr val="009C9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514600"/>
            <a:ext cx="1417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3B42"/>
                </a:solidFill>
              </a:rPr>
              <a:t>1 PATH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F3B42"/>
                </a:solidFill>
              </a:rPr>
              <a:t>Temporary remittance review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93776" y="3840480"/>
            <a:ext cx="1618488" cy="1143000"/>
          </a:xfrm>
          <a:prstGeom prst="roundRect">
            <a:avLst>
              <a:gd name="adj" fmla="val 3200"/>
            </a:avLst>
          </a:prstGeom>
          <a:solidFill>
            <a:srgbClr val="FBF4DF"/>
          </a:solidFill>
          <a:ln w="8890">
            <a:solidFill>
              <a:srgbClr val="D19A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4023360"/>
            <a:ext cx="1417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3B42"/>
                </a:solidFill>
              </a:rPr>
              <a:t>3 PATHS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F3B42"/>
                </a:solidFill>
              </a:rPr>
              <a:t>Targeted outreach review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286000" y="2971800"/>
            <a:ext cx="301752" cy="502920"/>
          </a:xfrm>
          <a:prstGeom prst="chevron">
            <a:avLst/>
          </a:prstGeom>
          <a:solidFill>
            <a:srgbClr val="AEBAC1"/>
          </a:solidFill>
          <a:ln w="12700">
            <a:solidFill>
              <a:srgbClr val="AEBAC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97480" y="1417320"/>
            <a:ext cx="1874520" cy="406908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07208" y="1627632"/>
            <a:ext cx="1655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8324B"/>
                </a:solidFill>
              </a:rPr>
              <a:t>M2.7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18324B"/>
                </a:solidFill>
              </a:rPr>
              <a:t>SETUP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2825496" y="2331720"/>
            <a:ext cx="1618488" cy="1143000"/>
          </a:xfrm>
          <a:prstGeom prst="roundRect">
            <a:avLst>
              <a:gd name="adj" fmla="val 3200"/>
            </a:avLst>
          </a:prstGeom>
          <a:solidFill>
            <a:srgbClr val="E7F5F4"/>
          </a:solidFill>
          <a:ln w="8890">
            <a:solidFill>
              <a:srgbClr val="009C9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0" y="2514600"/>
            <a:ext cx="1417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3B42"/>
                </a:solidFill>
              </a:rPr>
              <a:t>1 PATH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F3B42"/>
                </a:solidFill>
              </a:rPr>
              <a:t>Temporary-adjustment setup ready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825496" y="3840480"/>
            <a:ext cx="1618488" cy="1143000"/>
          </a:xfrm>
          <a:prstGeom prst="roundRect">
            <a:avLst>
              <a:gd name="adj" fmla="val 3200"/>
            </a:avLst>
          </a:prstGeom>
          <a:solidFill>
            <a:srgbClr val="FBF4DF"/>
          </a:solidFill>
          <a:ln w="8890">
            <a:solidFill>
              <a:srgbClr val="D19A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0" y="4023360"/>
            <a:ext cx="1417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3B42"/>
                </a:solidFill>
              </a:rPr>
              <a:t>3 PATHS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F3B42"/>
                </a:solidFill>
              </a:rPr>
              <a:t>Governance review required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617720" y="2971800"/>
            <a:ext cx="301752" cy="502920"/>
          </a:xfrm>
          <a:prstGeom prst="chevron">
            <a:avLst/>
          </a:prstGeom>
          <a:solidFill>
            <a:srgbClr val="AEBAC1"/>
          </a:solidFill>
          <a:ln w="12700">
            <a:solidFill>
              <a:srgbClr val="AEBAC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0" y="1417320"/>
            <a:ext cx="1874520" cy="406908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38928" y="1627632"/>
            <a:ext cx="1655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8324B"/>
                </a:solidFill>
              </a:rPr>
              <a:t>M2.8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18324B"/>
                </a:solidFill>
              </a:rPr>
              <a:t>EXECUTION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5157216" y="2331720"/>
            <a:ext cx="1618488" cy="1143000"/>
          </a:xfrm>
          <a:prstGeom prst="roundRect">
            <a:avLst>
              <a:gd name="adj" fmla="val 3200"/>
            </a:avLst>
          </a:prstGeom>
          <a:solidFill>
            <a:srgbClr val="E7F5F4"/>
          </a:solidFill>
          <a:ln w="8890">
            <a:solidFill>
              <a:srgbClr val="009C9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57800" y="2514600"/>
            <a:ext cx="1417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3B42"/>
                </a:solidFill>
              </a:rPr>
              <a:t>1 PATH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F3B42"/>
                </a:solidFill>
              </a:rPr>
              <a:t>Active servicing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157216" y="3840480"/>
            <a:ext cx="1618488" cy="1143000"/>
          </a:xfrm>
          <a:prstGeom prst="roundRect">
            <a:avLst>
              <a:gd name="adj" fmla="val 3200"/>
            </a:avLst>
          </a:prstGeom>
          <a:solidFill>
            <a:srgbClr val="FBF4DF"/>
          </a:solidFill>
          <a:ln w="8890">
            <a:solidFill>
              <a:srgbClr val="D19A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57800" y="4023360"/>
            <a:ext cx="1417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3B42"/>
                </a:solidFill>
              </a:rPr>
              <a:t>3 PATHS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F3B42"/>
                </a:solidFill>
              </a:rPr>
              <a:t>Review hold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49440" y="2971800"/>
            <a:ext cx="301752" cy="502920"/>
          </a:xfrm>
          <a:prstGeom prst="chevron">
            <a:avLst/>
          </a:prstGeom>
          <a:solidFill>
            <a:srgbClr val="AEBAC1"/>
          </a:solidFill>
          <a:ln w="12700">
            <a:solidFill>
              <a:srgbClr val="AEBAC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60920" y="1417320"/>
            <a:ext cx="1874520" cy="406908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70648" y="1627632"/>
            <a:ext cx="1655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8324B"/>
                </a:solidFill>
              </a:rPr>
              <a:t>M2.9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18324B"/>
                </a:solidFill>
              </a:rPr>
              <a:t>CERTIFICATION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7488936" y="2331720"/>
            <a:ext cx="1618488" cy="1143000"/>
          </a:xfrm>
          <a:prstGeom prst="roundRect">
            <a:avLst>
              <a:gd name="adj" fmla="val 3200"/>
            </a:avLst>
          </a:prstGeom>
          <a:solidFill>
            <a:srgbClr val="E7F5F4"/>
          </a:solidFill>
          <a:ln w="8890">
            <a:solidFill>
              <a:srgbClr val="009C9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89520" y="2514600"/>
            <a:ext cx="1417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3B42"/>
                </a:solidFill>
              </a:rPr>
              <a:t>1 PATH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F3B42"/>
                </a:solidFill>
              </a:rPr>
              <a:t>Reconciled after retry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488936" y="3840480"/>
            <a:ext cx="1618488" cy="1143000"/>
          </a:xfrm>
          <a:prstGeom prst="roundRect">
            <a:avLst>
              <a:gd name="adj" fmla="val 3200"/>
            </a:avLst>
          </a:prstGeom>
          <a:solidFill>
            <a:srgbClr val="FBF4DF"/>
          </a:solidFill>
          <a:ln w="8890">
            <a:solidFill>
              <a:srgbClr val="D19A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0" y="4023360"/>
            <a:ext cx="1417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3B42"/>
                </a:solidFill>
              </a:rPr>
              <a:t>3 PATHS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F3B42"/>
                </a:solidFill>
              </a:rPr>
              <a:t>Certified review hold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9281160" y="2971800"/>
            <a:ext cx="301752" cy="502920"/>
          </a:xfrm>
          <a:prstGeom prst="chevron">
            <a:avLst/>
          </a:prstGeom>
          <a:solidFill>
            <a:srgbClr val="AEBAC1"/>
          </a:solidFill>
          <a:ln w="12700">
            <a:solidFill>
              <a:srgbClr val="AEBAC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692640" y="1417320"/>
            <a:ext cx="1874520" cy="406908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802368" y="1627632"/>
            <a:ext cx="1655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8324B"/>
                </a:solidFill>
              </a:rPr>
              <a:t>M2.10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18324B"/>
                </a:solidFill>
              </a:rPr>
              <a:t>ENDPOINT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9820656" y="2331720"/>
            <a:ext cx="1618488" cy="1143000"/>
          </a:xfrm>
          <a:prstGeom prst="roundRect">
            <a:avLst>
              <a:gd name="adj" fmla="val 3200"/>
            </a:avLst>
          </a:prstGeom>
          <a:solidFill>
            <a:srgbClr val="E7F5F4"/>
          </a:solidFill>
          <a:ln w="8890">
            <a:solidFill>
              <a:srgbClr val="009C9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921240" y="2514600"/>
            <a:ext cx="1417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3B42"/>
                </a:solidFill>
              </a:rPr>
              <a:t>1 PATH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F3B42"/>
                </a:solidFill>
              </a:rPr>
              <a:t>Active reconciled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9820656" y="3840480"/>
            <a:ext cx="1618488" cy="1143000"/>
          </a:xfrm>
          <a:prstGeom prst="roundRect">
            <a:avLst>
              <a:gd name="adj" fmla="val 3200"/>
            </a:avLst>
          </a:prstGeom>
          <a:solidFill>
            <a:srgbClr val="FBF4DF"/>
          </a:solidFill>
          <a:ln w="8890">
            <a:solidFill>
              <a:srgbClr val="D19A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921240" y="4023360"/>
            <a:ext cx="1417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F3B42"/>
                </a:solidFill>
              </a:rPr>
              <a:t>3 PATHS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F3B42"/>
                </a:solidFill>
              </a:rPr>
              <a:t>Controlled review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38912" y="6062472"/>
            <a:ext cx="11320272" cy="365760"/>
          </a:xfrm>
          <a:prstGeom prst="roundRect">
            <a:avLst>
              <a:gd name="adj" fmla="val 10000"/>
            </a:avLst>
          </a:prstGeom>
          <a:solidFill>
            <a:srgbClr val="EAF5F8"/>
          </a:solidFill>
          <a:ln w="7620">
            <a:solidFill>
              <a:srgbClr val="CBD6D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3504" y="6163056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E7A81"/>
                </a:solidFill>
              </a:rPr>
              <a:t>The total funded-path population remains 130: 126 require no further action, three enter controlled review, and one completes active temporary processing with a resolved retry.</a:t>
            </a:r>
            <a:endParaRPr lang="en-US" sz="7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6576" y="655624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E7A81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009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ATTENTION POPULATION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420624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832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Four Baseline accounts explain all endpoint attention exposure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29768" y="877824"/>
            <a:ext cx="108813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E7A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workbench isolates exactly three review holds and one active-servicing account.</a:t>
            </a:r>
            <a:endParaRPr lang="en-US" sz="105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47120" cy="2788920"/>
        </p:xfrm>
        <a:graphic>
          <a:graphicData uri="http://schemas.openxmlformats.org/drawingml/2006/table">
            <a:tbl>
              <a:tblPr/>
              <a:tblGrid>
                <a:gridCol w="960120"/>
                <a:gridCol w="1737360"/>
                <a:gridCol w="731520"/>
                <a:gridCol w="1325880"/>
                <a:gridCol w="2103120"/>
                <a:gridCol w="1325880"/>
                <a:gridCol w="14173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MERCHANT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2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INDUSTRY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2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PACE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2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ATTENTION EXPOSURE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2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INTERVENTION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2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EXECUTION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2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CERTIFIED EXPOSURE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24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000098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Professional Services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73.7%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$1,720.89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Targeted outreach review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Review hold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$1,720.89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000112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Healthcare Services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93.5%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$763.89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Targeted outreach review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Review hold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$763.89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000312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General Retail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97.2%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$639.13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Targeted outreach review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Review hold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$639.13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000749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Professional Services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78.1%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$4,699.37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Temporary remittance review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Active servicing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$2,937.12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94360" y="4526280"/>
            <a:ext cx="3474720" cy="960120"/>
          </a:xfrm>
          <a:prstGeom prst="roundRect">
            <a:avLst>
              <a:gd name="adj" fmla="val 4762"/>
            </a:avLst>
          </a:prstGeom>
          <a:solidFill>
            <a:srgbClr val="FBF4DF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" y="4526280"/>
            <a:ext cx="54864" cy="960120"/>
          </a:xfrm>
          <a:prstGeom prst="rect">
            <a:avLst/>
          </a:prstGeom>
          <a:solidFill>
            <a:srgbClr val="D19A00"/>
          </a:solidFill>
          <a:ln w="12700">
            <a:solidFill>
              <a:srgbClr val="D19A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4654296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8324B"/>
                </a:solidFill>
              </a:rPr>
              <a:t>M2.5 endpoint attention exposure</a:t>
            </a:r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77240" y="5212080"/>
            <a:ext cx="3163824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$7,823.28 before downstream processing.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343400" y="4526280"/>
            <a:ext cx="3474720" cy="960120"/>
          </a:xfrm>
          <a:prstGeom prst="roundRect">
            <a:avLst>
              <a:gd name="adj" fmla="val 4762"/>
            </a:avLst>
          </a:prstGeom>
          <a:solidFill>
            <a:srgbClr val="E7F5F4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43400" y="4526280"/>
            <a:ext cx="54864" cy="960120"/>
          </a:xfrm>
          <a:prstGeom prst="rect">
            <a:avLst/>
          </a:prstGeom>
          <a:solidFill>
            <a:srgbClr val="009C95"/>
          </a:solidFill>
          <a:ln w="12700">
            <a:solidFill>
              <a:srgbClr val="009C9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26280" y="4654296"/>
            <a:ext cx="31638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8324B"/>
                </a:solidFill>
              </a:rPr>
              <a:t>M2.10 certified exposure</a:t>
            </a:r>
            <a:endParaRPr lang="en-US"/>
          </a:p>
          <a:p>
            <a:pPr indent="0" marL="0">
              <a:buNone/>
            </a:pPr>
            <a:r>
              <a:rPr lang="en-US" sz="1000" b="1" dirty="0">
                <a:solidFill>
                  <a:srgbClr val="18324B"/>
                </a:solidFill>
              </a:rPr>
              <a:t>after execution and reconciliation</a:t>
            </a:r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526280" y="5212080"/>
            <a:ext cx="3163824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$6,061.03 after $1,762.25 processed on merchant 749.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8092440" y="4526280"/>
            <a:ext cx="347472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092440" y="4526280"/>
            <a:ext cx="54864" cy="960120"/>
          </a:xfrm>
          <a:prstGeom prst="rect">
            <a:avLst/>
          </a:prstGeom>
          <a:solidFill>
            <a:srgbClr val="384B55"/>
          </a:solidFill>
          <a:ln w="12700">
            <a:solidFill>
              <a:srgbClr val="384B5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75320" y="4654296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8324B"/>
                </a:solidFill>
              </a:rPr>
              <a:t>Exceptions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275320" y="5212080"/>
            <a:ext cx="3163824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One return and one retry are fully reconciled; unresolved exceptions = 0.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6576" y="655624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E7A81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537960"/>
          </a:xfrm>
          <a:prstGeom prst="rect">
            <a:avLst/>
          </a:prstGeom>
          <a:solidFill>
            <a:srgbClr val="009C95"/>
          </a:solidFill>
          <a:ln w="12700">
            <a:solidFill>
              <a:srgbClr val="009C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585216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009C95"/>
                </a:solidFill>
              </a:rPr>
              <a:t>05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640080" y="20574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Application-level evidence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67512" y="2944368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4E0E6"/>
                </a:solidFill>
              </a:rPr>
              <a:t>Representative merchant journeys demonstrate scenario isolation, review reasoning, stress-floor enforcement, and lifecycle traceability.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6576" y="655624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C7D3D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009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EVIDENCE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420624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832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Merchant 738 - approval versus evidence decline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29768" y="877824"/>
            <a:ext cx="108813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E7A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application is approved and funded in Baseline, but cannot proceed under stress because required evidence availability falls below the threshold.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1417320" cy="256032"/>
          </a:xfrm>
          <a:prstGeom prst="roundRect">
            <a:avLst>
              <a:gd name="adj" fmla="val 17857"/>
            </a:avLst>
          </a:prstGeom>
          <a:solidFill>
            <a:srgbClr val="009C95"/>
          </a:solidFill>
          <a:ln w="12700">
            <a:solidFill>
              <a:srgbClr val="009C9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30452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spc="120" kern="0" dirty="0">
                <a:solidFill>
                  <a:srgbClr val="FFFFFF"/>
                </a:solidFill>
              </a:rPr>
              <a:t>BASELINE</a:t>
            </a:r>
            <a:endParaRPr lang="en-US" sz="660" dirty="0"/>
          </a:p>
        </p:txBody>
      </p:sp>
      <p:sp>
        <p:nvSpPr>
          <p:cNvPr id="7" name="Shape 5"/>
          <p:cNvSpPr/>
          <p:nvPr/>
        </p:nvSpPr>
        <p:spPr>
          <a:xfrm>
            <a:off x="6172200" y="1280160"/>
            <a:ext cx="1600200" cy="256032"/>
          </a:xfrm>
          <a:prstGeom prst="roundRect">
            <a:avLst>
              <a:gd name="adj" fmla="val 17857"/>
            </a:avLst>
          </a:prstGeom>
          <a:solidFill>
            <a:srgbClr val="384B55"/>
          </a:solidFill>
          <a:ln w="12700">
            <a:solidFill>
              <a:srgbClr val="384B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0" y="1330452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spc="120" kern="0" dirty="0">
                <a:solidFill>
                  <a:srgbClr val="FFFFFF"/>
                </a:solidFill>
              </a:rPr>
              <a:t>RECESSION ENERGY</a:t>
            </a:r>
            <a:endParaRPr lang="en-US" sz="660" dirty="0"/>
          </a:p>
        </p:txBody>
      </p:sp>
      <p:sp>
        <p:nvSpPr>
          <p:cNvPr id="9" name="Shape 7"/>
          <p:cNvSpPr/>
          <p:nvPr/>
        </p:nvSpPr>
        <p:spPr>
          <a:xfrm>
            <a:off x="484632" y="1609344"/>
            <a:ext cx="5431536" cy="346557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pic>
        <p:nvPicPr>
          <p:cNvPr id="10" name="Image 0" descr="/mnt/data/_owner_evidence/owner_evidence/captures/Power_BI_Presentation_Capture/Application_&amp;_Account_Journey/P03_738_Baseline_Authorized_Outcomes_Approved_As_Requested.png">    </p:cNvPr>
          <p:cNvPicPr>
            <a:picLocks noChangeAspect="1"/>
          </p:cNvPicPr>
          <p:nvPr/>
        </p:nvPicPr>
        <p:blipFill>
          <a:blip r:embed="rId1"/>
          <a:srcRect l="0" r="9489" t="0" b="0"/>
          <a:stretch/>
        </p:blipFill>
        <p:spPr>
          <a:xfrm>
            <a:off x="502920" y="1627632"/>
            <a:ext cx="5394960" cy="34290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153912" y="1609344"/>
            <a:ext cx="5431536" cy="346557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pic>
        <p:nvPicPr>
          <p:cNvPr id="12" name="Image 1" descr="/mnt/data/_owner_evidence/owner_evidence/captures/Power_BI_Presentation_Capture/Application_&amp;_Account_Journey/P03_738_Recession_Energy_Evidence_Decline_Situations_Multiple_Disconnected_Outage_Days.png">    </p:cNvPr>
          <p:cNvPicPr>
            <a:picLocks noChangeAspect="1"/>
          </p:cNvPicPr>
          <p:nvPr/>
        </p:nvPicPr>
        <p:blipFill>
          <a:blip r:embed="rId2"/>
          <a:srcRect l="0" r="9617" t="0" b="0"/>
          <a:stretch/>
        </p:blipFill>
        <p:spPr>
          <a:xfrm>
            <a:off x="6172200" y="1627632"/>
            <a:ext cx="5394960" cy="34290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40080" y="5257800"/>
            <a:ext cx="1097280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0080" y="5257800"/>
            <a:ext cx="54864" cy="822960"/>
          </a:xfrm>
          <a:prstGeom prst="rect">
            <a:avLst/>
          </a:prstGeom>
          <a:solidFill>
            <a:srgbClr val="D19A00"/>
          </a:solidFill>
          <a:ln w="12700">
            <a:solidFill>
              <a:srgbClr val="D19A0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22960" y="5385816"/>
            <a:ext cx="10661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8324B"/>
                </a:solidFill>
              </a:rPr>
              <a:t>What the pair demonstrates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822960" y="5733288"/>
            <a:ext cx="10661904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Baseline: $25,000 approved as requested, funded 2026-07-25, paid off. Stress: 28 usable days versus 30 required, including two disconnected outage days; no structure assessment, funding, monitoring, or servicing is permitted.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6576" y="655624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E7A81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009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EVIDENCE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420624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832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Merchant 082 - reviewable alternative becomes no-feasible under stress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29768" y="877824"/>
            <a:ext cx="108813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E7A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pair shows how a proposed counteroffer can remain review-only in Baseline and then fail the governed stress floor.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1417320" cy="256032"/>
          </a:xfrm>
          <a:prstGeom prst="roundRect">
            <a:avLst>
              <a:gd name="adj" fmla="val 17857"/>
            </a:avLst>
          </a:prstGeom>
          <a:solidFill>
            <a:srgbClr val="009C95"/>
          </a:solidFill>
          <a:ln w="12700">
            <a:solidFill>
              <a:srgbClr val="009C9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30452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spc="120" kern="0" dirty="0">
                <a:solidFill>
                  <a:srgbClr val="FFFFFF"/>
                </a:solidFill>
              </a:rPr>
              <a:t>BASELINE</a:t>
            </a:r>
            <a:endParaRPr lang="en-US" sz="660" dirty="0"/>
          </a:p>
        </p:txBody>
      </p:sp>
      <p:sp>
        <p:nvSpPr>
          <p:cNvPr id="7" name="Shape 5"/>
          <p:cNvSpPr/>
          <p:nvPr/>
        </p:nvSpPr>
        <p:spPr>
          <a:xfrm>
            <a:off x="6172200" y="1280160"/>
            <a:ext cx="1600200" cy="256032"/>
          </a:xfrm>
          <a:prstGeom prst="roundRect">
            <a:avLst>
              <a:gd name="adj" fmla="val 17857"/>
            </a:avLst>
          </a:prstGeom>
          <a:solidFill>
            <a:srgbClr val="384B55"/>
          </a:solidFill>
          <a:ln w="12700">
            <a:solidFill>
              <a:srgbClr val="384B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0" y="1330452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spc="120" kern="0" dirty="0">
                <a:solidFill>
                  <a:srgbClr val="FFFFFF"/>
                </a:solidFill>
              </a:rPr>
              <a:t>RECESSION ENERGY</a:t>
            </a:r>
            <a:endParaRPr lang="en-US" sz="660" dirty="0"/>
          </a:p>
        </p:txBody>
      </p:sp>
      <p:sp>
        <p:nvSpPr>
          <p:cNvPr id="9" name="Shape 7"/>
          <p:cNvSpPr/>
          <p:nvPr/>
        </p:nvSpPr>
        <p:spPr>
          <a:xfrm>
            <a:off x="484632" y="1609344"/>
            <a:ext cx="5431536" cy="346557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pic>
        <p:nvPicPr>
          <p:cNvPr id="10" name="Image 0" descr="/mnt/data/_owner_evidence/owner_evidence/captures/Power_BI_Presentation_Capture/Application_&amp;_Account_Journey/P03_082_Baseline_Counteroffer_Review_Situations_Evidence_Usable_But_Not_Strong_Enough_For_Straight_Through_Authorization.png">    </p:cNvPr>
          <p:cNvPicPr>
            <a:picLocks noChangeAspect="1"/>
          </p:cNvPicPr>
          <p:nvPr/>
        </p:nvPicPr>
        <p:blipFill>
          <a:blip r:embed="rId1"/>
          <a:srcRect l="0" r="9201" t="0" b="0"/>
          <a:stretch/>
        </p:blipFill>
        <p:spPr>
          <a:xfrm>
            <a:off x="502920" y="1627632"/>
            <a:ext cx="5394960" cy="34290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153912" y="1609344"/>
            <a:ext cx="5431536" cy="346557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pic>
        <p:nvPicPr>
          <p:cNvPr id="12" name="Image 1" descr="/mnt/data/_owner_evidence/owner_evidence/captures/Power_BI_Presentation_Capture/Application_&amp;_Account_Journey/P03_082_Recession_Energy_No_Feasible_Structure_Situations_Complete_Candidate_Search_Plus_Stress_Non_Improvement_Floor.png">    </p:cNvPr>
          <p:cNvPicPr>
            <a:picLocks noChangeAspect="1"/>
          </p:cNvPicPr>
          <p:nvPr/>
        </p:nvPicPr>
        <p:blipFill>
          <a:blip r:embed="rId2"/>
          <a:srcRect l="0" r="9153" t="0" b="0"/>
          <a:stretch/>
        </p:blipFill>
        <p:spPr>
          <a:xfrm>
            <a:off x="6172200" y="1627632"/>
            <a:ext cx="5394960" cy="34290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40080" y="5257800"/>
            <a:ext cx="1097280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0080" y="5257800"/>
            <a:ext cx="54864" cy="822960"/>
          </a:xfrm>
          <a:prstGeom prst="rect">
            <a:avLst/>
          </a:prstGeom>
          <a:solidFill>
            <a:srgbClr val="D19A00"/>
          </a:solidFill>
          <a:ln w="12700">
            <a:solidFill>
              <a:srgbClr val="D19A0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22960" y="5385816"/>
            <a:ext cx="10661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8324B"/>
                </a:solidFill>
              </a:rPr>
              <a:t>What the pair demonstrates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822960" y="5733288"/>
            <a:ext cx="10661904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Baseline: $53,800 request, $31,200 review-eligible alternative, but evidence is not strong enough for straight-through authorization. Stress: complete search of 10 alternatives; no eligible path survives the matched Baseline non-improvement floor.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6576" y="655624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E7A81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009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EVIDENCE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420624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832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Merchant 098 - stress access preserved through a smaller counteroffer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29768" y="877824"/>
            <a:ext cx="108813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E7A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stressed path can remain authorized, but only through a controlled structure change that respects capacity and economics.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1417320" cy="256032"/>
          </a:xfrm>
          <a:prstGeom prst="roundRect">
            <a:avLst>
              <a:gd name="adj" fmla="val 17857"/>
            </a:avLst>
          </a:prstGeom>
          <a:solidFill>
            <a:srgbClr val="009C95"/>
          </a:solidFill>
          <a:ln w="12700">
            <a:solidFill>
              <a:srgbClr val="009C9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30452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spc="120" kern="0" dirty="0">
                <a:solidFill>
                  <a:srgbClr val="FFFFFF"/>
                </a:solidFill>
              </a:rPr>
              <a:t>BASELINE</a:t>
            </a:r>
            <a:endParaRPr lang="en-US" sz="660" dirty="0"/>
          </a:p>
        </p:txBody>
      </p:sp>
      <p:sp>
        <p:nvSpPr>
          <p:cNvPr id="7" name="Shape 5"/>
          <p:cNvSpPr/>
          <p:nvPr/>
        </p:nvSpPr>
        <p:spPr>
          <a:xfrm>
            <a:off x="6172200" y="1280160"/>
            <a:ext cx="1600200" cy="256032"/>
          </a:xfrm>
          <a:prstGeom prst="roundRect">
            <a:avLst>
              <a:gd name="adj" fmla="val 17857"/>
            </a:avLst>
          </a:prstGeom>
          <a:solidFill>
            <a:srgbClr val="384B55"/>
          </a:solidFill>
          <a:ln w="12700">
            <a:solidFill>
              <a:srgbClr val="384B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0" y="1330452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spc="120" kern="0" dirty="0">
                <a:solidFill>
                  <a:srgbClr val="FFFFFF"/>
                </a:solidFill>
              </a:rPr>
              <a:t>RECESSION ENERGY</a:t>
            </a:r>
            <a:endParaRPr lang="en-US" sz="660" dirty="0"/>
          </a:p>
        </p:txBody>
      </p:sp>
      <p:sp>
        <p:nvSpPr>
          <p:cNvPr id="9" name="Shape 7"/>
          <p:cNvSpPr/>
          <p:nvPr/>
        </p:nvSpPr>
        <p:spPr>
          <a:xfrm>
            <a:off x="484632" y="1609344"/>
            <a:ext cx="5431536" cy="346557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pic>
        <p:nvPicPr>
          <p:cNvPr id="10" name="Image 0" descr="/mnt/data/_owner_evidence/owner_evidence/captures/Power_BI_Presentation_Capture/Application_&amp;_Account_Journey/P03_098_Baseline_Authorized_Outcomes_Approved_As_Requested.png">    </p:cNvPr>
          <p:cNvPicPr>
            <a:picLocks noChangeAspect="1"/>
          </p:cNvPicPr>
          <p:nvPr/>
        </p:nvPicPr>
        <p:blipFill>
          <a:blip r:embed="rId1"/>
          <a:srcRect l="0" r="9089" t="0" b="0"/>
          <a:stretch/>
        </p:blipFill>
        <p:spPr>
          <a:xfrm>
            <a:off x="502920" y="1627632"/>
            <a:ext cx="5394960" cy="34290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153912" y="1609344"/>
            <a:ext cx="5431536" cy="346557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pic>
        <p:nvPicPr>
          <p:cNvPr id="12" name="Image 1" descr="/mnt/data/_owner_evidence/owner_evidence/captures/Power_BI_Presentation_Capture/Application_&amp;_Account_Journey/P03_098_Recession_Energy_Authorized_Outcomes_Counteroffer_Authorized.png">    </p:cNvPr>
          <p:cNvPicPr>
            <a:picLocks noChangeAspect="1"/>
          </p:cNvPicPr>
          <p:nvPr/>
        </p:nvPicPr>
        <p:blipFill>
          <a:blip r:embed="rId2"/>
          <a:srcRect l="0" r="9424" t="0" b="0"/>
          <a:stretch/>
        </p:blipFill>
        <p:spPr>
          <a:xfrm>
            <a:off x="6172200" y="1627632"/>
            <a:ext cx="5394960" cy="34290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40080" y="5257800"/>
            <a:ext cx="1097280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0080" y="5257800"/>
            <a:ext cx="54864" cy="822960"/>
          </a:xfrm>
          <a:prstGeom prst="rect">
            <a:avLst/>
          </a:prstGeom>
          <a:solidFill>
            <a:srgbClr val="D19A00"/>
          </a:solidFill>
          <a:ln w="12700">
            <a:solidFill>
              <a:srgbClr val="D19A0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22960" y="5385816"/>
            <a:ext cx="10661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8324B"/>
                </a:solidFill>
              </a:rPr>
              <a:t>What the pair demonstrates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822960" y="5733288"/>
            <a:ext cx="10661904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Baseline approves the request as submitted. Under Recession Energy, the $5,200 request is reduced to $2,500 after seven governed alternatives; the path is funded, runs through monitoring, and pays off with no further action.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6576" y="655624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E7A81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009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EVIDENCE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420624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832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Merchant 749 - approval, active servicing, and stress review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29768" y="877824"/>
            <a:ext cx="108813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E7A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merchant demonstrates both the richest funded-account servicing path and a distinct non-funded stress review outcome.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1417320" cy="256032"/>
          </a:xfrm>
          <a:prstGeom prst="roundRect">
            <a:avLst>
              <a:gd name="adj" fmla="val 17857"/>
            </a:avLst>
          </a:prstGeom>
          <a:solidFill>
            <a:srgbClr val="009C95"/>
          </a:solidFill>
          <a:ln w="12700">
            <a:solidFill>
              <a:srgbClr val="009C9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30452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spc="120" kern="0" dirty="0">
                <a:solidFill>
                  <a:srgbClr val="FFFFFF"/>
                </a:solidFill>
              </a:rPr>
              <a:t>BASELINE</a:t>
            </a:r>
            <a:endParaRPr lang="en-US" sz="660" dirty="0"/>
          </a:p>
        </p:txBody>
      </p:sp>
      <p:sp>
        <p:nvSpPr>
          <p:cNvPr id="7" name="Shape 5"/>
          <p:cNvSpPr/>
          <p:nvPr/>
        </p:nvSpPr>
        <p:spPr>
          <a:xfrm>
            <a:off x="6172200" y="1280160"/>
            <a:ext cx="1600200" cy="256032"/>
          </a:xfrm>
          <a:prstGeom prst="roundRect">
            <a:avLst>
              <a:gd name="adj" fmla="val 17857"/>
            </a:avLst>
          </a:prstGeom>
          <a:solidFill>
            <a:srgbClr val="384B55"/>
          </a:solidFill>
          <a:ln w="12700">
            <a:solidFill>
              <a:srgbClr val="384B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0" y="1330452"/>
            <a:ext cx="1508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spc="120" kern="0" dirty="0">
                <a:solidFill>
                  <a:srgbClr val="FFFFFF"/>
                </a:solidFill>
              </a:rPr>
              <a:t>RECESSION ENERGY</a:t>
            </a:r>
            <a:endParaRPr lang="en-US" sz="660" dirty="0"/>
          </a:p>
        </p:txBody>
      </p:sp>
      <p:sp>
        <p:nvSpPr>
          <p:cNvPr id="9" name="Shape 7"/>
          <p:cNvSpPr/>
          <p:nvPr/>
        </p:nvSpPr>
        <p:spPr>
          <a:xfrm>
            <a:off x="484632" y="1609344"/>
            <a:ext cx="5431536" cy="346557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pic>
        <p:nvPicPr>
          <p:cNvPr id="10" name="Image 0" descr="/mnt/data/_owner_evidence/owner_evidence/captures/Power_BI_Presentation_Capture/Application_&amp;_Account_Journey/P03_749_Baseline_Authorized_Outcomes_Approved_As_Requested.png">    </p:cNvPr>
          <p:cNvPicPr>
            <a:picLocks noChangeAspect="1"/>
          </p:cNvPicPr>
          <p:nvPr/>
        </p:nvPicPr>
        <p:blipFill>
          <a:blip r:embed="rId1"/>
          <a:srcRect l="0" r="9153" t="0" b="0"/>
          <a:stretch/>
        </p:blipFill>
        <p:spPr>
          <a:xfrm>
            <a:off x="502920" y="1627632"/>
            <a:ext cx="5394960" cy="34290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153912" y="1609344"/>
            <a:ext cx="5431536" cy="346557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pic>
        <p:nvPicPr>
          <p:cNvPr id="12" name="Image 1" descr="/mnt/data/_owner_evidence/owner_evidence/captures/Power_BI_Presentation_Capture/Application_&amp;_Account_Journey/P03_749_Recession_Energy_Manual_Underwriting_Review_Situations_Capacity_Resilience_Review_Frontier.png">    </p:cNvPr>
          <p:cNvPicPr>
            <a:picLocks noChangeAspect="1"/>
          </p:cNvPicPr>
          <p:nvPr/>
        </p:nvPicPr>
        <p:blipFill>
          <a:blip r:embed="rId2"/>
          <a:srcRect l="0" r="8901" t="0" b="0"/>
          <a:stretch/>
        </p:blipFill>
        <p:spPr>
          <a:xfrm>
            <a:off x="6172200" y="1627632"/>
            <a:ext cx="5394960" cy="34290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40080" y="5257800"/>
            <a:ext cx="1097280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0080" y="5257800"/>
            <a:ext cx="54864" cy="822960"/>
          </a:xfrm>
          <a:prstGeom prst="rect">
            <a:avLst/>
          </a:prstGeom>
          <a:solidFill>
            <a:srgbClr val="D19A00"/>
          </a:solidFill>
          <a:ln w="12700">
            <a:solidFill>
              <a:srgbClr val="D19A0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22960" y="5385816"/>
            <a:ext cx="10661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8324B"/>
                </a:solidFill>
              </a:rPr>
              <a:t>What the pair demonstrates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822960" y="5733288"/>
            <a:ext cx="10661904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Baseline: $17,700 approved and funded; later severe shortfall triggers temporary-remittance review, seven payment events, one return, one retry, and $2,937.12 certified exposure after reconciliation. Stress: capacity/resilience remains review-only and no funding occurs.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6576" y="655624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E7A81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009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EVIDENCE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420624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832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 and policy boundaries remain distinguishable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29768" y="877824"/>
            <a:ext cx="108813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E7A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architecture preserves whether a path is declined because evidence is unusable or because a non-remediable policy condition controls.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1508760" cy="256032"/>
          </a:xfrm>
          <a:prstGeom prst="roundRect">
            <a:avLst>
              <a:gd name="adj" fmla="val 17857"/>
            </a:avLst>
          </a:prstGeom>
          <a:solidFill>
            <a:srgbClr val="D95C59"/>
          </a:solidFill>
          <a:ln w="12700">
            <a:solidFill>
              <a:srgbClr val="D95C5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3045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spc="120" kern="0" dirty="0">
                <a:solidFill>
                  <a:srgbClr val="FFFFFF"/>
                </a:solidFill>
              </a:rPr>
              <a:t>EVIDENCE DECLINE</a:t>
            </a:r>
            <a:endParaRPr lang="en-US" sz="660" dirty="0"/>
          </a:p>
        </p:txBody>
      </p:sp>
      <p:sp>
        <p:nvSpPr>
          <p:cNvPr id="7" name="Shape 5"/>
          <p:cNvSpPr/>
          <p:nvPr/>
        </p:nvSpPr>
        <p:spPr>
          <a:xfrm>
            <a:off x="6172200" y="1280160"/>
            <a:ext cx="1508760" cy="256032"/>
          </a:xfrm>
          <a:prstGeom prst="roundRect">
            <a:avLst>
              <a:gd name="adj" fmla="val 17857"/>
            </a:avLst>
          </a:prstGeom>
          <a:solidFill>
            <a:srgbClr val="384B55"/>
          </a:solidFill>
          <a:ln w="12700">
            <a:solidFill>
              <a:srgbClr val="384B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0" y="133045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spc="120" kern="0" dirty="0">
                <a:solidFill>
                  <a:srgbClr val="FFFFFF"/>
                </a:solidFill>
              </a:rPr>
              <a:t>POLICY HARD STOP</a:t>
            </a:r>
            <a:endParaRPr lang="en-US" sz="660" dirty="0"/>
          </a:p>
        </p:txBody>
      </p:sp>
      <p:sp>
        <p:nvSpPr>
          <p:cNvPr id="9" name="Shape 7"/>
          <p:cNvSpPr/>
          <p:nvPr/>
        </p:nvSpPr>
        <p:spPr>
          <a:xfrm>
            <a:off x="484632" y="1609344"/>
            <a:ext cx="5431536" cy="346557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pic>
        <p:nvPicPr>
          <p:cNvPr id="10" name="Image 0" descr="/mnt/data/_owner_evidence/owner_evidence/captures/Power_BI_Presentation_Capture/Application_&amp;_Account_Journey/P03_042_Baseline_Evidence_Decline_Situations_Incomplete_Or_Contradictory_Operating_Evidence.png">    </p:cNvPr>
          <p:cNvPicPr>
            <a:picLocks noChangeAspect="1"/>
          </p:cNvPicPr>
          <p:nvPr/>
        </p:nvPicPr>
        <p:blipFill>
          <a:blip r:embed="rId1"/>
          <a:srcRect l="0" r="9570" t="0" b="0"/>
          <a:stretch/>
        </p:blipFill>
        <p:spPr>
          <a:xfrm>
            <a:off x="502920" y="1627632"/>
            <a:ext cx="5394960" cy="34290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153912" y="1609344"/>
            <a:ext cx="5431536" cy="346557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pic>
        <p:nvPicPr>
          <p:cNvPr id="12" name="Image 1" descr="/mnt/data/_owner_evidence/owner_evidence/captures/Power_BI_Presentation_Capture/Application_&amp;_Account_Journey/P03_120_Recession_Energy_Policy_Hard_Stop_Situations_Non_Remediable_Verification_Conflict.png">    </p:cNvPr>
          <p:cNvPicPr>
            <a:picLocks noChangeAspect="1"/>
          </p:cNvPicPr>
          <p:nvPr/>
        </p:nvPicPr>
        <p:blipFill>
          <a:blip r:embed="rId2"/>
          <a:srcRect l="0" r="9330" t="0" b="0"/>
          <a:stretch/>
        </p:blipFill>
        <p:spPr>
          <a:xfrm>
            <a:off x="6172200" y="1627632"/>
            <a:ext cx="5394960" cy="34290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40080" y="5257800"/>
            <a:ext cx="525780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0080" y="5257800"/>
            <a:ext cx="54864" cy="822960"/>
          </a:xfrm>
          <a:prstGeom prst="rect">
            <a:avLst/>
          </a:prstGeom>
          <a:solidFill>
            <a:srgbClr val="D95C59"/>
          </a:solidFill>
          <a:ln w="12700">
            <a:solidFill>
              <a:srgbClr val="D95C59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22960" y="5385816"/>
            <a:ext cx="4946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8324B"/>
                </a:solidFill>
              </a:rPr>
              <a:t>Merchant 042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822960" y="5733288"/>
            <a:ext cx="4946904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Required operating evidence is incomplete or contradictory; risk/economics assessment is withheld rather than treating missing evidence as weak performance.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6172200" y="5257800"/>
            <a:ext cx="525780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172200" y="5257800"/>
            <a:ext cx="54864" cy="822960"/>
          </a:xfrm>
          <a:prstGeom prst="rect">
            <a:avLst/>
          </a:prstGeom>
          <a:solidFill>
            <a:srgbClr val="384B55"/>
          </a:solidFill>
          <a:ln w="12700">
            <a:solidFill>
              <a:srgbClr val="384B55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355080" y="5385816"/>
            <a:ext cx="4946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8324B"/>
                </a:solidFill>
              </a:rPr>
              <a:t>Merchant 120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6355080" y="5733288"/>
            <a:ext cx="4946904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Decision-critical evidence is available, but a non-remediable verification conflict creates a policy hard stop that cannot be cured by revised terms.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6576" y="655624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E7A81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537960"/>
          </a:xfrm>
          <a:prstGeom prst="rect">
            <a:avLst/>
          </a:prstGeom>
          <a:solidFill>
            <a:srgbClr val="009C95"/>
          </a:solidFill>
          <a:ln w="12700">
            <a:solidFill>
              <a:srgbClr val="009C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585216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009C95"/>
                </a:solidFill>
              </a:rPr>
              <a:t>06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640080" y="20574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Assurance and conclusions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67512" y="2944368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4E0E6"/>
                </a:solidFill>
              </a:rPr>
              <a:t>What the evidence proves, the controls that support it, and the management implications of the initial cohort.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6576" y="655624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C7D3D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009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ASSURANCE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420624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832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Power BI conclusions reconcile to complete, exact-key successor populations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29768" y="877824"/>
            <a:ext cx="108813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E7A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 validates narrative semantics, monitoring coverage, scenario isolation, servicing stage equality, and endpoint reconciliation.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3474720" cy="1234440"/>
          </a:xfrm>
          <a:prstGeom prst="roundRect">
            <a:avLst>
              <a:gd name="adj" fmla="val 3704"/>
            </a:avLst>
          </a:prstGeom>
          <a:solidFill>
            <a:srgbClr val="E7F5F4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417320"/>
            <a:ext cx="64008" cy="1234440"/>
          </a:xfrm>
          <a:prstGeom prst="rect">
            <a:avLst/>
          </a:prstGeom>
          <a:solidFill>
            <a:srgbClr val="009C95"/>
          </a:solidFill>
          <a:ln w="12700">
            <a:solidFill>
              <a:srgbClr val="009C9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536192"/>
            <a:ext cx="3182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E7A81"/>
                </a:solidFill>
              </a:rPr>
              <a:t>Narrative paths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667512" y="1828800"/>
            <a:ext cx="31821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8324B"/>
                </a:solidFill>
              </a:rPr>
              <a:t>1,500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67512" y="2267712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E7A81"/>
                </a:solidFill>
              </a:rPr>
              <a:t>All PASS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4297680" y="1417320"/>
            <a:ext cx="347472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0" y="1417320"/>
            <a:ext cx="64008" cy="1234440"/>
          </a:xfrm>
          <a:prstGeom prst="rect">
            <a:avLst/>
          </a:prstGeom>
          <a:solidFill>
            <a:srgbClr val="009C95"/>
          </a:solidFill>
          <a:ln w="12700">
            <a:solidFill>
              <a:srgbClr val="009C9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62272" y="1536192"/>
            <a:ext cx="3182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E7A81"/>
                </a:solidFill>
              </a:rPr>
              <a:t>Daily monitoring rows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4462272" y="1828800"/>
            <a:ext cx="31821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8324B"/>
                </a:solidFill>
              </a:rPr>
              <a:t>15,600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462272" y="2267712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E7A81"/>
                </a:solidFill>
              </a:rPr>
              <a:t>130 paths x 120 days</a:t>
            </a:r>
            <a:endParaRPr lang="en-US" sz="720" dirty="0"/>
          </a:p>
        </p:txBody>
      </p:sp>
      <p:sp>
        <p:nvSpPr>
          <p:cNvPr id="15" name="Shape 13"/>
          <p:cNvSpPr/>
          <p:nvPr/>
        </p:nvSpPr>
        <p:spPr>
          <a:xfrm>
            <a:off x="8092440" y="1417320"/>
            <a:ext cx="347472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92440" y="1417320"/>
            <a:ext cx="64008" cy="1234440"/>
          </a:xfrm>
          <a:prstGeom prst="rect">
            <a:avLst/>
          </a:prstGeom>
          <a:solidFill>
            <a:srgbClr val="D95C59"/>
          </a:solidFill>
          <a:ln w="12700">
            <a:solidFill>
              <a:srgbClr val="D95C5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57032" y="1536192"/>
            <a:ext cx="3182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E7A81"/>
                </a:solidFill>
              </a:rPr>
              <a:t>P03 operational failures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8257032" y="1828800"/>
            <a:ext cx="31821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8324B"/>
                </a:solidFill>
              </a:rPr>
              <a:t>0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257032" y="2267712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E7A81"/>
                </a:solidFill>
              </a:rPr>
              <a:t>Exact reconciliation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502920" y="2926080"/>
            <a:ext cx="347472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2926080"/>
            <a:ext cx="64008" cy="1234440"/>
          </a:xfrm>
          <a:prstGeom prst="rect">
            <a:avLst/>
          </a:prstGeom>
          <a:solidFill>
            <a:srgbClr val="009C95"/>
          </a:solidFill>
          <a:ln w="12700">
            <a:solidFill>
              <a:srgbClr val="009C9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" y="3044952"/>
            <a:ext cx="3182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E7A81"/>
                </a:solidFill>
              </a:rPr>
              <a:t>Keys per M2.6-M2.10 stage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667512" y="3337560"/>
            <a:ext cx="31821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8324B"/>
                </a:solidFill>
              </a:rPr>
              <a:t>130 / 130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67512" y="3776472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E7A81"/>
                </a:solidFill>
              </a:rPr>
              <a:t>Set-consistent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4297680" y="2926080"/>
            <a:ext cx="347472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97680" y="2926080"/>
            <a:ext cx="64008" cy="1234440"/>
          </a:xfrm>
          <a:prstGeom prst="rect">
            <a:avLst/>
          </a:prstGeom>
          <a:solidFill>
            <a:srgbClr val="009C95"/>
          </a:solidFill>
          <a:ln w="12700">
            <a:solidFill>
              <a:srgbClr val="009C9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62272" y="3044952"/>
            <a:ext cx="3182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E7A81"/>
                </a:solidFill>
              </a:rPr>
              <a:t>Intervention distribution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4462272" y="3337560"/>
            <a:ext cx="31821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8324B"/>
                </a:solidFill>
              </a:rPr>
              <a:t>126 / 3 / 1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4462272" y="3776472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E7A81"/>
                </a:solidFill>
              </a:rPr>
              <a:t>Closed / outreach / temporary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8092440" y="2926080"/>
            <a:ext cx="347472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92440" y="2926080"/>
            <a:ext cx="64008" cy="1234440"/>
          </a:xfrm>
          <a:prstGeom prst="rect">
            <a:avLst/>
          </a:prstGeom>
          <a:solidFill>
            <a:srgbClr val="D19A00"/>
          </a:solidFill>
          <a:ln w="12700">
            <a:solidFill>
              <a:srgbClr val="D19A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57032" y="3044952"/>
            <a:ext cx="3182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6E7A81"/>
                </a:solidFill>
              </a:rPr>
              <a:t>G3-v2 certification controls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8257032" y="3337560"/>
            <a:ext cx="31821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8324B"/>
                </a:solidFill>
              </a:rPr>
              <a:t>70 / 70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8257032" y="3776472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E7A81"/>
                </a:solidFill>
              </a:rPr>
              <a:t>PASS</a:t>
            </a:r>
            <a:endParaRPr lang="en-US" sz="720" dirty="0"/>
          </a:p>
        </p:txBody>
      </p:sp>
      <p:sp>
        <p:nvSpPr>
          <p:cNvPr id="35" name="Shape 33"/>
          <p:cNvSpPr/>
          <p:nvPr/>
        </p:nvSpPr>
        <p:spPr>
          <a:xfrm>
            <a:off x="502920" y="4617720"/>
            <a:ext cx="544068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2920" y="4617720"/>
            <a:ext cx="54864" cy="1005840"/>
          </a:xfrm>
          <a:prstGeom prst="rect">
            <a:avLst/>
          </a:prstGeom>
          <a:solidFill>
            <a:srgbClr val="009C95"/>
          </a:solidFill>
          <a:ln w="12700">
            <a:solidFill>
              <a:srgbClr val="009C9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4745736"/>
            <a:ext cx="5129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8324B"/>
                </a:solidFill>
              </a:rPr>
              <a:t>Scenario isolation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85800" y="5093208"/>
            <a:ext cx="512978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Merchant 738 proves the funded Baseline lifecycle does not leak into Recession Energy. Non-funded paths remain blank downstream.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172200" y="4617720"/>
            <a:ext cx="553212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72200" y="4617720"/>
            <a:ext cx="54864" cy="1005840"/>
          </a:xfrm>
          <a:prstGeom prst="rect">
            <a:avLst/>
          </a:prstGeom>
          <a:solidFill>
            <a:srgbClr val="D19A00"/>
          </a:solidFill>
          <a:ln w="12700">
            <a:solidFill>
              <a:srgbClr val="D19A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55080" y="4745736"/>
            <a:ext cx="5221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8324B"/>
                </a:solidFill>
              </a:rPr>
              <a:t>Reconciliation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355080" y="5093208"/>
            <a:ext cx="522122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Certification and exposure variances are zero. The sole return/retry exception is resolved; unresolved exceptions remain zero.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38912" y="6062472"/>
            <a:ext cx="11320272" cy="365760"/>
          </a:xfrm>
          <a:prstGeom prst="roundRect">
            <a:avLst>
              <a:gd name="adj" fmla="val 10000"/>
            </a:avLst>
          </a:prstGeom>
          <a:solidFill>
            <a:srgbClr val="EAF5F8"/>
          </a:solidFill>
          <a:ln w="7620">
            <a:solidFill>
              <a:srgbClr val="CBD6D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3504" y="608076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E7A81"/>
                </a:solidFill>
              </a:rPr>
              <a:t>R17: IA-D-R17-PBI-001 = ACCEPT. Owner-confirmed persistence/nonregression is CLOSED (PASS_WITH_OBSERVATIONS); no recapture is required. IA-PBI-PUB-HANDOFF-001 authorizes handoff only. Controlled publication and hosted-asset verification remain.</a:t>
            </a:r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6576" y="655624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E7A81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009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MANAGEMENT IMPLICATIONS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420624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832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initial cohort demonstrates a governed credit-intelligence product - not merely a collection of visuals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29768" y="877824"/>
            <a:ext cx="108813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E7A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strongest findings connect strategy design, risk control, lifecycle evidence, and operational traceability.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344168"/>
            <a:ext cx="384048" cy="384048"/>
          </a:xfrm>
          <a:prstGeom prst="ellipse">
            <a:avLst/>
          </a:prstGeom>
          <a:solidFill>
            <a:srgbClr val="009C9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35608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24128" y="132588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8324B"/>
                </a:solidFill>
              </a:rPr>
              <a:t>Access is deliberately selective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886200" y="1325880"/>
            <a:ext cx="7543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2F3B42"/>
                </a:solidFill>
              </a:rPr>
              <a:t>Baseline authorizes 13.7% and supports 40.0%; stress authorizes 3.6% and supports 10.7%.</a:t>
            </a:r>
            <a:endParaRPr lang="en-US" sz="910" dirty="0"/>
          </a:p>
        </p:txBody>
      </p:sp>
      <p:sp>
        <p:nvSpPr>
          <p:cNvPr id="9" name="Shape 7"/>
          <p:cNvSpPr/>
          <p:nvPr/>
        </p:nvSpPr>
        <p:spPr>
          <a:xfrm>
            <a:off x="502920" y="2002536"/>
            <a:ext cx="384048" cy="384048"/>
          </a:xfrm>
          <a:prstGeom prst="ellipse">
            <a:avLst/>
          </a:prstGeom>
          <a:solidFill>
            <a:srgbClr val="009C9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093976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2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24128" y="198424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8324B"/>
                </a:solidFill>
              </a:rPr>
              <a:t>Evidence quality is decisive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886200" y="1984248"/>
            <a:ext cx="7543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2F3B42"/>
                </a:solidFill>
              </a:rPr>
              <a:t>Stress evidence declines rise from 43 to 191, making availability and continuity as important as modeled economics.</a:t>
            </a:r>
            <a:endParaRPr lang="en-US" sz="910" dirty="0"/>
          </a:p>
        </p:txBody>
      </p:sp>
      <p:sp>
        <p:nvSpPr>
          <p:cNvPr id="13" name="Shape 11"/>
          <p:cNvSpPr/>
          <p:nvPr/>
        </p:nvSpPr>
        <p:spPr>
          <a:xfrm>
            <a:off x="502920" y="2660904"/>
            <a:ext cx="384048" cy="384048"/>
          </a:xfrm>
          <a:prstGeom prst="ellipse">
            <a:avLst/>
          </a:prstGeom>
          <a:solidFill>
            <a:srgbClr val="009C9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752344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3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024128" y="264261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8324B"/>
                </a:solidFill>
              </a:rPr>
              <a:t>Structure search creates controlled alternatives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886200" y="2642616"/>
            <a:ext cx="7543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2F3B42"/>
                </a:solidFill>
              </a:rPr>
              <a:t>300 Baseline and 80 stress paths remain supportable through requested terms or bounded remediation.</a:t>
            </a:r>
            <a:endParaRPr lang="en-US" sz="910" dirty="0"/>
          </a:p>
        </p:txBody>
      </p:sp>
      <p:sp>
        <p:nvSpPr>
          <p:cNvPr id="17" name="Shape 15"/>
          <p:cNvSpPr/>
          <p:nvPr/>
        </p:nvSpPr>
        <p:spPr>
          <a:xfrm>
            <a:off x="502920" y="3319272"/>
            <a:ext cx="384048" cy="384048"/>
          </a:xfrm>
          <a:prstGeom prst="ellipse">
            <a:avLst/>
          </a:prstGeom>
          <a:solidFill>
            <a:srgbClr val="009C9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410712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4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024128" y="330098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8324B"/>
                </a:solidFill>
              </a:rPr>
              <a:t>The stress floor prevents artificial upside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886200" y="3300984"/>
            <a:ext cx="7543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2F3B42"/>
                </a:solidFill>
              </a:rPr>
              <a:t>All stress authorizations are retained Baseline authorizations; none appear only under stress.</a:t>
            </a:r>
            <a:endParaRPr lang="en-US" sz="910" dirty="0"/>
          </a:p>
        </p:txBody>
      </p:sp>
      <p:sp>
        <p:nvSpPr>
          <p:cNvPr id="21" name="Shape 19"/>
          <p:cNvSpPr/>
          <p:nvPr/>
        </p:nvSpPr>
        <p:spPr>
          <a:xfrm>
            <a:off x="502920" y="3977640"/>
            <a:ext cx="384048" cy="384048"/>
          </a:xfrm>
          <a:prstGeom prst="ellipse">
            <a:avLst/>
          </a:prstGeom>
          <a:solidFill>
            <a:srgbClr val="D19A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069080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5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024128" y="395935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8324B"/>
                </a:solidFill>
              </a:rPr>
              <a:t>Concentration and resilience differ by segment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886200" y="3959352"/>
            <a:ext cx="7543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2F3B42"/>
                </a:solidFill>
              </a:rPr>
              <a:t>Processor Embedded and Relationship dominate Baseline; Strategic Partner and Transportation show stronger stress-dollar retention.</a:t>
            </a:r>
            <a:endParaRPr lang="en-US" sz="910" dirty="0"/>
          </a:p>
        </p:txBody>
      </p:sp>
      <p:sp>
        <p:nvSpPr>
          <p:cNvPr id="25" name="Shape 23"/>
          <p:cNvSpPr/>
          <p:nvPr/>
        </p:nvSpPr>
        <p:spPr>
          <a:xfrm>
            <a:off x="502920" y="4636008"/>
            <a:ext cx="384048" cy="384048"/>
          </a:xfrm>
          <a:prstGeom prst="ellipse">
            <a:avLst/>
          </a:prstGeom>
          <a:solidFill>
            <a:srgbClr val="D19A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727448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6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024128" y="461772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8324B"/>
                </a:solidFill>
              </a:rPr>
              <a:t>Lifecycle performance is mostly clean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886200" y="4617720"/>
            <a:ext cx="7543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2F3B42"/>
                </a:solidFill>
              </a:rPr>
              <a:t>126 of 130 funded scenario paths close stable; four Baseline accounts require controlled attention.</a:t>
            </a:r>
            <a:endParaRPr lang="en-US" sz="910" dirty="0"/>
          </a:p>
        </p:txBody>
      </p:sp>
      <p:sp>
        <p:nvSpPr>
          <p:cNvPr id="29" name="Shape 27"/>
          <p:cNvSpPr/>
          <p:nvPr/>
        </p:nvSpPr>
        <p:spPr>
          <a:xfrm>
            <a:off x="502920" y="5294376"/>
            <a:ext cx="384048" cy="384048"/>
          </a:xfrm>
          <a:prstGeom prst="ellipse">
            <a:avLst/>
          </a:prstGeom>
          <a:solidFill>
            <a:srgbClr val="384B5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5385816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7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024128" y="527608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8324B"/>
                </a:solidFill>
              </a:rPr>
              <a:t>Servicing is traceable and reconciled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886200" y="5276088"/>
            <a:ext cx="7543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2F3B42"/>
                </a:solidFill>
              </a:rPr>
              <a:t>The one active path and three review holds remain exact-key linked through intervention, execution, certification, and endpoint state.</a:t>
            </a:r>
            <a:endParaRPr lang="en-US" sz="910" dirty="0"/>
          </a:p>
        </p:txBody>
      </p:sp>
      <p:sp>
        <p:nvSpPr>
          <p:cNvPr id="33" name="Shape 31"/>
          <p:cNvSpPr/>
          <p:nvPr/>
        </p:nvSpPr>
        <p:spPr>
          <a:xfrm>
            <a:off x="438912" y="6062472"/>
            <a:ext cx="11320272" cy="365760"/>
          </a:xfrm>
          <a:prstGeom prst="roundRect">
            <a:avLst>
              <a:gd name="adj" fmla="val 10000"/>
            </a:avLst>
          </a:prstGeom>
          <a:solidFill>
            <a:srgbClr val="EAF5F8"/>
          </a:solidFill>
          <a:ln w="7620">
            <a:solidFill>
              <a:srgbClr val="CBD6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3504" y="6163056"/>
            <a:ext cx="10972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6E7A81"/>
                </a:solidFill>
              </a:rPr>
              <a:t>The analytical product is strongest when read as one continuum: application evidence -&gt; governed decision -&gt; proposed structure -&gt; funded lifecycle -&gt; monitoring -&gt; intervention -&gt; certification.</a:t>
            </a:r>
            <a:endParaRPr lang="en-US" sz="7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6576" y="655624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E7A81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009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COHORT FACT SHEET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420624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832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Initial 750-merchant cohort - key numbers at a glance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29768" y="877824"/>
            <a:ext cx="108813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E7A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compact reference for executive and validation use.</a:t>
            </a:r>
            <a:endParaRPr lang="en-US" sz="1050" dirty="0"/>
          </a:p>
        </p:txBody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201400" cy="4983480"/>
        </p:xfrm>
        <a:graphic>
          <a:graphicData uri="http://schemas.openxmlformats.org/drawingml/2006/table">
            <a:tbl>
              <a:tblPr/>
              <a:tblGrid>
                <a:gridCol w="2331720"/>
                <a:gridCol w="1874520"/>
                <a:gridCol w="2148840"/>
                <a:gridCol w="48463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COHORT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2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BASELINE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C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RECESSION ENERGY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4B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INTERPRETATION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24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Decision paths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750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750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Same fixed merchants under alternative scenarios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Authorized paths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103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27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Approve as requested + authorized counteroffers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Reviewable paths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197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53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Counteroffer review + underwriting review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Supportable paths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300 (40.0%)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80 (10.7%)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Authorized + governed review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Funded amount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$1,385,300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$344,200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Physical funded-lifecycle population only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Comparative expected-loss rate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9.4%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11.4%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Selected funded cohort; not CECL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Risk-adjusted contribution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$147,981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$30,032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Comparative modeled economics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Endpoint paid off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99 / 103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27 / 27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Deterministic synthetic lifecycle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Endpoint attention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 accounts / $7,823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 accounts / $0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Adverse monitoring states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Certified exposure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$6,061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$0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After execution/reconciliation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Unresolved exceptions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M2.10 endpoint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6576" y="655624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E7A81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009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FORWARD VIEW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420624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832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current cohort overview enables next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29768" y="877824"/>
            <a:ext cx="108813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E7A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P01-P04 are complete and frozen for the rc2 publication candidate; P05/P06 remain excluded from the client-facing release.</a:t>
            </a:r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3520440" cy="4251960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417320"/>
            <a:ext cx="54864" cy="4251960"/>
          </a:xfrm>
          <a:prstGeom prst="rect">
            <a:avLst/>
          </a:prstGeom>
          <a:solidFill>
            <a:srgbClr val="009C95"/>
          </a:solidFill>
          <a:ln w="12700">
            <a:solidFill>
              <a:srgbClr val="009C9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45336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8324B"/>
                </a:solidFill>
              </a:rPr>
              <a:t>Execute the authorized publication handoff</a:t>
            </a:r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1892808"/>
            <a:ext cx="3209544" cy="3639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- Power BI audit: IA-D-R17-PBI-001 = ACCEPT</a:t>
            </a:r>
            <a:endParaRPr lang="en-US"/>
          </a:p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- Handoff: IA-PBI-PUB-HANDOFF-001 = AUTHORIZED</a:t>
            </a:r>
            <a:endParaRPr lang="en-US"/>
          </a:p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- Complete the separate final cohort-report review</a:t>
            </a:r>
            <a:endParaRPr lang="en-US"/>
          </a:p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- Execute controlled GitHub publication / public supersession</a:t>
            </a:r>
            <a:endParaRPr lang="en-US"/>
          </a:p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- Download hosted assets; verify filename, size, SHA-256 and Windows-native clean extraction</a:t>
            </a:r>
            <a:endParaRPr lang="en-US"/>
          </a:p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- Preserve the accepted Power BI bytes and R7 registers</a:t>
            </a:r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343400" y="1417320"/>
            <a:ext cx="3520440" cy="4251960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43400" y="1417320"/>
            <a:ext cx="54864" cy="4251960"/>
          </a:xfrm>
          <a:prstGeom prst="rect">
            <a:avLst/>
          </a:prstGeom>
          <a:solidFill>
            <a:srgbClr val="D19A00"/>
          </a:solidFill>
          <a:ln w="12700">
            <a:solidFill>
              <a:srgbClr val="D19A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1545336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8324B"/>
                </a:solidFill>
              </a:rPr>
              <a:t>Use the cohort analytically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26280" y="1892808"/>
            <a:ext cx="3209544" cy="3639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- Examine concentration and resilience by industry and source</a:t>
            </a:r>
            <a:endParaRPr lang="en-US"/>
          </a:p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- Evaluate review workload and supportable-path composition</a:t>
            </a:r>
            <a:endParaRPr lang="en-US"/>
          </a:p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- Preserve scenario-isolated merchant case studies for stakeholder communication</a:t>
            </a:r>
            <a:endParaRPr lang="en-US"/>
          </a:p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- Design and validate a future decision-strategy challenger separately; current M2.11 profiles do not demonstrate high-level decision migration</a:t>
            </a:r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183880" y="1417320"/>
            <a:ext cx="3520440" cy="4251960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83880" y="1417320"/>
            <a:ext cx="54864" cy="4251960"/>
          </a:xfrm>
          <a:prstGeom prst="rect">
            <a:avLst/>
          </a:prstGeom>
          <a:solidFill>
            <a:srgbClr val="D95C59"/>
          </a:solidFill>
          <a:ln w="12700">
            <a:solidFill>
              <a:srgbClr val="D95C5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6760" y="1545336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8324B"/>
                </a:solidFill>
              </a:rPr>
              <a:t>Preserve boundaries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366760" y="1892808"/>
            <a:ext cx="3209544" cy="3639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- Keep deterministic synthetic labeling explicit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- Do not reinterpret comparative expected loss as CECL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- Do not treat servicing simulations as production actions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- Do not collapse evidence, policy, no-feasible, and review outcomes into one decline category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38912" y="6062472"/>
            <a:ext cx="11320272" cy="365760"/>
          </a:xfrm>
          <a:prstGeom prst="roundRect">
            <a:avLst>
              <a:gd name="adj" fmla="val 10000"/>
            </a:avLst>
          </a:prstGeom>
          <a:solidFill>
            <a:srgbClr val="EAF5F8"/>
          </a:solidFill>
          <a:ln w="7620">
            <a:solidFill>
              <a:srgbClr val="CBD6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" y="608076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E7A81"/>
                </a:solidFill>
              </a:rPr>
              <a:t>This detailed cohort report is a read-ahead for the current P01-P04 publication candidate. A shorter executive extract is a separate, nonblocking follow-on.</a:t>
            </a:r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6576" y="655624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E7A81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537960"/>
          </a:xfrm>
          <a:prstGeom prst="rect">
            <a:avLst/>
          </a:prstGeom>
          <a:solidFill>
            <a:srgbClr val="D19A00"/>
          </a:solidFill>
          <a:ln w="12700">
            <a:solidFill>
              <a:srgbClr val="D19A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585216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D19A00"/>
                </a:solidFill>
              </a:rPr>
              <a:t>07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640080" y="20574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Appendix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67512" y="2944368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4E0E6"/>
                </a:solidFill>
              </a:rPr>
              <a:t>Detailed segment tables, metric definitions, and evidence/package records.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6576" y="655624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C7D3D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009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420624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832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Acquisition-source detail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29768" y="877824"/>
            <a:ext cx="108813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E7A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Presentation-rounded acquisition-source results reconciled to cohort totals. Stress = Recession Energy.</a:t>
            </a:r>
            <a:endParaRPr lang="en-US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34440"/>
          <a:ext cx="11384280" cy="4572000"/>
        </p:xfrm>
        <a:graphic>
          <a:graphicData uri="http://schemas.openxmlformats.org/drawingml/2006/table">
            <a:tbl>
              <a:tblPr/>
              <a:tblGrid>
                <a:gridCol w="1965960"/>
                <a:gridCol w="1051560"/>
                <a:gridCol w="685800"/>
                <a:gridCol w="731520"/>
                <a:gridCol w="1005840"/>
                <a:gridCol w="960120"/>
                <a:gridCol w="822960"/>
                <a:gridCol w="960120"/>
              </a:tblGrid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SOURCE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2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SCENARIO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2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APPS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2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FUNDED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2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AMOUNT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2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SUPPORT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2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EL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2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END EXP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24B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Broker or Lead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Baseline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90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$137.1K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38.9%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11.5%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$0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Broker or Lead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Stress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90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$19.0K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11.1%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13.7%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$0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Organic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Baseline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$39.5K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28.0%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8.4%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$639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Organic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Stress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$0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4.0%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$0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Owned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Baseline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$64.6K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31.4%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16.2%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$0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Owned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Stress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$5.0K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11.4%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21.3%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$0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Paid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Baseline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90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$85.7K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40.0%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7.3%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$0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Paid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Stress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90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$9.5K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12.2%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7.2%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$0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Processor Embedded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Baseline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255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36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$466.4K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42.4%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10.7%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$7.18K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Processor Embedded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Stress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255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$99.9K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11.4%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11.7%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$0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Relationship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Baseline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135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$417.6K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41.5%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6.9%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$0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Relationship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Stress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135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$93.3K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11.9%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8.6%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$0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Strategic Partner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Baseline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120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$174.4K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39.2%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9.6%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$0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Strategic Partner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Stress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120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$117.5K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7.5%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13.7%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2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$0</a:t>
                      </a:r>
                      <a:endParaRPr lang="en-US" sz="7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2004" marR="32004" marT="32004" marB="32004" anchor="mid">
                    <a:lnL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6576" y="655624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E7A81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  <p:sp>
        <p:nvSpPr>
          <p:cNvPr id="151" name="R2 interpretation note"/>
          <p:cNvSpPr/>
          <p:nvPr/>
        </p:nvSpPr>
        <p:spPr>
          <a:xfrm>
            <a:off x="502920" y="5925312"/>
            <a:ext cx="1110996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E7A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Normalized source-family crosswalk: slide 6. Segment expected-loss rates describe scenario-specific selected funded cohorts. A lower aggregate rate under stress may reflect selection/composition, not matched-path improvement; the path-level stress non-improvement floor remains controlling.</a:t>
            </a:r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009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420624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832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Industry detail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29768" y="877824"/>
            <a:ext cx="108813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E7A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Presentation-rounded industry results reconciled to cohort totals. Stress = Recession Energy.</a:t>
            </a:r>
            <a:endParaRPr lang="en-US"/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1207008"/>
          <a:ext cx="11411712" cy="4572000"/>
        </p:xfrm>
        <a:graphic>
          <a:graphicData uri="http://schemas.openxmlformats.org/drawingml/2006/table">
            <a:tbl>
              <a:tblPr/>
              <a:tblGrid>
                <a:gridCol w="1554480"/>
                <a:gridCol w="822960"/>
                <a:gridCol w="594360"/>
                <a:gridCol w="640080"/>
                <a:gridCol w="914400"/>
                <a:gridCol w="868680"/>
                <a:gridCol w="685800"/>
                <a:gridCol w="868680"/>
              </a:tblGrid>
              <a:tr h="26894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INDUSTRY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2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SCENARIO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2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APPS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2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FUNDED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2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AMOUNT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2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SUPPORT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2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EL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2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RAC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24B"/>
                    </a:solidFill>
                  </a:tcPr>
                </a:tc>
              </a:tr>
              <a:tr h="26894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Construction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Baseline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98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$162.0K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28.6%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14.4%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$11.2K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894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E-Commerce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Baseline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68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$101.5K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47.1%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10.0%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$10.5K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894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Energy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Baseline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60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$77.8K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31.7%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14.2%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$8.9K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894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General Retail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Baseline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120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$213.6K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39.2%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7.1%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$29.2K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894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Healthcare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Baseline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82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$124.0K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43.9%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6.2%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$13.2K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894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Professional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Baseline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112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$314.8K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58.0%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7.3%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$31.9K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894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Restaurant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Baseline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120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$54.2K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37.5%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8.4%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$7.1K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894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Transportation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Baseline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90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17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$337.4K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31.1%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11.1%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$35.9K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894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Construction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Stress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98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$10.9K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4.1%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10.8%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$0.8K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894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E-Commerce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Stress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68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$37.3K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16.2%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13.0%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$2.6K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894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Energy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Stress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60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$17.4K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5.0%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21.6%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$2.0K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894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General Retail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Stress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120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$5.5K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7.5%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10.0%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$0.9K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894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Healthcare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Stress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82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$48.8K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12.2%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8.7%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$5.1K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894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Professional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Stress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112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$67.1K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21.4%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8.2%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$5.7K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894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Restaurant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Stress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120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$17.7K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9.2%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9.9%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$1.8K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894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Transportation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Stress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90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$139.5K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8.9%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14.5%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9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$11.1K</a:t>
                      </a:r>
                      <a:endParaRPr lang="en-US" sz="69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6576" y="655624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E7A81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  <p:sp>
        <p:nvSpPr>
          <p:cNvPr id="152" name="R2 interpretation note"/>
          <p:cNvSpPr/>
          <p:nvPr/>
        </p:nvSpPr>
        <p:spPr>
          <a:xfrm>
            <a:off x="502920" y="5925312"/>
            <a:ext cx="1110996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E7A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 expected-loss rates describe scenario-specific selected funded cohorts. A lower aggregate rate under stress may reflect selection/composition, not matched-path improvement; the path-level stress non-improvement floor remains controlling.</a:t>
            </a:r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009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420624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832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Metric and boundary definitions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29768" y="877824"/>
            <a:ext cx="108813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E7A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 rules used throughout the deck.</a:t>
            </a:r>
            <a:endParaRPr lang="en-US" sz="1050" dirty="0"/>
          </a:p>
        </p:txBody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325880"/>
          <a:ext cx="10972800" cy="4480560"/>
        </p:xfrm>
        <a:graphic>
          <a:graphicData uri="http://schemas.openxmlformats.org/drawingml/2006/table">
            <a:tbl>
              <a:tblPr/>
              <a:tblGrid>
                <a:gridCol w="2743200"/>
                <a:gridCol w="8229600"/>
              </a:tblGrid>
              <a:tr h="407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TERM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2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CONTROLLED INTERPRETATION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24B"/>
                    </a:solidFill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Authorized paths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Approve-as-requested plus authorized counteroffers.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Reviewable paths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Counteroffer-review plus manual-underwriting-review paths; no funding is implied.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Supportable paths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Authorized + reviewable paths. This is not an approval rate.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Comparative expected-loss rate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Selected funded cohort expected loss divided by path-weighted EAD; not a CECL estimate.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Risk-adjusted contribution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Source-owned comparative modeled contribution after risk adjustment; not audited profit.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Attention exposure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Endpoint remaining receivable on Underperforming, Severe Shortfall, or Dormant / No Remittance paths.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Certified exposure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M2.9/M2.10 reconciled ending exposure after synthetic processing and certification.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Baseline / Recession Energy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Alternative governed scenarios for the same application population; neither is a forecast or sequential state.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Observed-source cutoff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Decision-time source evidence is fixed at 2026-07-23.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Synthetic-forward lifecycle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F3B42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Funding, monitoring, servicing, and payoff after the cutoff are deterministic synthetic evidence through 2026-11-22.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BD6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6576" y="655624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E7A81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  <p:sp>
        <p:nvSpPr>
          <p:cNvPr id="153" name="R2 interpretation note"/>
          <p:cNvSpPr/>
          <p:nvPr/>
        </p:nvSpPr>
        <p:spPr>
          <a:xfrm>
            <a:off x="502920" y="5925312"/>
            <a:ext cx="1110996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E7A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 expected-loss rates describe scenario-specific selected funded cohorts. A lower aggregate rate under stress may reflect selection/composition, not matched-path improvement; the path-level stress non-improvement floor remains controlling.</a:t>
            </a:r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80" kern="0" dirty="0">
                <a:solidFill>
                  <a:srgbClr val="009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420624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832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Evidence register and current project identity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29768" y="877824"/>
            <a:ext cx="108813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E7A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deck is traceable to organized owner evidence and the final Power BI publication candidate.</a:t>
            </a:r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5440680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371600"/>
            <a:ext cx="54864" cy="1874520"/>
          </a:xfrm>
          <a:prstGeom prst="rect">
            <a:avLst/>
          </a:prstGeom>
          <a:solidFill>
            <a:srgbClr val="009C95"/>
          </a:solidFill>
          <a:ln w="12700">
            <a:solidFill>
              <a:srgbClr val="009C9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99616"/>
            <a:ext cx="5129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8324B"/>
                </a:solidFill>
              </a:rPr>
              <a:t>Owner-evidence presentation folder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85800" y="1847088"/>
            <a:ext cx="5129784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94 clean PNG captures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- P01 Command Center: 32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- P02 Cohort Lifecycle: 32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- P03 Application Journey: 28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- P04 Servicing &amp; Exceptions: 2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Separate owner evidence retains QA, tooltip, accessibility, and interaction captures.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172200" y="1371600"/>
            <a:ext cx="5532120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72200" y="1371600"/>
            <a:ext cx="54864" cy="1874520"/>
          </a:xfrm>
          <a:prstGeom prst="rect">
            <a:avLst/>
          </a:prstGeom>
          <a:solidFill>
            <a:srgbClr val="384B55"/>
          </a:solidFill>
          <a:ln w="12700">
            <a:solidFill>
              <a:srgbClr val="384B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1499616"/>
            <a:ext cx="5221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8324B"/>
                </a:solidFill>
              </a:rPr>
              <a:t>Current Power BI identity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355080" y="1847088"/>
            <a:ext cx="5221224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F3B42"/>
                </a:solidFill>
              </a:rPr>
              <a:t>File: MSBF_Merchant_Credit_Intelligence_M2_v2.1.0-rc2.pbix</a:t>
            </a:r>
            <a:endParaRPr lang="en-US"/>
          </a:p>
          <a:p>
            <a:pPr indent="0" marL="0">
              <a:buNone/>
            </a:pPr>
            <a:r>
              <a:rPr lang="en-US" sz="880" dirty="0">
                <a:solidFill>
                  <a:srgbClr val="2F3B42"/>
                </a:solidFill>
              </a:rPr>
              <a:t>Size: 27,635,305 bytes</a:t>
            </a:r>
            <a:endParaRPr lang="en-US"/>
          </a:p>
          <a:p>
            <a:pPr indent="0" marL="0">
              <a:buNone/>
            </a:pPr>
            <a:r>
              <a:rPr lang="en-US" sz="880" dirty="0">
                <a:solidFill>
                  <a:srgbClr val="2F3B42"/>
                </a:solidFill>
              </a:rPr>
              <a:t>SHA-256: ca46e8551860836a0cf4ff9239c42fcf8df02f1705596b9f8ca1bd047b5294e4</a:t>
            </a:r>
            <a:endParaRPr lang="en-US"/>
          </a:p>
          <a:p>
            <a:pPr indent="0" marL="0">
              <a:buNone/>
            </a:pPr>
            <a:r>
              <a:rPr lang="en-US" sz="880" dirty="0">
                <a:solidFill>
                  <a:srgbClr val="2F3B42"/>
                </a:solidFill>
              </a:rPr>
              <a:t>Model label: MSBF MCI - M2 v2.1.0-rc2</a:t>
            </a:r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02920" y="3520440"/>
            <a:ext cx="5440680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3520440"/>
            <a:ext cx="54864" cy="1874520"/>
          </a:xfrm>
          <a:prstGeom prst="rect">
            <a:avLst/>
          </a:prstGeom>
          <a:solidFill>
            <a:srgbClr val="D19A00"/>
          </a:solidFill>
          <a:ln w="12700">
            <a:solidFill>
              <a:srgbClr val="D19A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648456"/>
            <a:ext cx="5129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8324B"/>
                </a:solidFill>
              </a:rPr>
              <a:t>R17 acceptance and publication boundary</a:t>
            </a:r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5800" y="3995928"/>
            <a:ext cx="5129784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F3B42"/>
                </a:solidFill>
              </a:rPr>
              <a:t>IA-D-R17-PBI-001 = ACCEPT closes R16. IA-PBI-PUB-HANDOFF-001 = AUTHORIZED permits direct publication handoff. The R3 PBIX DataModel is unchanged; owner no-recapture signoff is accepted. Persistence/nonregression is closed with observations. GitHub publication and public supersession are not executed by this audit.</a:t>
            </a:r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72200" y="3520440"/>
            <a:ext cx="5532120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0160">
            <a:solidFill>
              <a:srgbClr val="CBD6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2200" y="3520440"/>
            <a:ext cx="54864" cy="1874520"/>
          </a:xfrm>
          <a:prstGeom prst="rect">
            <a:avLst/>
          </a:prstGeom>
          <a:solidFill>
            <a:srgbClr val="009C95"/>
          </a:solidFill>
          <a:ln w="12700">
            <a:solidFill>
              <a:srgbClr val="009C9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3648456"/>
            <a:ext cx="5221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8324B"/>
                </a:solidFill>
              </a:rPr>
              <a:t>Evidence hierarchy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355080" y="3995928"/>
            <a:ext cx="5221224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1. Accepted R26 facts and R17 audit/handoff authority</a:t>
            </a:r>
            <a:endParaRPr lang="en-US"/>
          </a:p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2. Accepted final PBIX model and installed DAX</a:t>
            </a:r>
            <a:endParaRPr lang="en-US"/>
          </a:p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3. Power BI full-page and segment captures</a:t>
            </a:r>
            <a:endParaRPr lang="en-US"/>
          </a:p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4. Narrative, monitoring, servicing, and QA captures</a:t>
            </a:r>
            <a:endParaRPr lang="en-US"/>
          </a:p>
          <a:p>
            <a:pPr indent="0" marL="0">
              <a:buNone/>
            </a:pPr>
            <a:r>
              <a:rPr lang="en-US" sz="900" dirty="0">
                <a:solidFill>
                  <a:srgbClr val="2F3B42"/>
                </a:solidFill>
              </a:rPr>
              <a:t>5. This deck's derived tables and charts</a:t>
            </a:r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38912" y="6062472"/>
            <a:ext cx="11320272" cy="365760"/>
          </a:xfrm>
          <a:prstGeom prst="roundRect">
            <a:avLst>
              <a:gd name="adj" fmla="val 10000"/>
            </a:avLst>
          </a:prstGeom>
          <a:solidFill>
            <a:srgbClr val="EAF5F8"/>
          </a:solidFill>
          <a:ln w="7620">
            <a:solidFill>
              <a:srgbClr val="CBD6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" y="608076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E7A81"/>
                </a:solidFill>
              </a:rPr>
              <a:t>The private review carrier contains physical sources, byte sizes/SHA-256, row counts/grains, deterministic derivation logic, source-to-slide/claim maps, output-image identities, and reproduction results. It is not a public-release asset.</a:t>
            </a:r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6576" y="655624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6E7A81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53</Slides>
  <Notes>53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</vt:vector>
  </TitlesOfParts>
  <Company>MSBF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MSBF Merchant Credit Intelligence - Initial 750-Merchant Cohort Overview - R3 final cohort review - R17 accepted Power BI</dc:title>
  <dc:subject>Initial 750-Merchant Cohort Overview - R3 final cohort review - R17 accepted Power BI</dc:subject>
  <dc:creator>OpenAI for Andrew R. Goad</dc:creator>
  <cp:lastModifiedBy>OpenAI for Andrew R. Goad</cp:lastModifiedBy>
  <cp:revision>3</cp:revision>
  <dcterms:created xsi:type="dcterms:W3CDTF">2026-09-04T18:25:22Z</dcterms:created>
  <dcterms:modified xsi:type="dcterms:W3CDTF">2026-09-04T18:25:22Z</dcterms:modified>
</cp:coreProperties>
</file>